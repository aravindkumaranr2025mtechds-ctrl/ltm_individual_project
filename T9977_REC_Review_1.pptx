
<file path=[Content_Types].xml><?xml version="1.0" encoding="utf-8"?>
<Types xmlns="http://schemas.openxmlformats.org/package/2006/content-types">
  <Default Extension="xml" ContentType="application/vnd.openxmlformats-officedocument.presentationml.presentation.main+xml"/>
  <Default Extension="png" ContentType="image/png"/>
  <Default Extension="jpg" ContentType="image/jpeg"/>
  <Default Extension="rels" ContentType="application/vnd.openxmlformats-package.relationships+xml"/>
  <Override PartName="/ppt/notesMasters/notesMaster1.xml" ContentType="application/vnd.openxmlformats-officedocument.presentationml.notesMaster+xml"/>
  <Override PartName="/ppt/notesMasters/theme/theme1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5.xml" ContentType="application/vnd.openxmlformats-officedocument.presentationml.slideLayout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slides/slide2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&#65279;<?xml version="1.0" encoding="utf-8"?><Relationships xmlns="http://schemas.openxmlformats.org/package/2006/relationships"><Relationship Type="http://schemas.openxmlformats.org/officeDocument/2006/relationships/officeDocument" Target="/ppt/presentation.xml" Id="R8adb64cb8b1043d3" /><Relationship Type="http://schemas.openxmlformats.org/package/2006/relationships/metadata/core-properties" Target="/docProps/core.xml" Id="Rbbb6ec96b3a24db1" /><Relationship Type="http://schemas.openxmlformats.org/officeDocument/2006/relationships/extended-properties" Target="/docProps/app.xml" Id="R896ba982d5264172" /><Relationship Type="http://schemas.openxmlformats.org/officeDocument/2006/relationships/custom-properties" Target="/docProps/custom.xml" Id="Rf3b969028c304720" /></Relationships>
</file>

<file path=ppt/presentation.xml><?xml version="1.0" encoding="utf-8"?>
<p:presentation xmlns:p15="http://schemas.microsoft.com/office/powerpoint/2012/main"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3b9b0c9029d0415d"/>
  </p:sldMasterIdLst>
  <p:notesMasterIdLst>
    <p:notesMasterId r:id="R27d9f9daaf4c48f5"/>
  </p:notesMasterIdLst>
  <p:sldIdLst>
    <p:sldId id="256" r:id="R832aecbaf9c74723"/>
    <p:sldId id="257" r:id="R060de6f02cf94ded"/>
    <p:sldId id="258" r:id="R79f2916978164a3f"/>
    <p:sldId id="259" r:id="R94f5a924b4204fc6"/>
    <p:sldId id="260" r:id="R4b2c5aefa8de43cb"/>
    <p:sldId id="261" r:id="Rc807f9e8e8dc48c1"/>
    <p:sldId id="262" r:id="R132ea4c5611d4a02"/>
    <p:sldId id="263" r:id="Rfb71afa831c443b9"/>
    <p:sldId id="264" r:id="R248036f1aab54d9f"/>
    <p:sldId id="265" r:id="Rf0335fffc9e64f4e"/>
    <p:sldId id="266" r:id="Rf6de7ae4dc8644ed"/>
    <p:sldId id="267" r:id="Rc0f1df9804594881"/>
    <p:sldId id="268" r:id="R4b36a6fb05964d4b"/>
    <p:sldId id="269" r:id="R9b1f641c677a404b"/>
    <p:sldId id="270" r:id="Ra1068df5400b478b"/>
    <p:sldId id="271" r:id="R4c09de26670445db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25B9ED"/>
    <a:srgbClr val="FFFFFF"/>
    <a:srgbClr val="47BDAE"/>
    <a:srgbClr val="30BBDA"/>
    <a:srgbClr val="47BDAF"/>
    <a:srgbClr val="696969"/>
    <a:srgbClr val="1C4D98"/>
    <a:srgbClr val="8BC431"/>
    <a:srgbClr val="97B6BA"/>
    <a:srgbClr val="24A8E4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940675A-B579-460E-94D1-54222C63F5DA}">
  <a:tblStyle styleId="{5940675A-B579-460E-94D1-54222C63F5DA}" styleName="No Style, Table Grid">
    <a:wholeTbl>
      <a:tcTxStyle>
        <a:fontRef idx="minor">
          <a:srgbClr val="000000"/>
        </a:fontRef>
        <a:srgbClr val="000000"/>
      </a:tcTxStyle>
      <a:tcStyle>
        <a:tcBdr>
          <a:left>
            <a:ln w="12700" cmpd="sng">
              <a:solidFill>
                <a:srgbClr val="000000"/>
              </a:solidFill>
            </a:ln>
          </a:left>
          <a:right>
            <a:ln w="12700" cmpd="sng">
              <a:solidFill>
                <a:srgbClr val="000000"/>
              </a:solidFill>
            </a:ln>
          </a:right>
          <a:top>
            <a:ln w="12700" cmpd="sng">
              <a:solidFill>
                <a:srgbClr val="000000"/>
              </a:solidFill>
            </a:ln>
          </a:top>
          <a:bottom>
            <a:ln w="12700" cmpd="sng">
              <a:solidFill>
                <a:srgbClr val="000000"/>
              </a:solidFill>
            </a:ln>
          </a:bottom>
          <a:insideH>
            <a:ln w="12700" cmpd="sng">
              <a:solidFill>
                <a:srgbClr val="000000"/>
              </a:solidFill>
            </a:ln>
          </a:insideH>
          <a:insideV>
            <a:ln w="12700" cmpd="sng">
              <a:solidFill>
                <a:srgbClr val="000000"/>
              </a:solidFill>
            </a:ln>
          </a:insideV>
        </a:tcBdr>
        <a:fill>
          <a:noFill/>
        </a:fill>
      </a:tcStyle>
    </a:wholeTbl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64" d="100"/>
          <a:sy n="64" d="100"/>
        </p:scale>
        <p:origin x="978" y="7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gridSpacing cx="76200" cy="76200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notesMaster" Target="/ppt/notesMasters/notesMaster1.xml" Id="R27d9f9daaf4c48f5" /><Relationship Type="http://schemas.openxmlformats.org/officeDocument/2006/relationships/presProps" Target="/ppt/presProps.xml" Id="Rf209a3b292624bcb" /><Relationship Type="http://schemas.openxmlformats.org/officeDocument/2006/relationships/viewProps" Target="/ppt/viewProps.xml" Id="R0e950c093f8848f1" /><Relationship Type="http://schemas.openxmlformats.org/officeDocument/2006/relationships/slideMaster" Target="/ppt/slideMasters/slideMaster1.xml" Id="R3b9b0c9029d0415d" /><Relationship Type="http://schemas.openxmlformats.org/officeDocument/2006/relationships/theme" Target="/ppt/slideMasters/theme/theme2.xml" Id="R17b58964520847a9" /><Relationship Type="http://schemas.openxmlformats.org/officeDocument/2006/relationships/slide" Target="/ppt/slides/slide1.xml" Id="R832aecbaf9c74723" /><Relationship Type="http://schemas.openxmlformats.org/officeDocument/2006/relationships/tableStyles" Target="/ppt/tableStyles.xml" Id="Rc534a3b0f3924c18" /><Relationship Type="http://schemas.openxmlformats.org/officeDocument/2006/relationships/slide" Target="/ppt/slides/slide2.xml" Id="R060de6f02cf94ded" /><Relationship Type="http://schemas.openxmlformats.org/officeDocument/2006/relationships/slide" Target="/ppt/slides/slide3.xml" Id="R79f2916978164a3f" /><Relationship Type="http://schemas.openxmlformats.org/officeDocument/2006/relationships/slide" Target="/ppt/slides/slide4.xml" Id="R94f5a924b4204fc6" /><Relationship Type="http://schemas.openxmlformats.org/officeDocument/2006/relationships/slide" Target="/ppt/slides/slide5.xml" Id="R4b2c5aefa8de43cb" /><Relationship Type="http://schemas.openxmlformats.org/officeDocument/2006/relationships/slide" Target="/ppt/slides/slide6.xml" Id="Rc807f9e8e8dc48c1" /><Relationship Type="http://schemas.openxmlformats.org/officeDocument/2006/relationships/slide" Target="/ppt/slides/slide7.xml" Id="R132ea4c5611d4a02" /><Relationship Type="http://schemas.openxmlformats.org/officeDocument/2006/relationships/slide" Target="/ppt/slides/slide8.xml" Id="Rfb71afa831c443b9" /><Relationship Type="http://schemas.openxmlformats.org/officeDocument/2006/relationships/slide" Target="/ppt/slides/slide9.xml" Id="R248036f1aab54d9f" /><Relationship Type="http://schemas.openxmlformats.org/officeDocument/2006/relationships/slide" Target="/ppt/slides/slide10.xml" Id="Rf0335fffc9e64f4e" /><Relationship Type="http://schemas.openxmlformats.org/officeDocument/2006/relationships/slide" Target="/ppt/slides/slide11.xml" Id="Rf6de7ae4dc8644ed" /><Relationship Type="http://schemas.openxmlformats.org/officeDocument/2006/relationships/slide" Target="/ppt/slides/slide12.xml" Id="Rc0f1df9804594881" /><Relationship Type="http://schemas.openxmlformats.org/officeDocument/2006/relationships/slide" Target="/ppt/slides/slide13.xml" Id="R4b36a6fb05964d4b" /><Relationship Type="http://schemas.openxmlformats.org/officeDocument/2006/relationships/slide" Target="/ppt/slides/slide14.xml" Id="R9b1f641c677a404b" /><Relationship Type="http://schemas.openxmlformats.org/officeDocument/2006/relationships/slide" Target="/ppt/slides/slide15.xml" Id="Ra1068df5400b478b" /><Relationship Type="http://schemas.openxmlformats.org/officeDocument/2006/relationships/slide" Target="/ppt/slides/slide16.xml" Id="R4c09de26670445db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1.xml" Id="R49290e7801d44306" 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39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2" y="1"/>
            <a:ext cx="3076575" cy="5127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92" tIns="45745" rIns="91492" bIns="45745" numCol="1" anchor="t" anchorCtr="0" compatLnSpc="1">
            <a:prstTxWarp prst="textNoShape">
              <a:avLst/>
            </a:prstTxWarp>
          </a:bodyPr>
          <a:lstStyle>
            <a:lvl1pPr algn="l">
              <a:defRPr sz="1100"/>
            </a:lvl1pPr>
          </a:lstStyle>
          <a:p>
            <a:endParaRPr lang="en-US"/>
          </a:p>
        </p:txBody>
      </p:sp>
      <p:sp>
        <p:nvSpPr>
          <p:cNvPr id="1048640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4021139" y="1"/>
            <a:ext cx="3076575" cy="5127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92" tIns="45745" rIns="91492" bIns="45745" numCol="1" anchor="t" anchorCtr="0" compatLnSpc="1">
            <a:prstTxWarp prst="textNoShape">
              <a:avLst/>
            </a:prstTxWarp>
          </a:bodyPr>
          <a:lstStyle>
            <a:lvl1pPr algn="r">
              <a:defRPr sz="1100"/>
            </a:lvl1pPr>
          </a:lstStyle>
          <a:p>
            <a:endParaRPr lang="en-US"/>
          </a:p>
        </p:txBody>
      </p:sp>
      <p:sp>
        <p:nvSpPr>
          <p:cNvPr id="1048641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990600" y="766763"/>
            <a:ext cx="5118100" cy="3838575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ffectLst/>
        </p:spPr>
      </p:sp>
      <p:sp>
        <p:nvSpPr>
          <p:cNvPr id="1048642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709614" y="4862514"/>
            <a:ext cx="5680075" cy="46053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92" tIns="45745" rIns="91492" bIns="45745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48643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2" y="9720264"/>
            <a:ext cx="3076575" cy="51276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92" tIns="45745" rIns="91492" bIns="45745" numCol="1" anchor="b" anchorCtr="0" compatLnSpc="1">
            <a:prstTxWarp prst="textNoShape">
              <a:avLst/>
            </a:prstTxWarp>
          </a:bodyPr>
          <a:lstStyle>
            <a:lvl1pPr algn="l">
              <a:defRPr sz="1100"/>
            </a:lvl1pPr>
          </a:lstStyle>
          <a:p>
            <a:endParaRPr lang="en-US"/>
          </a:p>
        </p:txBody>
      </p:sp>
      <p:sp>
        <p:nvSpPr>
          <p:cNvPr id="1048644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4021139" y="9720264"/>
            <a:ext cx="3076575" cy="51276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92" tIns="45745" rIns="91492" bIns="45745" numCol="1" anchor="b" anchorCtr="0" compatLnSpc="1">
            <a:prstTxWarp prst="textNoShape">
              <a:avLst/>
            </a:prstTxWarp>
          </a:bodyPr>
          <a:lstStyle>
            <a:lvl1pPr algn="r">
              <a:defRPr sz="1100"/>
            </a:lvl1pPr>
          </a:lstStyle>
          <a:p>
            <a:fld id="{A9A0EA98-5831-4853-B862-C702E6EB345C}" type="slidenum">
              <a:rPr lang="en-US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1pPr>
    <a:lvl2pPr marL="4572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2pPr>
    <a:lvl3pPr marL="9144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3pPr>
    <a:lvl4pPr marL="13716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4pPr>
    <a:lvl5pPr marL="18288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Masters/theme/theme1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TH Sarabun PSK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TH Sarabun PSK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2.xml" Id="R57125bd789b5495f" /><Relationship Type="http://schemas.openxmlformats.org/officeDocument/2006/relationships/notesMaster" Target="/ppt/notesMasters/notesMaster1.xml" Id="Racc653cfffb44730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9.xml" Id="Reec7b1bc7d59409f" /><Relationship Type="http://schemas.openxmlformats.org/officeDocument/2006/relationships/notesMaster" Target="/ppt/notesMasters/notesMaster1.xml" Id="R84be2697e617486a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11.xml" Id="Raef1a126b8824d34" /><Relationship Type="http://schemas.openxmlformats.org/officeDocument/2006/relationships/notesMaster" Target="/ppt/notesMasters/notesMaster1.xml" Id="R3f99bb67c3b64539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13.xml" Id="Re723f844cc924d00" /><Relationship Type="http://schemas.openxmlformats.org/officeDocument/2006/relationships/notesMaster" Target="/ppt/notesMasters/notesMaster1.xml" Id="R7f18601ee38e48b9" 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138113" y="766763"/>
            <a:ext cx="6823075" cy="3838575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9A0EA98-5831-4853-B862-C702E6EB345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469199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138113" y="766763"/>
            <a:ext cx="6823075" cy="3838575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9A0EA98-5831-4853-B862-C702E6EB345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12421436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138113" y="766763"/>
            <a:ext cx="6823075" cy="3838575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9A0EA98-5831-4853-B862-C702E6EB345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4691995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138113" y="766763"/>
            <a:ext cx="6823075" cy="3838575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9A0EA98-5831-4853-B862-C702E6EB345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87337448"/>
      </p:ext>
    </p:extLst>
  </p:cSld>
  <p:clrMapOvr>
    <a:masterClrMapping/>
  </p:clrMapOvr>
</p:note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de5e656938424a2f" /></Relationships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581" name="Text Placeholder 13"/>
          <p:cNvSpPr>
            <a:spLocks noGrp="1"/>
          </p:cNvSpPr>
          <p:nvPr>
            <p:ph type="body" sz="quarter" idx="13" hasCustomPrompt="1"/>
          </p:nvPr>
        </p:nvSpPr>
        <p:spPr>
          <a:xfrm>
            <a:off x="255996" y="1271219"/>
            <a:ext cx="10624338" cy="444565"/>
          </a:xfrm>
        </p:spPr>
        <p:txBody>
          <a:bodyPr vert="horz" lIns="91440" tIns="45720" rIns="91440" bIns="45720" rtlCol="0">
            <a:noAutofit/>
          </a:bodyPr>
          <a:lstStyle>
            <a:lvl1pPr>
              <a:defRPr lang="en-US" sz="2800" b="1" kern="1200" dirty="0">
                <a:solidFill>
                  <a:srgbClr val="0070C0"/>
                </a:solidFill>
                <a:latin typeface="Frutiger 45 bold"/>
                <a:ea typeface="+mn-ea"/>
                <a:cs typeface="Calibri" panose="020F0502020204030204" pitchFamily="34" charset="0"/>
              </a:defRPr>
            </a:lvl1pPr>
          </a:lstStyle>
          <a:p>
            <a:pPr marL="0" lv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Tx/>
              <a:buNone/>
            </a:pPr>
            <a:r>
              <a:rPr lang="en-US" dirty="0"/>
              <a:t>Title Here</a:t>
            </a:r>
          </a:p>
        </p:txBody>
      </p:sp>
      <p:sp>
        <p:nvSpPr>
          <p:cNvPr id="1048582" name="Text Placeholder 13"/>
          <p:cNvSpPr>
            <a:spLocks noGrp="1"/>
          </p:cNvSpPr>
          <p:nvPr>
            <p:ph type="body" sz="quarter" idx="15" hasCustomPrompt="1"/>
          </p:nvPr>
        </p:nvSpPr>
        <p:spPr>
          <a:xfrm>
            <a:off x="255996" y="629525"/>
            <a:ext cx="10624338" cy="444565"/>
          </a:xfrm>
        </p:spPr>
        <p:txBody>
          <a:bodyPr vert="horz" lIns="91440" tIns="45720" rIns="91440" bIns="45720" rtlCol="0">
            <a:noAutofit/>
          </a:bodyPr>
          <a:lstStyle>
            <a:lvl1pPr>
              <a:defRPr lang="en-US" sz="2800" b="1" kern="1200" dirty="0">
                <a:solidFill>
                  <a:srgbClr val="0070C0"/>
                </a:solidFill>
                <a:latin typeface="Frutiger 45 bold"/>
                <a:ea typeface="+mn-ea"/>
                <a:cs typeface="Calibri" panose="020F0502020204030204" pitchFamily="34" charset="0"/>
              </a:defRPr>
            </a:lvl1pPr>
          </a:lstStyle>
          <a:p>
            <a:pPr marL="0" lv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Tx/>
              <a:buNone/>
            </a:pPr>
            <a:r>
              <a:rPr lang="en-US" dirty="0"/>
              <a:t>Title Here</a:t>
            </a:r>
          </a:p>
        </p:txBody>
      </p:sp>
    </p:spTree>
  </p:cSld>
  <p:clrMapOvr>
    <a:masterClrMapping/>
  </p:clrMapOvr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image" Target="/ppt/media/image.png" Id="R312503d6010d4d13" /><Relationship Type="http://schemas.openxmlformats.org/officeDocument/2006/relationships/image" Target="/ppt/media/image2.png" Id="R64c72622165b49df" /><Relationship Type="http://schemas.openxmlformats.org/officeDocument/2006/relationships/image" Target="/ppt/media/image3.png" Id="R9523932feca9494d" /><Relationship Type="http://schemas.openxmlformats.org/officeDocument/2006/relationships/theme" Target="/ppt/slideMasters/theme/theme2.xml" Id="R97777592e0974d33" /><Relationship Type="http://schemas.openxmlformats.org/officeDocument/2006/relationships/slideLayout" Target="/ppt/slideLayouts/slideLayout5.xml" Id="Recc36885ebc641ed" 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97152" name="Picture 1"/>
          <p:cNvPicPr>
            <a:picLocks noChangeAspect="1"/>
          </p:cNvPicPr>
          <p:nvPr userDrawn="1"/>
        </p:nvPicPr>
        <p:blipFill>
          <a:blip r:embed="R312503d6010d4d13"/>
          <a:stretch>
            <a:fillRect/>
          </a:stretch>
        </p:blipFill>
        <p:spPr>
          <a:xfrm>
            <a:off x="1" y="5337544"/>
            <a:ext cx="12191994" cy="1548307"/>
          </a:xfrm>
          <a:prstGeom prst="rect">
            <a:avLst/>
          </a:prstGeom>
        </p:spPr>
      </p:pic>
      <p:sp>
        <p:nvSpPr>
          <p:cNvPr id="1048576" name="Rectangle 6"/>
          <p:cNvSpPr/>
          <p:nvPr userDrawn="1"/>
        </p:nvSpPr>
        <p:spPr>
          <a:xfrm>
            <a:off x="0" y="0"/>
            <a:ext cx="12192000" cy="365125"/>
          </a:xfrm>
          <a:prstGeom prst="rect">
            <a:avLst/>
          </a:prstGeom>
          <a:gradFill>
            <a:gsLst>
              <a:gs pos="5000">
                <a:srgbClr val="47BDAE"/>
              </a:gs>
              <a:gs pos="59000">
                <a:srgbClr val="25B9ED"/>
              </a:gs>
              <a:gs pos="100000">
                <a:srgbClr val="FFFFFF"/>
              </a:gs>
            </a:gsLst>
            <a:lin ang="1080000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endParaRPr lang="en-US" sz="2000" b="1" i="1" dirty="0">
              <a:solidFill>
                <a:schemeClr val="bg1">
                  <a:lumMod val="75000"/>
                </a:schemeClr>
              </a:solidFill>
            </a:endParaRPr>
          </a:p>
        </p:txBody>
      </p:sp>
      <p:sp>
        <p:nvSpPr>
          <p:cNvPr id="1048577" name="Text Placeholder 2"/>
          <p:cNvSpPr>
            <a:spLocks noGrp="1"/>
          </p:cNvSpPr>
          <p:nvPr>
            <p:ph type="body" idx="1"/>
          </p:nvPr>
        </p:nvSpPr>
        <p:spPr>
          <a:xfrm>
            <a:off x="677271" y="1191757"/>
            <a:ext cx="11004446" cy="479500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pic>
        <p:nvPicPr>
          <p:cNvPr id="2097153" name="Picture 4" descr="LTIMindtree logo in transparent PNG and vectorized SVG formats"/>
          <p:cNvPicPr>
            <a:picLocks noChangeAspect="1" noChangeArrowheads="1"/>
          </p:cNvPicPr>
          <p:nvPr userDrawn="1"/>
        </p:nvPicPr>
        <p:blipFill>
          <a:blip r:embed="R64c72622165b49df"/>
          <a:srcRect/>
          <a:stretch>
            <a:fillRect/>
          </a:stretch>
        </p:blipFill>
        <p:spPr bwMode="auto">
          <a:xfrm>
            <a:off x="10545387" y="6562429"/>
            <a:ext cx="1541059" cy="295571"/>
          </a:xfrm>
          <a:prstGeom prst="rect">
            <a:avLst/>
          </a:prstGeom>
          <a:noFill/>
        </p:spPr>
      </p:pic>
      <p:sp>
        <p:nvSpPr>
          <p:cNvPr id="1048578" name="Title Placeholder 1"/>
          <p:cNvSpPr txBox="1"/>
          <p:nvPr userDrawn="1"/>
        </p:nvSpPr>
        <p:spPr>
          <a:xfrm>
            <a:off x="221274" y="88514"/>
            <a:ext cx="8176583" cy="110324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endParaRPr lang="en-US" dirty="0"/>
          </a:p>
        </p:txBody>
      </p:sp>
      <p:sp>
        <p:nvSpPr>
          <p:cNvPr id="1048579" name="Text Placeholder 2"/>
          <p:cNvSpPr txBox="1"/>
          <p:nvPr userDrawn="1"/>
        </p:nvSpPr>
        <p:spPr>
          <a:xfrm>
            <a:off x="391411" y="640135"/>
            <a:ext cx="11290305" cy="52377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endParaRPr lang="en-US" dirty="0">
              <a:latin typeface="Calibri (Body)"/>
            </a:endParaRPr>
          </a:p>
        </p:txBody>
      </p:sp>
      <p:sp>
        <p:nvSpPr>
          <p:cNvPr id="1048580" name="Text Placeholder 2"/>
          <p:cNvSpPr txBox="1"/>
          <p:nvPr userDrawn="1"/>
        </p:nvSpPr>
        <p:spPr>
          <a:xfrm>
            <a:off x="158720" y="413891"/>
            <a:ext cx="10025576" cy="68594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endParaRPr lang="en-US" dirty="0"/>
          </a:p>
        </p:txBody>
      </p:sp>
      <p:pic>
        <p:nvPicPr>
          <p:cNvPr id="2097154" name="Picture 12"/>
          <p:cNvPicPr>
            <a:picLocks noChangeAspect="1"/>
          </p:cNvPicPr>
          <p:nvPr userDrawn="1"/>
        </p:nvPicPr>
        <p:blipFill>
          <a:blip r:embed="R9523932feca9494d"/>
          <a:stretch>
            <a:fillRect/>
          </a:stretch>
        </p:blipFill>
        <p:spPr>
          <a:xfrm>
            <a:off x="105554" y="6358271"/>
            <a:ext cx="964436" cy="411216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53" r:id="Recc36885ebc641ed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theme/theme2.xml><?xml version="1.0" encoding="utf-8"?>
<a:theme xmlns:a="http://schemas.openxmlformats.org/drawingml/2006/main" name="1_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image" Target="/ppt/media/image4.png" Id="Rd688f19687e24ac1" /><Relationship Type="http://schemas.openxmlformats.org/officeDocument/2006/relationships/image" Target="/ppt/media/image.jpg" Id="Rb2c017423705491d" /><Relationship Type="http://schemas.openxmlformats.org/officeDocument/2006/relationships/slideLayout" Target="/ppt/slideLayouts/slideLayout5.xml" Id="R8f3f9319606d4b75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notesSlide" Target="/ppt/notesSlides/notesSlide1.xml" Id="R8c5970a7196245fc" /><Relationship Type="http://schemas.openxmlformats.org/officeDocument/2006/relationships/slideLayout" Target="/ppt/slideLayouts/slideLayout5.xml" Id="Re3cd6c531c9b4eae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5.xml" Id="Rb021f26d74784795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5.xml" Id="R75f75ce8cfa14b4e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5.xml" Id="Rf8a42f9361054fe9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5.xml" Id="R35f5cc3e88224478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image" Target="/ppt/media/image5.png" Id="R80c3895e97c8480a" /><Relationship Type="http://schemas.openxmlformats.org/officeDocument/2006/relationships/slideLayout" Target="/ppt/slideLayouts/slideLayout5.xml" Id="Re4f979b1ca5945a3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5.xml" Id="R53efecd6e87e4951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notesSlide" Target="/ppt/notesSlides/notesSlide2.xml" Id="Rba61aece8cdb4c82" /><Relationship Type="http://schemas.openxmlformats.org/officeDocument/2006/relationships/slideLayout" Target="/ppt/slideLayouts/slideLayout5.xml" Id="Rd7c1dc1e30e644b4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image" Target="/ppt/media/image4.png" Id="R160e8a8805604f25" /><Relationship Type="http://schemas.openxmlformats.org/officeDocument/2006/relationships/image" Target="/ppt/media/image.jpg" Id="Ra2052885604841e2" /><Relationship Type="http://schemas.openxmlformats.org/officeDocument/2006/relationships/slideLayout" Target="/ppt/slideLayouts/slideLayout5.xml" Id="R2ee527eb7cc54aa9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notesSlide" Target="/ppt/notesSlides/notesSlide3.xml" Id="R41f80206bb5043b3" /><Relationship Type="http://schemas.openxmlformats.org/officeDocument/2006/relationships/slideLayout" Target="/ppt/slideLayouts/slideLayout5.xml" Id="Rfd9eb63c5b0d41c9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5.xml" Id="Rb3ec110270ec4749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notesSlide" Target="/ppt/notesSlides/notesSlide4.xml" Id="R1f0cd441108b4637" /><Relationship Type="http://schemas.openxmlformats.org/officeDocument/2006/relationships/slideLayout" Target="/ppt/slideLayouts/slideLayout5.xml" Id="Rc429539015a64058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5.xml" Id="R0a377995be6140ed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5.xml" Id="Ra5f86b7452c844f8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5.xml" Id="R865fc6646ad84e72" 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583" name="Rectangle 5"/>
          <p:cNvSpPr/>
          <p:nvPr/>
        </p:nvSpPr>
        <p:spPr>
          <a:xfrm>
            <a:off x="-31269" y="29737"/>
            <a:ext cx="12254538" cy="6868389"/>
          </a:xfrm>
          <a:prstGeom prst="rect">
            <a:avLst/>
          </a:prstGeom>
          <a:gradFill>
            <a:gsLst>
              <a:gs pos="0">
                <a:srgbClr val="47BDAF"/>
              </a:gs>
              <a:gs pos="39000">
                <a:srgbClr val="1C4D98"/>
              </a:gs>
              <a:gs pos="100000">
                <a:srgbClr val="3793A6"/>
              </a:gs>
            </a:gsLst>
            <a:lin ang="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l" defTabSz="91437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Frutiger LT Pro 45 Light" panose="020B0403030504020204" pitchFamily="34" charset="0"/>
              <a:ea typeface="+mn-ea"/>
              <a:cs typeface="+mn-cs"/>
            </a:endParaRPr>
          </a:p>
        </p:txBody>
      </p:sp>
      <p:sp>
        <p:nvSpPr>
          <p:cNvPr id="1048584" name="Text Placeholder 1"/>
          <p:cNvSpPr>
            <a:spLocks noGrp="1"/>
          </p:cNvSpPr>
          <p:nvPr>
            <p:ph type="body" sz="quarter" idx="13"/>
          </p:nvPr>
        </p:nvSpPr>
        <p:spPr>
          <a:xfrm>
            <a:off x="2289635" y="17705"/>
            <a:ext cx="6910121" cy="1058125"/>
          </a:xfrm>
        </p:spPr>
        <p:txBody>
          <a:bodyPr/>
          <a:lstStyle/>
          <a:p>
            <a:pPr marL="0" indent="0" algn="ctr">
              <a:buNone/>
            </a:pPr>
            <a:r>
              <a:rPr lang="en-US" sz="4400" dirty="0">
                <a:solidFill>
                  <a:schemeClr val="bg1"/>
                </a:solidFill>
              </a:rPr>
              <a:t>M.Tech Program </a:t>
            </a:r>
          </a:p>
          <a:p>
            <a:pPr marL="0" indent="0" algn="ctr">
              <a:buNone/>
            </a:pPr>
            <a:r>
              <a:rPr lang="en-US" sz="2000" dirty="0">
                <a:solidFill>
                  <a:schemeClr val="bg1"/>
                </a:solidFill>
              </a:rPr>
              <a:t>Advanced Industry Integrated Programs</a:t>
            </a:r>
          </a:p>
        </p:txBody>
      </p:sp>
      <p:cxnSp>
        <p:nvCxnSpPr>
          <p:cNvPr id="3145728" name="Straight Connector 14"/>
          <p:cNvCxnSpPr>
            <a:cxnSpLocks/>
          </p:cNvCxnSpPr>
          <p:nvPr/>
        </p:nvCxnSpPr>
        <p:spPr>
          <a:xfrm>
            <a:off x="2977350" y="1120307"/>
            <a:ext cx="5866228" cy="0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48585" name="Rectangle: Rounded Corners 15"/>
          <p:cNvSpPr/>
          <p:nvPr/>
        </p:nvSpPr>
        <p:spPr>
          <a:xfrm>
            <a:off x="4125951" y="1177578"/>
            <a:ext cx="3033131" cy="456000"/>
          </a:xfrm>
          <a:prstGeom prst="roundRect">
            <a:avLst/>
          </a:prstGeom>
          <a:solidFill>
            <a:schemeClr val="accent6">
              <a:lumMod val="20000"/>
              <a:lumOff val="80000"/>
            </a:schemeClr>
          </a:solidFill>
        </p:spPr>
        <p:txBody>
          <a:bodyPr wrap="squar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595959"/>
                </a:solidFill>
                <a:effectLst/>
                <a:uLnTx/>
                <a:uFillTx/>
                <a:latin typeface="Frutiger 45 bold"/>
                <a:ea typeface="+mn-ea"/>
                <a:cs typeface="Calibri" panose="020F0502020204030204" pitchFamily="34" charset="0"/>
              </a:rPr>
              <a:t>Jointly offered by University and LTIMindTree</a:t>
            </a:r>
          </a:p>
        </p:txBody>
      </p:sp>
      <p:sp>
        <p:nvSpPr>
          <p:cNvPr id="1048586" name="TextBox 3"/>
          <p:cNvSpPr txBox="1"/>
          <p:nvPr/>
        </p:nvSpPr>
        <p:spPr>
          <a:xfrm>
            <a:off x="180236" y="1659821"/>
            <a:ext cx="11582564" cy="5355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lang="en-US" sz="3600" b="1" dirty="0">
                <a:solidFill>
                  <a:prstClr val="white"/>
                </a:solidFill>
                <a:cs typeface="Calibri" panose="020F0502020204030204" pitchFamily="34" charset="0"/>
              </a:rPr>
              <a:t>Project Title</a:t>
            </a:r>
          </a:p>
          <a:p>
            <a:pPr lvl="0" algn="ctr"/>
            <a:r>
              <a:rPr kumimoji="0" lang="en-US" sz="36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Frutiger 45 bold"/>
                <a:ea typeface="+mn-ea"/>
                <a:cs typeface="Calibri" panose="020F0502020204030204" pitchFamily="34" charset="0"/>
              </a:rPr>
              <a:t>Trouble</a:t>
            </a:r>
            <a:r>
              <a:rPr lang="en-US" sz="3600" b="1" dirty="0">
                <a:solidFill>
                  <a:prstClr val="white"/>
                </a:solidFill>
                <a:latin typeface="Frutiger 45 bold"/>
                <a:cs typeface="Calibri" panose="020F0502020204030204" pitchFamily="34" charset="0"/>
              </a:rPr>
              <a:t>shooting Assistance Through Expert knowledge Retrieval Techniques Using Bounded Agentic AI</a:t>
            </a:r>
          </a:p>
          <a:p>
            <a:pPr lvl="0" algn="ctr"/>
            <a:endParaRPr kumimoji="0" lang="en-US" sz="54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Frutiger 45 bold"/>
              <a:ea typeface="+mn-ea"/>
              <a:cs typeface="Calibri" panose="020F0502020204030204" pitchFamily="34" charset="0"/>
            </a:endParaRPr>
          </a:p>
          <a:p>
            <a:pPr lvl="0" algn="ctr"/>
            <a:r>
              <a:rPr lang="en-US" sz="2400" b="1" dirty="0" err="1">
                <a:solidFill>
                  <a:prstClr val="white"/>
                </a:solidFill>
                <a:cs typeface="Calibri" panose="020F0502020204030204" pitchFamily="34" charset="0"/>
              </a:rPr>
              <a:t>Aravindkumaran</a:t>
            </a:r>
            <a:r>
              <a:rPr lang="en-US" sz="2400" b="1" dirty="0">
                <a:solidFill>
                  <a:prstClr val="white"/>
                </a:solidFill>
                <a:cs typeface="Calibri" panose="020F0502020204030204" pitchFamily="34" charset="0"/>
              </a:rPr>
              <a:t> R</a:t>
            </a:r>
          </a:p>
          <a:p>
            <a:pPr algn="ctr"/>
            <a:r>
              <a:rPr lang="en-US" sz="2400" b="1" dirty="0">
                <a:solidFill>
                  <a:prstClr val="white"/>
                </a:solidFill>
                <a:cs typeface="Calibri" panose="020F0502020204030204" pitchFamily="34" charset="0"/>
              </a:rPr>
              <a:t>SE-T9977</a:t>
            </a:r>
            <a:br>
              <a:rPr lang="en-US" sz="2400" b="1" dirty="0">
                <a:solidFill>
                  <a:prstClr val="white"/>
                </a:solidFill>
                <a:cs typeface="Calibri" panose="020F0502020204030204" pitchFamily="34" charset="0"/>
              </a:rPr>
            </a:br>
            <a:r>
              <a:rPr lang="en-US" sz="2400" b="1" dirty="0">
                <a:solidFill>
                  <a:prstClr val="white"/>
                </a:solidFill>
                <a:cs typeface="Calibri" panose="020F0502020204030204" pitchFamily="34" charset="0"/>
              </a:rPr>
              <a:t>REC – 2025 - 2027</a:t>
            </a:r>
          </a:p>
          <a:p>
            <a:pPr lvl="0" algn="ctr"/>
            <a:endParaRPr lang="en-US" sz="5400" b="1" dirty="0">
              <a:solidFill>
                <a:prstClr val="white"/>
              </a:solidFill>
              <a:latin typeface="Frutiger 45 bold"/>
              <a:cs typeface="Calibri" panose="020F0502020204030204" pitchFamily="34" charset="0"/>
            </a:endParaRPr>
          </a:p>
          <a:p>
            <a:pPr lvl="0" algn="ctr"/>
            <a:endParaRPr kumimoji="0" lang="en-US" sz="54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Frutiger 45 bold"/>
              <a:ea typeface="+mn-ea"/>
              <a:cs typeface="Calibri" panose="020F0502020204030204" pitchFamily="34" charset="0"/>
            </a:endParaRPr>
          </a:p>
        </p:txBody>
      </p:sp>
      <p:graphicFrame>
        <p:nvGraphicFramePr>
          <p:cNvPr id="4194304" name="Table 2"/>
          <p:cNvGraphicFramePr>
            <a:graphicFrameLocks noGrp="1"/>
          </p:cNvGraphicFramePr>
          <p:nvPr/>
        </p:nvGraphicFramePr>
        <p:xfrm>
          <a:off x="-47290" y="5501244"/>
          <a:ext cx="12239216" cy="3264833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611960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11960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1527473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lang="en-US" dirty="0">
                          <a:solidFill>
                            <a:schemeClr val="bg1"/>
                          </a:solidFill>
                          <a:latin typeface="Frutiger 45 bold"/>
                          <a:cs typeface="Calibri" panose="020F0502020204030204" pitchFamily="34" charset="0"/>
                        </a:rPr>
                        <a:t>Knowledge partner</a:t>
                      </a:r>
                      <a:endParaRPr lang="en-US" dirty="0">
                        <a:solidFill>
                          <a:schemeClr val="bg1"/>
                        </a:solidFill>
                      </a:endParaRPr>
                    </a:p>
                    <a:p>
                      <a:endParaRPr lang="en-US" dirty="0"/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just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lang="en-US" dirty="0">
                          <a:solidFill>
                            <a:schemeClr val="bg1"/>
                          </a:solidFill>
                          <a:latin typeface="Frutiger 45 bold"/>
                          <a:cs typeface="Calibri" panose="020F0502020204030204" pitchFamily="34" charset="0"/>
                        </a:rPr>
                        <a:t>                                                                     Implementation partner</a:t>
                      </a:r>
                      <a:endParaRPr lang="en-US" dirty="0">
                        <a:solidFill>
                          <a:schemeClr val="bg1"/>
                        </a:solidFill>
                      </a:endParaRPr>
                    </a:p>
                    <a:p>
                      <a:endParaRPr lang="en-US" dirty="0"/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184198">
                <a:tc>
                  <a:txBody>
                    <a:bodyPr/>
                    <a:lstStyle/>
                    <a:p>
                      <a:endParaRPr lang="en-US" dirty="0"/>
                    </a:p>
                    <a:p>
                      <a:endParaRPr lang="en-US" dirty="0"/>
                    </a:p>
                    <a:p>
                      <a:endParaRPr lang="en-US" dirty="0"/>
                    </a:p>
                    <a:p>
                      <a:endParaRPr lang="en-US" dirty="0"/>
                    </a:p>
                    <a:p>
                      <a:endParaRPr lang="en-US" dirty="0"/>
                    </a:p>
                    <a:p>
                      <a:endParaRPr lang="en-US" dirty="0"/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pic>
        <p:nvPicPr>
          <p:cNvPr id="2097155" name="Picture 7"/>
          <p:cNvPicPr>
            <a:picLocks noChangeAspect="1"/>
          </p:cNvPicPr>
          <p:nvPr/>
        </p:nvPicPr>
        <p:blipFill>
          <a:blip r:embed="Rd688f19687e24ac1"/>
          <a:stretch>
            <a:fillRect/>
          </a:stretch>
        </p:blipFill>
        <p:spPr>
          <a:xfrm>
            <a:off x="9775332" y="5852667"/>
            <a:ext cx="1987468" cy="847417"/>
          </a:xfrm>
          <a:prstGeom prst="rect">
            <a:avLst/>
          </a:prstGeom>
        </p:spPr>
      </p:pic>
      <p:pic>
        <p:nvPicPr>
          <p:cNvPr id="9" name="Picture 8" descr="A new chapter begins. I am happy 😊to share that I have joined LTM  (LTIMindtree) as an Associate Trainee. I am very excited to start my  professional journey, learn new things, and">
            <a:extLst>
              <a:ext uri="{FF2B5EF4-FFF2-40B4-BE49-F238E27FC236}">
                <a16:creationId xmlns:a16="http://schemas.microsoft.com/office/drawing/2014/main" id="{0F005677-B52C-4ABE-E8A9-04807569F367}"/>
              </a:ext>
            </a:extLst>
          </p:cNvPr>
          <p:cNvPicPr>
            <a:picLocks noChangeAspect="1"/>
          </p:cNvPicPr>
          <p:nvPr/>
        </p:nvPicPr>
        <p:blipFill>
          <a:blip r:embed="Rb2c017423705491d"/>
          <a:stretch>
            <a:fillRect/>
          </a:stretch>
        </p:blipFill>
        <p:spPr>
          <a:xfrm>
            <a:off x="0" y="5879573"/>
            <a:ext cx="1828800" cy="94869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587" name="Text Placeholder 1"/>
          <p:cNvSpPr>
            <a:spLocks noGrp="1"/>
          </p:cNvSpPr>
          <p:nvPr>
            <p:ph type="body" sz="quarter" idx="13"/>
          </p:nvPr>
        </p:nvSpPr>
        <p:spPr>
          <a:xfrm>
            <a:off x="255997" y="1271220"/>
            <a:ext cx="11601224" cy="4619914"/>
          </a:xfrm>
        </p:spPr>
        <p:txBody>
          <a:bodyPr/>
          <a:lstStyle/>
          <a:p>
            <a:pPr lvl="0"/>
            <a:r>
              <a:rPr lang="en-IN" b="0" dirty="0">
                <a:latin typeface="+mn-lt"/>
              </a:rPr>
              <a:t>The project develops an AI-based industrial troubleshooting assistance system to support technicians and machine operators in identifying and resolving equipment issues and their Queries.</a:t>
            </a:r>
          </a:p>
          <a:p>
            <a:pPr lvl="0"/>
            <a:r>
              <a:rPr lang="en-IN" b="0" dirty="0">
                <a:latin typeface="+mn-lt"/>
              </a:rPr>
              <a:t>It retrieves relevant technical knowledge from stored industrial documents and provides evidence-supported troubleshooting guidance </a:t>
            </a:r>
          </a:p>
          <a:p>
            <a:pPr lvl="0"/>
            <a:r>
              <a:rPr lang="en-IN" b="0" dirty="0">
                <a:latin typeface="+mn-lt"/>
              </a:rPr>
              <a:t>A Bounded Agentic AI framework manages the troubleshooting workflow by understanding the problem, identifying missing information, selecting the appropriate tool, and verifying the retrieved evidence before responding. </a:t>
            </a:r>
          </a:p>
          <a:p>
            <a:pPr lvl="0"/>
            <a:r>
              <a:rPr lang="en-IN" b="0" dirty="0">
                <a:latin typeface="+mn-lt"/>
              </a:rPr>
              <a:t>The system is designed to make troubleshooting faster, safer, more reliable, and easier to use, while preventing unsupported diagnosis and uncontrolled machine actions. </a:t>
            </a:r>
          </a:p>
          <a:p>
            <a:pPr marL="0" indent="0">
              <a:lnSpc>
                <a:spcPct val="150000"/>
              </a:lnSpc>
              <a:buNone/>
            </a:pPr>
            <a:endParaRPr lang="en-US" b="0" dirty="0">
              <a:solidFill>
                <a:srgbClr val="5583D1"/>
              </a:solidFill>
              <a:latin typeface="+mn-lt"/>
            </a:endParaRPr>
          </a:p>
        </p:txBody>
      </p:sp>
      <p:sp>
        <p:nvSpPr>
          <p:cNvPr id="1048588" name="TextBox 2"/>
          <p:cNvSpPr txBox="1"/>
          <p:nvPr/>
        </p:nvSpPr>
        <p:spPr>
          <a:xfrm>
            <a:off x="255996" y="502545"/>
            <a:ext cx="1062433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kumimoji="0" lang="en-US" sz="3600" b="1" i="0" u="none" strike="noStrike" kern="1200" cap="none" spc="0" normalizeH="0" baseline="0" noProof="0" dirty="0">
                <a:ln>
                  <a:noFill/>
                </a:ln>
                <a:solidFill>
                  <a:srgbClr val="5B9BD5">
                    <a:lumMod val="50000"/>
                  </a:srgb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Introduction</a:t>
            </a:r>
          </a:p>
        </p:txBody>
      </p:sp>
      <p:cxnSp>
        <p:nvCxnSpPr>
          <p:cNvPr id="3145729" name="Straight Connector 4"/>
          <p:cNvCxnSpPr>
            <a:cxnSpLocks/>
          </p:cNvCxnSpPr>
          <p:nvPr/>
        </p:nvCxnSpPr>
        <p:spPr>
          <a:xfrm>
            <a:off x="221274" y="1191756"/>
            <a:ext cx="7305799" cy="0"/>
          </a:xfrm>
          <a:prstGeom prst="line">
            <a:avLst/>
          </a:prstGeom>
          <a:ln w="28575"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48589" name="TextBox 3"/>
          <p:cNvSpPr txBox="1"/>
          <p:nvPr/>
        </p:nvSpPr>
        <p:spPr>
          <a:xfrm>
            <a:off x="425887" y="57036"/>
            <a:ext cx="1176611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b="1" dirty="0">
                <a:solidFill>
                  <a:prstClr val="white"/>
                </a:solidFill>
                <a:latin typeface="Frutiger 45 bold"/>
                <a:cs typeface="Calibri" panose="020F0502020204030204" pitchFamily="34" charset="0"/>
              </a:rPr>
              <a:t>Troubleshooting Assistance Through Expert knowledge Retrieval Techniques Using Bounded Agentic AI</a:t>
            </a:r>
          </a:p>
          <a:p>
            <a:pPr algn="r"/>
            <a:r>
              <a:rPr lang="en-US" sz="1800" b="1" i="1" dirty="0" err="1">
                <a:solidFill>
                  <a:srgbClr val="FFFFFF"/>
                </a:solidFill>
              </a:rPr>
              <a:t>i</a:t>
            </a:r>
            <a:endParaRPr lang="en-US" sz="1800" b="1" i="1" dirty="0">
              <a:solidFill>
                <a:srgbClr val="FFFFFF"/>
              </a:solidFill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590" name="Text Placeholder 1"/>
          <p:cNvSpPr>
            <a:spLocks noGrp="1"/>
          </p:cNvSpPr>
          <p:nvPr>
            <p:ph type="body" sz="quarter" idx="13"/>
          </p:nvPr>
        </p:nvSpPr>
        <p:spPr>
          <a:xfrm>
            <a:off x="255996" y="1858781"/>
            <a:ext cx="11826076" cy="4152267"/>
          </a:xfrm>
        </p:spPr>
        <p:txBody>
          <a:bodyPr/>
          <a:lstStyle/>
          <a:p>
            <a:pPr lvl="0"/>
            <a:r>
              <a:rPr lang="en-US" b="0" dirty="0">
                <a:solidFill>
                  <a:srgbClr val="5583D1"/>
                </a:solidFill>
                <a:latin typeface="+mn-lt"/>
              </a:rPr>
              <a:t> </a:t>
            </a:r>
            <a:r>
              <a:rPr lang="en-IN" b="0" dirty="0"/>
              <a:t>Preprocess industrial manuals into structured troubleshooting knowledge </a:t>
            </a:r>
          </a:p>
          <a:p>
            <a:pPr lvl="0"/>
            <a:r>
              <a:rPr lang="en-IN" b="0" dirty="0"/>
              <a:t>Retrieve relevant technical evidence using vector embeddings </a:t>
            </a:r>
          </a:p>
          <a:p>
            <a:pPr lvl="0"/>
            <a:r>
              <a:rPr lang="en-IN" b="0" dirty="0"/>
              <a:t>Generate grounded responses through a RAG pipeline </a:t>
            </a:r>
          </a:p>
          <a:p>
            <a:pPr lvl="0"/>
            <a:r>
              <a:rPr lang="en-IN" b="0" dirty="0"/>
              <a:t>Control troubleshooting workflows using Bounded Agentic AI </a:t>
            </a:r>
          </a:p>
          <a:p>
            <a:pPr lvl="0"/>
            <a:r>
              <a:rPr lang="en-IN" b="0" dirty="0"/>
              <a:t>Verify responses with evidence and safety controls</a:t>
            </a:r>
          </a:p>
        </p:txBody>
      </p:sp>
      <p:sp>
        <p:nvSpPr>
          <p:cNvPr id="1048591" name="TextBox 2"/>
          <p:cNvSpPr txBox="1"/>
          <p:nvPr/>
        </p:nvSpPr>
        <p:spPr>
          <a:xfrm>
            <a:off x="255996" y="502545"/>
            <a:ext cx="1062433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kumimoji="0" lang="en-US" sz="3600" b="1" i="0" u="none" strike="noStrike" kern="1200" cap="none" spc="0" normalizeH="0" baseline="0" noProof="0" dirty="0">
                <a:ln>
                  <a:noFill/>
                </a:ln>
                <a:solidFill>
                  <a:srgbClr val="5B9BD5">
                    <a:lumMod val="50000"/>
                  </a:srgb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Objective </a:t>
            </a:r>
          </a:p>
        </p:txBody>
      </p:sp>
      <p:cxnSp>
        <p:nvCxnSpPr>
          <p:cNvPr id="3145730" name="Straight Connector 4"/>
          <p:cNvCxnSpPr>
            <a:cxnSpLocks/>
          </p:cNvCxnSpPr>
          <p:nvPr/>
        </p:nvCxnSpPr>
        <p:spPr>
          <a:xfrm>
            <a:off x="221274" y="1191756"/>
            <a:ext cx="7305799" cy="0"/>
          </a:xfrm>
          <a:prstGeom prst="line">
            <a:avLst/>
          </a:prstGeom>
          <a:ln w="28575"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48592" name="TextBox 3"/>
          <p:cNvSpPr txBox="1"/>
          <p:nvPr/>
        </p:nvSpPr>
        <p:spPr>
          <a:xfrm>
            <a:off x="1738859" y="57036"/>
            <a:ext cx="10453141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800" b="1" i="1" dirty="0">
                <a:solidFill>
                  <a:srgbClr val="FFFFFF"/>
                </a:solidFill>
              </a:rPr>
              <a:t> </a:t>
            </a:r>
            <a:r>
              <a:rPr lang="en-US" b="1" dirty="0">
                <a:solidFill>
                  <a:prstClr val="white"/>
                </a:solidFill>
                <a:latin typeface="Frutiger 45 bold"/>
                <a:cs typeface="Calibri" panose="020F0502020204030204" pitchFamily="34" charset="0"/>
              </a:rPr>
              <a:t>Troubleshooting Assistance Through Expert knowledge Retrieval Techniques Using Bounded Agentic AI</a:t>
            </a:r>
          </a:p>
          <a:p>
            <a:pPr algn="r"/>
            <a:endParaRPr lang="en-US" sz="1800" b="1" i="1" dirty="0">
              <a:solidFill>
                <a:srgbClr val="FFFFFF"/>
              </a:solidFill>
            </a:endParaRPr>
          </a:p>
          <a:p>
            <a:pPr algn="r"/>
            <a:endParaRPr lang="en-US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593" name="Text Placeholder 1"/>
          <p:cNvSpPr>
            <a:spLocks noGrp="1"/>
          </p:cNvSpPr>
          <p:nvPr>
            <p:ph type="body" sz="quarter" idx="13"/>
          </p:nvPr>
        </p:nvSpPr>
        <p:spPr>
          <a:xfrm>
            <a:off x="221274" y="1425874"/>
            <a:ext cx="11970726" cy="4795031"/>
          </a:xfrm>
        </p:spPr>
        <p:txBody>
          <a:bodyPr/>
          <a:lstStyle/>
          <a:p>
            <a:pPr lvl="0"/>
            <a:r>
              <a:rPr lang="en-US" b="0" dirty="0">
                <a:solidFill>
                  <a:srgbClr val="5583D1"/>
                </a:solidFill>
                <a:latin typeface="+mn-lt"/>
              </a:rPr>
              <a:t> </a:t>
            </a:r>
            <a:r>
              <a:rPr lang="en-IN" dirty="0">
                <a:highlight>
                  <a:srgbClr val="00FFFF"/>
                </a:highlight>
              </a:rPr>
              <a:t> Industrial Query Assistance </a:t>
            </a:r>
            <a:r>
              <a:rPr lang="en-IN" sz="2700" dirty="0"/>
              <a:t>– </a:t>
            </a:r>
            <a:r>
              <a:rPr lang="en-IN" sz="2700" b="0" dirty="0"/>
              <a:t>Supports technicians, machine operators, junior engineers, and apprentices in analysing equipment faults, alarms, and operating issues. </a:t>
            </a:r>
          </a:p>
          <a:p>
            <a:pPr lvl="0"/>
            <a:r>
              <a:rPr lang="en-IN" dirty="0">
                <a:highlight>
                  <a:srgbClr val="00FFFF"/>
                </a:highlight>
              </a:rPr>
              <a:t>Knowledge-Based Troubleshooting </a:t>
            </a:r>
            <a:r>
              <a:rPr lang="en-IN" b="0" dirty="0"/>
              <a:t>– </a:t>
            </a:r>
            <a:r>
              <a:rPr lang="en-IN" sz="2700" b="0" dirty="0"/>
              <a:t>Retrieves relevant troubleshooting information from structured industrial documents to support accurate decision-making. </a:t>
            </a:r>
          </a:p>
          <a:p>
            <a:pPr lvl="0"/>
            <a:r>
              <a:rPr lang="en-IN" dirty="0">
                <a:highlight>
                  <a:srgbClr val="00FFFF"/>
                </a:highlight>
              </a:rPr>
              <a:t>Guided Technical Support </a:t>
            </a:r>
            <a:r>
              <a:rPr lang="en-IN" dirty="0"/>
              <a:t>– </a:t>
            </a:r>
            <a:r>
              <a:rPr lang="en-IN" sz="2700" b="0" dirty="0"/>
              <a:t>Provides step-by-step clarification, required checks, and evidence-supported guidance for less-experienced industrial personnel. </a:t>
            </a:r>
          </a:p>
          <a:p>
            <a:pPr lvl="0"/>
            <a:r>
              <a:rPr lang="en-IN" dirty="0">
                <a:highlight>
                  <a:srgbClr val="00FFFF"/>
                </a:highlight>
              </a:rPr>
              <a:t>Safe AI Assistance </a:t>
            </a:r>
            <a:r>
              <a:rPr lang="en-IN" b="0" dirty="0"/>
              <a:t>– </a:t>
            </a:r>
            <a:r>
              <a:rPr lang="en-IN" sz="2700" b="0" dirty="0"/>
              <a:t>Delivers bounded troubleshooting recommendations while excluding unsupported diagnosis, repair execution, and direct machine control.</a:t>
            </a:r>
          </a:p>
          <a:p>
            <a:pPr lvl="0"/>
            <a:endParaRPr lang="en-IN" b="0" dirty="0"/>
          </a:p>
          <a:p>
            <a:pPr marL="0" indent="0">
              <a:lnSpc>
                <a:spcPct val="150000"/>
              </a:lnSpc>
              <a:buNone/>
            </a:pPr>
            <a:endParaRPr lang="en-US" b="0" dirty="0">
              <a:solidFill>
                <a:srgbClr val="5583D1"/>
              </a:solidFill>
            </a:endParaRPr>
          </a:p>
        </p:txBody>
      </p:sp>
      <p:sp>
        <p:nvSpPr>
          <p:cNvPr id="1048594" name="TextBox 2"/>
          <p:cNvSpPr txBox="1"/>
          <p:nvPr/>
        </p:nvSpPr>
        <p:spPr>
          <a:xfrm>
            <a:off x="255996" y="502545"/>
            <a:ext cx="1062433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kumimoji="0" lang="en-US" sz="3600" b="1" i="0" u="none" strike="noStrike" kern="1200" cap="none" spc="0" normalizeH="0" baseline="0" noProof="0" dirty="0">
                <a:ln>
                  <a:noFill/>
                </a:ln>
                <a:solidFill>
                  <a:srgbClr val="5B9BD5">
                    <a:lumMod val="50000"/>
                  </a:srgb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Scope…. </a:t>
            </a:r>
          </a:p>
        </p:txBody>
      </p:sp>
      <p:cxnSp>
        <p:nvCxnSpPr>
          <p:cNvPr id="3145731" name="Straight Connector 4"/>
          <p:cNvCxnSpPr>
            <a:cxnSpLocks/>
          </p:cNvCxnSpPr>
          <p:nvPr/>
        </p:nvCxnSpPr>
        <p:spPr>
          <a:xfrm>
            <a:off x="221274" y="1191756"/>
            <a:ext cx="7305799" cy="0"/>
          </a:xfrm>
          <a:prstGeom prst="line">
            <a:avLst/>
          </a:prstGeom>
          <a:ln w="28575"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48595" name="TextBox 3"/>
          <p:cNvSpPr txBox="1"/>
          <p:nvPr/>
        </p:nvSpPr>
        <p:spPr>
          <a:xfrm>
            <a:off x="1903751" y="0"/>
            <a:ext cx="10288249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b="1" i="1" dirty="0">
                <a:solidFill>
                  <a:srgbClr val="FFFFFF"/>
                </a:solidFill>
              </a:rPr>
              <a:t>  </a:t>
            </a:r>
            <a:r>
              <a:rPr lang="en-US" b="1" dirty="0">
                <a:solidFill>
                  <a:prstClr val="white"/>
                </a:solidFill>
                <a:latin typeface="Frutiger 45 bold"/>
                <a:cs typeface="Calibri" panose="020F0502020204030204" pitchFamily="34" charset="0"/>
              </a:rPr>
              <a:t>Troubleshooting Assistance Through Expert knowledge Retrieval Techniques Using Bounded Agentic AI</a:t>
            </a:r>
          </a:p>
          <a:p>
            <a:pPr algn="r"/>
            <a:endParaRPr lang="en-US" sz="1800" b="1" i="1" dirty="0">
              <a:solidFill>
                <a:srgbClr val="FFFFFF"/>
              </a:solidFill>
            </a:endParaRPr>
          </a:p>
          <a:p>
            <a:pPr algn="r"/>
            <a:endParaRPr lang="en-US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596" name="Text Placeholder 1"/>
          <p:cNvSpPr>
            <a:spLocks noGrp="1"/>
          </p:cNvSpPr>
          <p:nvPr>
            <p:ph type="body" sz="quarter" idx="13"/>
          </p:nvPr>
        </p:nvSpPr>
        <p:spPr>
          <a:xfrm>
            <a:off x="255996" y="1271219"/>
            <a:ext cx="10624338" cy="4142989"/>
          </a:xfrm>
        </p:spPr>
        <p:txBody>
          <a:bodyPr/>
          <a:lstStyle/>
          <a:p>
            <a:pPr marL="0" indent="0">
              <a:lnSpc>
                <a:spcPct val="150000"/>
              </a:lnSpc>
              <a:buNone/>
            </a:pPr>
            <a:r>
              <a:rPr lang="en-US" sz="2400" b="0" dirty="0">
                <a:solidFill>
                  <a:srgbClr val="5583D1"/>
                </a:solidFill>
                <a:latin typeface="+mn-lt"/>
              </a:rPr>
              <a:t> </a:t>
            </a:r>
            <a:endParaRPr lang="en-US" sz="2400" b="0" dirty="0">
              <a:solidFill>
                <a:srgbClr val="5583D1"/>
              </a:solidFill>
            </a:endParaRPr>
          </a:p>
        </p:txBody>
      </p:sp>
      <p:sp>
        <p:nvSpPr>
          <p:cNvPr id="1048597" name="TextBox 2"/>
          <p:cNvSpPr txBox="1"/>
          <p:nvPr/>
        </p:nvSpPr>
        <p:spPr>
          <a:xfrm>
            <a:off x="255996" y="545425"/>
            <a:ext cx="1062433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kumimoji="0" lang="en-US" sz="3600" b="1" i="0" u="none" strike="noStrike" kern="1200" cap="none" spc="0" normalizeH="0" baseline="0" noProof="0" dirty="0">
                <a:ln>
                  <a:noFill/>
                </a:ln>
                <a:solidFill>
                  <a:srgbClr val="5B9BD5">
                    <a:lumMod val="50000"/>
                  </a:srgb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Literature Review</a:t>
            </a:r>
          </a:p>
        </p:txBody>
      </p:sp>
      <p:cxnSp>
        <p:nvCxnSpPr>
          <p:cNvPr id="3145732" name="Straight Connector 4"/>
          <p:cNvCxnSpPr>
            <a:cxnSpLocks/>
          </p:cNvCxnSpPr>
          <p:nvPr/>
        </p:nvCxnSpPr>
        <p:spPr>
          <a:xfrm>
            <a:off x="221274" y="1191756"/>
            <a:ext cx="7305799" cy="0"/>
          </a:xfrm>
          <a:prstGeom prst="line">
            <a:avLst/>
          </a:prstGeom>
          <a:ln w="28575"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48598" name="TextBox 3"/>
          <p:cNvSpPr txBox="1"/>
          <p:nvPr/>
        </p:nvSpPr>
        <p:spPr>
          <a:xfrm>
            <a:off x="1798821" y="0"/>
            <a:ext cx="1039318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b="1" i="1" dirty="0">
                <a:solidFill>
                  <a:srgbClr val="FFFFFF"/>
                </a:solidFill>
              </a:rPr>
              <a:t>  </a:t>
            </a:r>
            <a:r>
              <a:rPr lang="en-US" b="1" dirty="0">
                <a:solidFill>
                  <a:prstClr val="white"/>
                </a:solidFill>
                <a:latin typeface="Frutiger 45 bold"/>
                <a:cs typeface="Calibri" panose="020F0502020204030204" pitchFamily="34" charset="0"/>
              </a:rPr>
              <a:t>Troubleshooting Assistance Through Expert knowledge Retrieval Techniques Using Bounded Agentic AI</a:t>
            </a:r>
          </a:p>
          <a:p>
            <a:pPr algn="r"/>
            <a:endParaRPr lang="en-US" sz="1800" b="1" i="1" dirty="0">
              <a:solidFill>
                <a:srgbClr val="FFFFFF"/>
              </a:solidFill>
            </a:endParaRPr>
          </a:p>
          <a:p>
            <a:pPr algn="r"/>
            <a:endParaRPr lang="en-US" dirty="0"/>
          </a:p>
        </p:txBody>
      </p:sp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33712EE1-1F9D-B63E-75D0-C539309AF77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63005506"/>
              </p:ext>
            </p:extLst>
          </p:nvPr>
        </p:nvGraphicFramePr>
        <p:xfrm>
          <a:off x="445415" y="1191633"/>
          <a:ext cx="11554080" cy="5115400"/>
        </p:xfrm>
        <a:graphic>
          <a:graphicData uri="http://schemas.openxmlformats.org/drawingml/2006/table">
            <a:tbl>
              <a:tblPr>
                <a:tableStyleId>{2D5ABB26-0587-4C30-8999-92F81FD0307C}</a:tableStyleId>
              </a:tblPr>
              <a:tblGrid>
                <a:gridCol w="3776497">
                  <a:extLst>
                    <a:ext uri="{9D8B030D-6E8A-4147-A177-3AD203B41FA5}">
                      <a16:colId xmlns:a16="http://schemas.microsoft.com/office/drawing/2014/main" val="2210408823"/>
                    </a:ext>
                  </a:extLst>
                </a:gridCol>
                <a:gridCol w="3776497">
                  <a:extLst>
                    <a:ext uri="{9D8B030D-6E8A-4147-A177-3AD203B41FA5}">
                      <a16:colId xmlns:a16="http://schemas.microsoft.com/office/drawing/2014/main" val="340481274"/>
                    </a:ext>
                  </a:extLst>
                </a:gridCol>
                <a:gridCol w="4001086">
                  <a:extLst>
                    <a:ext uri="{9D8B030D-6E8A-4147-A177-3AD203B41FA5}">
                      <a16:colId xmlns:a16="http://schemas.microsoft.com/office/drawing/2014/main" val="3029820769"/>
                    </a:ext>
                  </a:extLst>
                </a:gridCol>
              </a:tblGrid>
              <a:tr h="33139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 b="1" dirty="0">
                          <a:solidFill>
                            <a:srgbClr val="0070C0"/>
                          </a:solidFill>
                        </a:rPr>
                        <a:t>Reference </a:t>
                      </a:r>
                    </a:p>
                  </a:txBody>
                  <a:tcPr marL="81258" marR="81258" marT="40629" marB="4062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 b="1" dirty="0">
                          <a:solidFill>
                            <a:srgbClr val="0070C0"/>
                          </a:solidFill>
                        </a:rPr>
                        <a:t>Technical Contribution</a:t>
                      </a:r>
                    </a:p>
                  </a:txBody>
                  <a:tcPr marL="81258" marR="81258" marT="40629" marB="4062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 b="1" dirty="0">
                          <a:solidFill>
                            <a:srgbClr val="0070C0"/>
                          </a:solidFill>
                        </a:rPr>
                        <a:t>Limitation</a:t>
                      </a:r>
                    </a:p>
                  </a:txBody>
                  <a:tcPr marL="81258" marR="81258" marT="40629" marB="4062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140974469"/>
                  </a:ext>
                </a:extLst>
              </a:tr>
              <a:tr h="132565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 dirty="0">
                          <a:solidFill>
                            <a:srgbClr val="0070C0"/>
                          </a:solidFill>
                        </a:rPr>
                        <a:t>Guided Operations and Maintenance with RAG – Machine Manufacturer (2026)</a:t>
                      </a:r>
                    </a:p>
                  </a:txBody>
                  <a:tcPr marL="81258" marR="81258" marT="40629" marB="4062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 dirty="0">
                          <a:solidFill>
                            <a:srgbClr val="0070C0"/>
                          </a:solidFill>
                        </a:rPr>
                        <a:t>Uses manufacturer documentation with RAG to support fault diagnosis, repair, and maintenance guidance.</a:t>
                      </a:r>
                    </a:p>
                  </a:txBody>
                  <a:tcPr marL="81258" marR="81258" marT="40629" marB="4062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 dirty="0">
                          <a:solidFill>
                            <a:srgbClr val="0070C0"/>
                          </a:solidFill>
                        </a:rPr>
                        <a:t>Focuses mainly on RAG-based assistance; stronger bounded agent control and explicit safety verification are not the central focus. </a:t>
                      </a:r>
                    </a:p>
                  </a:txBody>
                  <a:tcPr marL="81258" marR="81258" marT="40629" marB="4062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50804615"/>
                  </a:ext>
                </a:extLst>
              </a:tr>
              <a:tr h="107709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 dirty="0">
                          <a:solidFill>
                            <a:srgbClr val="0070C0"/>
                          </a:solidFill>
                        </a:rPr>
                        <a:t>Ontology-Based RAG Maintenance Assistant (2025)</a:t>
                      </a:r>
                    </a:p>
                  </a:txBody>
                  <a:tcPr marL="81258" marR="81258" marT="40629" marB="4062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 dirty="0">
                          <a:solidFill>
                            <a:srgbClr val="0070C0"/>
                          </a:solidFill>
                        </a:rPr>
                        <a:t>Combines semantic retrieval, ontology knowledge, and LLMs for maintenance-oriented question answering.</a:t>
                      </a:r>
                    </a:p>
                  </a:txBody>
                  <a:tcPr marL="81258" marR="81258" marT="40629" marB="4062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 dirty="0">
                          <a:solidFill>
                            <a:srgbClr val="0070C0"/>
                          </a:solidFill>
                        </a:rPr>
                        <a:t>Requires ontology construction and does not primarily address bounded troubleshooting tool execution.  </a:t>
                      </a:r>
                    </a:p>
                  </a:txBody>
                  <a:tcPr marL="81258" marR="81258" marT="40629" marB="4062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519311505"/>
                  </a:ext>
                </a:extLst>
              </a:tr>
              <a:tr h="107709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>
                          <a:solidFill>
                            <a:srgbClr val="0070C0"/>
                          </a:solidFill>
                        </a:rPr>
                        <a:t>LLM-TSFD: Human-in-the-Loop Fault Diagnosis (2025)</a:t>
                      </a:r>
                    </a:p>
                  </a:txBody>
                  <a:tcPr marL="81258" marR="81258" marT="40629" marB="4062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 dirty="0">
                          <a:solidFill>
                            <a:srgbClr val="0070C0"/>
                          </a:solidFill>
                        </a:rPr>
                        <a:t>Uses LLM-based reasoning with human interaction for industrial fault diagnosis and decision support.</a:t>
                      </a:r>
                    </a:p>
                  </a:txBody>
                  <a:tcPr marL="81258" marR="81258" marT="40629" marB="4062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 dirty="0">
                          <a:solidFill>
                            <a:srgbClr val="0070C0"/>
                          </a:solidFill>
                        </a:rPr>
                        <a:t>Focuses mainly on time-series fault diagnosis rather than document-based evidence retrieval.  </a:t>
                      </a:r>
                    </a:p>
                  </a:txBody>
                  <a:tcPr marL="81258" marR="81258" marT="40629" marB="4062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775544945"/>
                  </a:ext>
                </a:extLst>
              </a:tr>
              <a:tr h="107709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 dirty="0">
                          <a:solidFill>
                            <a:srgbClr val="0070C0"/>
                          </a:solidFill>
                        </a:rPr>
                        <a:t>Agentic AI for Maintenance Management (2026)</a:t>
                      </a:r>
                    </a:p>
                  </a:txBody>
                  <a:tcPr marL="81258" marR="81258" marT="40629" marB="4062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 dirty="0">
                          <a:solidFill>
                            <a:srgbClr val="0070C0"/>
                          </a:solidFill>
                        </a:rPr>
                        <a:t>Explores multi-step reasoning, tool orchestration, governance, and controlled AI adoption in maintenance workflows.</a:t>
                      </a:r>
                    </a:p>
                  </a:txBody>
                  <a:tcPr marL="81258" marR="81258" marT="40629" marB="4062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 dirty="0">
                          <a:solidFill>
                            <a:srgbClr val="0070C0"/>
                          </a:solidFill>
                        </a:rPr>
                        <a:t>Highlights the need for safer autonomy, validation, and governance in real industrial deployment. </a:t>
                      </a:r>
                    </a:p>
                  </a:txBody>
                  <a:tcPr marL="81258" marR="81258" marT="40629" marB="4062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545033440"/>
                  </a:ext>
                </a:extLst>
              </a:tr>
            </a:tbl>
          </a:graphicData>
        </a:graphic>
      </p:graphicFrame>
      <p:sp>
        <p:nvSpPr>
          <p:cNvPr id="3" name="TextBox 2">
            <a:extLst>
              <a:ext uri="{FF2B5EF4-FFF2-40B4-BE49-F238E27FC236}">
                <a16:creationId xmlns:a16="http://schemas.microsoft.com/office/drawing/2014/main" id="{F0A6EBB7-42D9-C40E-7888-DF7F2BC89C56}"/>
              </a:ext>
            </a:extLst>
          </p:cNvPr>
          <p:cNvSpPr txBox="1"/>
          <p:nvPr/>
        </p:nvSpPr>
        <p:spPr>
          <a:xfrm>
            <a:off x="10218822" y="6575336"/>
            <a:ext cx="1500184" cy="51563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IN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599" name="Text Placeholder 1"/>
          <p:cNvSpPr>
            <a:spLocks noGrp="1"/>
          </p:cNvSpPr>
          <p:nvPr>
            <p:ph type="body" sz="quarter" idx="13"/>
          </p:nvPr>
        </p:nvSpPr>
        <p:spPr>
          <a:xfrm>
            <a:off x="255996" y="1271220"/>
            <a:ext cx="11936004" cy="3413076"/>
          </a:xfrm>
        </p:spPr>
        <p:txBody>
          <a:bodyPr/>
          <a:lstStyle/>
          <a:p>
            <a:pPr lvl="0"/>
            <a:r>
              <a:rPr lang="en-IN" b="0" dirty="0">
                <a:latin typeface="+mn-lt"/>
              </a:rPr>
              <a:t>Recent studies show that RAG and semantic retrieval can effectively use technical documents to support industrial maintenance and troubleshooting activities. </a:t>
            </a:r>
          </a:p>
          <a:p>
            <a:pPr lvl="0"/>
            <a:r>
              <a:rPr lang="en-IN" b="0" dirty="0">
                <a:latin typeface="+mn-lt"/>
              </a:rPr>
              <a:t>LLMs and Human-in-the-Loop approaches improve fault interpretation and decision support, especially when user clarification is required. </a:t>
            </a:r>
          </a:p>
          <a:p>
            <a:pPr lvl="0"/>
            <a:r>
              <a:rPr lang="en-IN" b="0" dirty="0">
                <a:latin typeface="+mn-lt"/>
              </a:rPr>
              <a:t>Agentic AI enables multi-step reasoning and tool orchestration, but industrial applications require controlled autonomy and validation. </a:t>
            </a:r>
          </a:p>
          <a:p>
            <a:pPr lvl="0"/>
            <a:r>
              <a:rPr lang="en-IN" b="0" dirty="0">
                <a:latin typeface="+mn-lt"/>
              </a:rPr>
              <a:t>A common limitation is the lack of evidence verification, bounded reasoning, and safe tool execution in existing maintenance-assistance systems. </a:t>
            </a:r>
          </a:p>
          <a:p>
            <a:pPr lvl="0"/>
            <a:r>
              <a:rPr lang="en-IN" b="0" dirty="0">
                <a:latin typeface="+mn-lt"/>
              </a:rPr>
              <a:t>our project focuses on evidence-grounded retrieval combined with Bounded Agentic AI and safety controls for reliable industrial troubleshooting assistance.</a:t>
            </a:r>
          </a:p>
          <a:p>
            <a:pPr marL="0" indent="0">
              <a:lnSpc>
                <a:spcPct val="150000"/>
              </a:lnSpc>
              <a:buNone/>
            </a:pPr>
            <a:endParaRPr lang="en-US" sz="2400" b="0" dirty="0">
              <a:solidFill>
                <a:srgbClr val="5583D1"/>
              </a:solidFill>
            </a:endParaRPr>
          </a:p>
        </p:txBody>
      </p:sp>
      <p:sp>
        <p:nvSpPr>
          <p:cNvPr id="1048600" name="TextBox 2"/>
          <p:cNvSpPr txBox="1"/>
          <p:nvPr/>
        </p:nvSpPr>
        <p:spPr>
          <a:xfrm>
            <a:off x="255996" y="502545"/>
            <a:ext cx="1062433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kumimoji="0" lang="en-US" sz="3600" b="1" i="0" u="none" strike="noStrike" kern="1200" cap="none" spc="0" normalizeH="0" baseline="0" noProof="0" dirty="0">
                <a:ln>
                  <a:noFill/>
                </a:ln>
                <a:solidFill>
                  <a:srgbClr val="5B9BD5">
                    <a:lumMod val="50000"/>
                  </a:srgb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Summary of Literature</a:t>
            </a:r>
          </a:p>
        </p:txBody>
      </p:sp>
      <p:cxnSp>
        <p:nvCxnSpPr>
          <p:cNvPr id="3145733" name="Straight Connector 4"/>
          <p:cNvCxnSpPr>
            <a:cxnSpLocks/>
          </p:cNvCxnSpPr>
          <p:nvPr/>
        </p:nvCxnSpPr>
        <p:spPr>
          <a:xfrm>
            <a:off x="221274" y="1191756"/>
            <a:ext cx="7305799" cy="0"/>
          </a:xfrm>
          <a:prstGeom prst="line">
            <a:avLst/>
          </a:prstGeom>
          <a:ln w="28575"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48601" name="TextBox 3"/>
          <p:cNvSpPr txBox="1"/>
          <p:nvPr/>
        </p:nvSpPr>
        <p:spPr>
          <a:xfrm>
            <a:off x="2023673" y="0"/>
            <a:ext cx="10168328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b="1" i="1" dirty="0">
                <a:solidFill>
                  <a:srgbClr val="FFFFFF"/>
                </a:solidFill>
              </a:rPr>
              <a:t>  </a:t>
            </a:r>
            <a:r>
              <a:rPr lang="en-US" b="1" dirty="0">
                <a:solidFill>
                  <a:prstClr val="white"/>
                </a:solidFill>
                <a:latin typeface="Frutiger 45 bold"/>
                <a:cs typeface="Calibri" panose="020F0502020204030204" pitchFamily="34" charset="0"/>
              </a:rPr>
              <a:t>Troubleshooting Assistance Through Expert knowledge Retrieval Techniques Using Bounded Agentic AI</a:t>
            </a:r>
          </a:p>
          <a:p>
            <a:pPr algn="r"/>
            <a:endParaRPr lang="en-US" sz="1800" b="1" i="1" dirty="0">
              <a:solidFill>
                <a:srgbClr val="FFFFFF"/>
              </a:solidFill>
            </a:endParaRPr>
          </a:p>
          <a:p>
            <a:pPr algn="r"/>
            <a:endParaRPr lang="en-US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02" name="Text Placeholder 1"/>
          <p:cNvSpPr>
            <a:spLocks noGrp="1"/>
          </p:cNvSpPr>
          <p:nvPr>
            <p:ph type="body" sz="quarter" idx="13"/>
          </p:nvPr>
        </p:nvSpPr>
        <p:spPr>
          <a:xfrm>
            <a:off x="255996" y="1234636"/>
            <a:ext cx="7588594" cy="4829273"/>
          </a:xfrm>
        </p:spPr>
        <p:txBody>
          <a:bodyPr/>
          <a:lstStyle/>
          <a:p>
            <a:pPr lvl="0"/>
            <a:r>
              <a:rPr lang="en-IN" sz="2400" dirty="0"/>
              <a:t>Industrial Knowledge Corpus: </a:t>
            </a:r>
            <a:r>
              <a:rPr lang="en-IN" sz="2400" b="0" dirty="0"/>
              <a:t>Technical manuals were transformed into a structured knowledge base containing 2,888 semantic chunks and 54 structured troubleshooting records for evidence-based retrieval. </a:t>
            </a:r>
          </a:p>
          <a:p>
            <a:pPr lvl="0" algn="just"/>
            <a:r>
              <a:rPr lang="en-IN" sz="2400" dirty="0"/>
              <a:t>Semantic Embedding &amp; Retrieval: </a:t>
            </a:r>
            <a:r>
              <a:rPr lang="en-IN" sz="2400" b="0" dirty="0"/>
              <a:t>The pretrained BAAI/bge-small-en-v1.5 Sentence Transformer converts processed text into 384-dimensional dense embeddings, enabling meaning-based vector similarity search for the RAG pipeline. </a:t>
            </a:r>
          </a:p>
          <a:p>
            <a:pPr lvl="0" algn="just"/>
            <a:r>
              <a:rPr lang="en-IN" sz="2400" dirty="0"/>
              <a:t>Bounded Agentic Intelligence: </a:t>
            </a:r>
            <a:r>
              <a:rPr lang="en-IN" sz="2400" b="0" dirty="0"/>
              <a:t>A custom Bounded Agentic AI framework controls clarification, tool selection, evidence retrieval, and verification while preventing unsupported diagnosis and automatic machine actions.</a:t>
            </a:r>
          </a:p>
          <a:p>
            <a:pPr marL="0" indent="0">
              <a:buNone/>
            </a:pPr>
            <a:endParaRPr lang="en-US" sz="2400" b="0" dirty="0">
              <a:solidFill>
                <a:srgbClr val="5583D1"/>
              </a:solidFill>
            </a:endParaRPr>
          </a:p>
        </p:txBody>
      </p:sp>
      <p:sp>
        <p:nvSpPr>
          <p:cNvPr id="1048603" name="TextBox 2"/>
          <p:cNvSpPr txBox="1"/>
          <p:nvPr/>
        </p:nvSpPr>
        <p:spPr>
          <a:xfrm>
            <a:off x="255996" y="502545"/>
            <a:ext cx="1062433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kumimoji="0" lang="en-US" sz="3600" b="1" i="0" u="none" strike="noStrike" kern="1200" cap="none" spc="0" normalizeH="0" baseline="0" noProof="0" dirty="0">
                <a:ln>
                  <a:noFill/>
                </a:ln>
                <a:solidFill>
                  <a:srgbClr val="5B9BD5">
                    <a:lumMod val="50000"/>
                  </a:srgb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Additional Information </a:t>
            </a:r>
          </a:p>
        </p:txBody>
      </p:sp>
      <p:cxnSp>
        <p:nvCxnSpPr>
          <p:cNvPr id="3145734" name="Straight Connector 4"/>
          <p:cNvCxnSpPr>
            <a:cxnSpLocks/>
          </p:cNvCxnSpPr>
          <p:nvPr/>
        </p:nvCxnSpPr>
        <p:spPr>
          <a:xfrm>
            <a:off x="221274" y="1191756"/>
            <a:ext cx="7305799" cy="0"/>
          </a:xfrm>
          <a:prstGeom prst="line">
            <a:avLst/>
          </a:prstGeom>
          <a:ln w="28575"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48604" name="TextBox 3"/>
          <p:cNvSpPr txBox="1"/>
          <p:nvPr/>
        </p:nvSpPr>
        <p:spPr>
          <a:xfrm>
            <a:off x="1888761" y="0"/>
            <a:ext cx="10303239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b="1" i="1" dirty="0">
                <a:solidFill>
                  <a:srgbClr val="FFFFFF"/>
                </a:solidFill>
              </a:rPr>
              <a:t>  </a:t>
            </a:r>
            <a:r>
              <a:rPr lang="en-US" b="1" dirty="0">
                <a:solidFill>
                  <a:prstClr val="white"/>
                </a:solidFill>
                <a:latin typeface="Frutiger 45 bold"/>
                <a:cs typeface="Calibri" panose="020F0502020204030204" pitchFamily="34" charset="0"/>
              </a:rPr>
              <a:t>Troubleshooting Assistance Through Expert knowledge Retrieval Techniques Using Bounded Agentic AI</a:t>
            </a:r>
          </a:p>
          <a:p>
            <a:pPr algn="r"/>
            <a:endParaRPr lang="en-US" sz="1800" b="1" i="1" dirty="0">
              <a:solidFill>
                <a:srgbClr val="FFFFFF"/>
              </a:solidFill>
            </a:endParaRPr>
          </a:p>
          <a:p>
            <a:pPr algn="r"/>
            <a:endParaRPr lang="en-US" dirty="0"/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595F4DE1-017F-CE7F-DCD2-E3E9D876C05B}"/>
              </a:ext>
            </a:extLst>
          </p:cNvPr>
          <p:cNvPicPr>
            <a:picLocks noChangeAspect="1"/>
          </p:cNvPicPr>
          <p:nvPr/>
        </p:nvPicPr>
        <p:blipFill>
          <a:blip r:embed="R80c3895e97c8480a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748337" y="502545"/>
            <a:ext cx="4317296" cy="2700909"/>
          </a:xfrm>
          <a:prstGeom prst="rect">
            <a:avLst/>
          </a:prstGeom>
        </p:spPr>
      </p:pic>
      <p:graphicFrame>
        <p:nvGraphicFramePr>
          <p:cNvPr id="16" name="Table 15">
            <a:extLst>
              <a:ext uri="{FF2B5EF4-FFF2-40B4-BE49-F238E27FC236}">
                <a16:creationId xmlns:a16="http://schemas.microsoft.com/office/drawing/2014/main" id="{881A1AA7-621B-7D44-91B0-D128A84A4E9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254097096"/>
              </p:ext>
            </p:extLst>
          </p:nvPr>
        </p:nvGraphicFramePr>
        <p:xfrm>
          <a:off x="8065854" y="657726"/>
          <a:ext cx="3870150" cy="5342021"/>
        </p:xfrm>
        <a:graphic>
          <a:graphicData uri="http://schemas.openxmlformats.org/drawingml/2006/table">
            <a:tbl>
              <a:tblPr/>
              <a:tblGrid>
                <a:gridCol w="3870150">
                  <a:extLst>
                    <a:ext uri="{9D8B030D-6E8A-4147-A177-3AD203B41FA5}">
                      <a16:colId xmlns:a16="http://schemas.microsoft.com/office/drawing/2014/main" val="1700380195"/>
                    </a:ext>
                  </a:extLst>
                </a:gridCol>
              </a:tblGrid>
              <a:tr h="5342021">
                <a:tc>
                  <a:txBody>
                    <a:bodyPr/>
                    <a:lstStyle/>
                    <a:p>
                      <a:endParaRPr lang="en-GB" dirty="0"/>
                    </a:p>
                    <a:p>
                      <a:endParaRPr lang="en-IN" dirty="0"/>
                    </a:p>
                    <a:p>
                      <a:endParaRPr lang="en-IN" dirty="0"/>
                    </a:p>
                    <a:p>
                      <a:endParaRPr lang="en-IN" dirty="0"/>
                    </a:p>
                    <a:p>
                      <a:endParaRPr lang="en-IN" dirty="0"/>
                    </a:p>
                    <a:p>
                      <a:endParaRPr lang="en-IN" dirty="0"/>
                    </a:p>
                    <a:p>
                      <a:endParaRPr lang="en-IN" dirty="0"/>
                    </a:p>
                    <a:p>
                      <a:endParaRPr lang="en-IN" dirty="0"/>
                    </a:p>
                    <a:p>
                      <a:endParaRPr lang="en-IN" sz="2000" dirty="0"/>
                    </a:p>
                    <a:p>
                      <a:endParaRPr lang="en-IN" sz="2000" b="1" dirty="0">
                        <a:solidFill>
                          <a:srgbClr val="0070C0"/>
                        </a:solidFill>
                      </a:endParaRPr>
                    </a:p>
                    <a:p>
                      <a:r>
                        <a:rPr lang="en-IN" sz="2000" b="1" dirty="0">
                          <a:solidFill>
                            <a:srgbClr val="0070C0"/>
                          </a:solidFill>
                        </a:rPr>
                        <a:t>74.9% Reduction in Median Retrieval-Unit Size</a:t>
                      </a:r>
                      <a:br>
                        <a:rPr lang="en-IN" sz="2000" dirty="0">
                          <a:solidFill>
                            <a:srgbClr val="0070C0"/>
                          </a:solidFill>
                        </a:rPr>
                      </a:br>
                      <a:r>
                        <a:rPr lang="en-IN" sz="2000" dirty="0">
                          <a:solidFill>
                            <a:srgbClr val="0070C0"/>
                          </a:solidFill>
                        </a:rPr>
                        <a:t>Raw technical content was transformed into compact semantic chunks while maintaining </a:t>
                      </a:r>
                      <a:r>
                        <a:rPr lang="en-IN" sz="2000" b="1" dirty="0">
                          <a:solidFill>
                            <a:srgbClr val="0070C0"/>
                          </a:solidFill>
                        </a:rPr>
                        <a:t>100% chunk-to-vector alignment</a:t>
                      </a:r>
                      <a:r>
                        <a:rPr lang="en-IN" sz="2000" dirty="0">
                          <a:solidFill>
                            <a:srgbClr val="0070C0"/>
                          </a:solidFill>
                        </a:rPr>
                        <a:t>.</a:t>
                      </a:r>
                    </a:p>
                  </a:txBody>
                  <a:tcPr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53497311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05" name="Text Placeholder 1"/>
          <p:cNvSpPr>
            <a:spLocks noGrp="1"/>
          </p:cNvSpPr>
          <p:nvPr>
            <p:ph type="body" sz="quarter" idx="13"/>
          </p:nvPr>
        </p:nvSpPr>
        <p:spPr>
          <a:xfrm>
            <a:off x="255995" y="1651421"/>
            <a:ext cx="12561647" cy="4941879"/>
          </a:xfrm>
        </p:spPr>
        <p:txBody>
          <a:bodyPr/>
          <a:lstStyle/>
          <a:p>
            <a:pPr lvl="0"/>
            <a:r>
              <a:rPr lang="en-IN" b="0" dirty="0"/>
              <a:t>Module 1 – Knowledge Acquisition &amp; Preprocessing </a:t>
            </a:r>
          </a:p>
          <a:p>
            <a:pPr lvl="0"/>
            <a:r>
              <a:rPr lang="en-IN" b="0" dirty="0"/>
              <a:t>Module 2 – Semantic Embedding &amp; Vector Retrieval </a:t>
            </a:r>
          </a:p>
          <a:p>
            <a:pPr lvl="0"/>
            <a:r>
              <a:rPr lang="en-IN" b="0" dirty="0"/>
              <a:t>Module 3 – RAG-Based Troubleshooting Engine </a:t>
            </a:r>
          </a:p>
          <a:p>
            <a:pPr lvl="0"/>
            <a:r>
              <a:rPr lang="en-IN" b="0" dirty="0"/>
              <a:t>Module 4 – Bounded Agentic AI Orchestration </a:t>
            </a:r>
          </a:p>
          <a:p>
            <a:pPr lvl="0"/>
            <a:r>
              <a:rPr lang="en-IN" b="0" dirty="0"/>
              <a:t>Module 5 – Verification &amp; Safety Control </a:t>
            </a:r>
          </a:p>
          <a:p>
            <a:pPr lvl="0"/>
            <a:r>
              <a:rPr lang="en-IN" b="0" dirty="0"/>
              <a:t>Module 6 – System Integration &amp; Technician Interface </a:t>
            </a:r>
          </a:p>
          <a:p>
            <a:pPr lvl="0"/>
            <a:r>
              <a:rPr lang="en-IN" b="0" dirty="0"/>
              <a:t>Module 7 – Evaluation &amp; Reliability Analysis</a:t>
            </a:r>
          </a:p>
          <a:p>
            <a:pPr lvl="0"/>
            <a:r>
              <a:rPr lang="en-IN" b="0" dirty="0">
                <a:latin typeface="Calibri (Body)"/>
              </a:rPr>
              <a:t>Module 8 - Logging, Audit &amp; Traceability :</a:t>
            </a:r>
          </a:p>
          <a:p>
            <a:pPr lvl="0"/>
            <a:endParaRPr lang="en-US" dirty="0">
              <a:solidFill>
                <a:srgbClr val="5583D1"/>
              </a:solidFill>
            </a:endParaRPr>
          </a:p>
        </p:txBody>
      </p:sp>
      <p:sp>
        <p:nvSpPr>
          <p:cNvPr id="1048606" name="TextBox 2"/>
          <p:cNvSpPr txBox="1"/>
          <p:nvPr/>
        </p:nvSpPr>
        <p:spPr>
          <a:xfrm>
            <a:off x="255996" y="502545"/>
            <a:ext cx="1062433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kumimoji="0" lang="en-US" sz="3600" b="1" i="0" u="none" strike="noStrike" kern="1200" cap="none" spc="0" normalizeH="0" baseline="0" noProof="0" dirty="0">
                <a:ln>
                  <a:noFill/>
                </a:ln>
                <a:solidFill>
                  <a:srgbClr val="5B9BD5">
                    <a:lumMod val="50000"/>
                  </a:srgb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Modules to cover</a:t>
            </a:r>
          </a:p>
        </p:txBody>
      </p:sp>
      <p:cxnSp>
        <p:nvCxnSpPr>
          <p:cNvPr id="3145735" name="Straight Connector 4"/>
          <p:cNvCxnSpPr>
            <a:cxnSpLocks/>
          </p:cNvCxnSpPr>
          <p:nvPr/>
        </p:nvCxnSpPr>
        <p:spPr>
          <a:xfrm>
            <a:off x="221274" y="1191756"/>
            <a:ext cx="7305799" cy="0"/>
          </a:xfrm>
          <a:prstGeom prst="line">
            <a:avLst/>
          </a:prstGeom>
          <a:ln w="28575"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48607" name="TextBox 3"/>
          <p:cNvSpPr txBox="1"/>
          <p:nvPr/>
        </p:nvSpPr>
        <p:spPr>
          <a:xfrm>
            <a:off x="2173575" y="0"/>
            <a:ext cx="10018426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b="1" i="1" dirty="0">
                <a:solidFill>
                  <a:srgbClr val="FFFFFF"/>
                </a:solidFill>
              </a:rPr>
              <a:t>  </a:t>
            </a:r>
            <a:r>
              <a:rPr lang="en-US" b="1" dirty="0">
                <a:solidFill>
                  <a:prstClr val="white"/>
                </a:solidFill>
                <a:latin typeface="Frutiger 45 bold"/>
                <a:cs typeface="Calibri" panose="020F0502020204030204" pitchFamily="34" charset="0"/>
              </a:rPr>
              <a:t>Troubleshooting Assistance Through Expert knowledge Retrieval Techniques Using Bounded Agentic AI</a:t>
            </a:r>
          </a:p>
          <a:p>
            <a:pPr algn="r"/>
            <a:endParaRPr lang="en-US" sz="1800" b="1" i="1" dirty="0">
              <a:solidFill>
                <a:srgbClr val="FFFFFF"/>
              </a:solidFill>
            </a:endParaRPr>
          </a:p>
          <a:p>
            <a:pPr algn="r"/>
            <a:endParaRPr lang="en-US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08" name="Text Placeholder 1"/>
          <p:cNvSpPr>
            <a:spLocks noGrp="1"/>
          </p:cNvSpPr>
          <p:nvPr>
            <p:ph type="body" sz="quarter" idx="13"/>
          </p:nvPr>
        </p:nvSpPr>
        <p:spPr>
          <a:xfrm>
            <a:off x="255996" y="1271219"/>
            <a:ext cx="11823709" cy="5084221"/>
          </a:xfrm>
        </p:spPr>
        <p:txBody>
          <a:bodyPr/>
          <a:lstStyle/>
          <a:p>
            <a:r>
              <a:rPr lang="en-IN" sz="2200" dirty="0">
                <a:highlight>
                  <a:srgbClr val="FFFFFF"/>
                </a:highlight>
              </a:rPr>
              <a:t>Knowledge Acquisition &amp; Preprocessing : </a:t>
            </a:r>
            <a:r>
              <a:rPr lang="en-IN" sz="2200" b="0" dirty="0">
                <a:highlight>
                  <a:srgbClr val="FFFFFF"/>
                </a:highlight>
              </a:rPr>
              <a:t>Industrial Document Collection, PDF Text Extraction, Data Cleaning and Structuring, Section Parsing, Semantic Chunking, Metadata Preservation</a:t>
            </a:r>
            <a:endParaRPr lang="en-IN" sz="2200" dirty="0">
              <a:highlight>
                <a:srgbClr val="FFFFFF"/>
              </a:highlight>
            </a:endParaRPr>
          </a:p>
          <a:p>
            <a:r>
              <a:rPr lang="en-IN" sz="2200" dirty="0">
                <a:highlight>
                  <a:srgbClr val="FFFFFF"/>
                </a:highlight>
              </a:rPr>
              <a:t>RAG-Based Troubleshooting Engine : </a:t>
            </a:r>
            <a:r>
              <a:rPr lang="en-IN" sz="2200" b="0" dirty="0">
                <a:highlight>
                  <a:srgbClr val="FFFFFF"/>
                </a:highlight>
              </a:rPr>
              <a:t>Query Processing, Context Retrieval, Evidence Selection, Context Construction, Grounded Response Generation</a:t>
            </a:r>
          </a:p>
          <a:p>
            <a:r>
              <a:rPr lang="en-IN" sz="2200" dirty="0">
                <a:highlight>
                  <a:srgbClr val="FFFFFF"/>
                </a:highlight>
              </a:rPr>
              <a:t>Bounded Agentic AI Orchestration : </a:t>
            </a:r>
            <a:r>
              <a:rPr lang="en-IN" sz="2200" b="0" dirty="0">
                <a:highlight>
                  <a:srgbClr val="FFFFFF"/>
                </a:highlight>
              </a:rPr>
              <a:t>Intent Understanding, Missing-Information Detection, Clarification Handling, Tool Selection, Controlled Reasoning, Workflow Orchestration</a:t>
            </a:r>
          </a:p>
          <a:p>
            <a:r>
              <a:rPr lang="en-IN" sz="2200" dirty="0">
                <a:highlight>
                  <a:srgbClr val="FFFFFF"/>
                </a:highlight>
              </a:rPr>
              <a:t>Verification &amp; Safety Control </a:t>
            </a:r>
            <a:r>
              <a:rPr lang="en-IN" sz="2200" b="0" dirty="0">
                <a:highlight>
                  <a:srgbClr val="FFFFFF"/>
                </a:highlight>
              </a:rPr>
              <a:t>: Evidence Verification, Grounding Validation, Known-Information Checking, Duplicate Tool-Call Prevention, Unsupported Diagnosis Prevention, Automatic Action Restriction</a:t>
            </a:r>
          </a:p>
          <a:p>
            <a:r>
              <a:rPr lang="en-IN" sz="2200" dirty="0">
                <a:highlight>
                  <a:srgbClr val="FFFFFF"/>
                </a:highlight>
              </a:rPr>
              <a:t>System Integration &amp; Technician Interface </a:t>
            </a:r>
            <a:r>
              <a:rPr lang="en-IN" sz="2200" b="0" dirty="0">
                <a:highlight>
                  <a:srgbClr val="FFFFFF"/>
                </a:highlight>
              </a:rPr>
              <a:t>: Fast API Integration, Agent-Tool Integration, RAG-Agent Integration, Backend-Frontend Communication, Technician Interface, End-to-End Integration</a:t>
            </a:r>
          </a:p>
          <a:p>
            <a:r>
              <a:rPr lang="en-IN" sz="2200" dirty="0">
                <a:highlight>
                  <a:srgbClr val="FFFFFF"/>
                </a:highlight>
              </a:rPr>
              <a:t>Evaluation &amp; Reliability Analysis : </a:t>
            </a:r>
            <a:r>
              <a:rPr lang="en-IN" sz="2200" b="0" dirty="0">
                <a:highlight>
                  <a:srgbClr val="FFFFFF"/>
                </a:highlight>
              </a:rPr>
              <a:t>Retrieval Evaluation, Agent Behaviour Testing, Safety Validation, Response Reliability, Latency Analysis, Industrial Troubleshooting Reliability Score (ITRS)</a:t>
            </a:r>
          </a:p>
          <a:p>
            <a:pPr marL="0" indent="0">
              <a:buNone/>
            </a:pPr>
            <a:endParaRPr lang="en-US" sz="2400" b="0" i="0" dirty="0">
              <a:solidFill>
                <a:srgbClr val="242424"/>
              </a:solidFill>
              <a:effectLst/>
              <a:highlight>
                <a:srgbClr val="FFFFFF"/>
              </a:highlight>
              <a:latin typeface="source-serif-pro"/>
            </a:endParaRPr>
          </a:p>
          <a:p>
            <a:pPr lvl="1"/>
            <a:endParaRPr lang="en-US" dirty="0">
              <a:solidFill>
                <a:srgbClr val="1C3898"/>
              </a:solidFill>
            </a:endParaRPr>
          </a:p>
        </p:txBody>
      </p:sp>
      <p:sp>
        <p:nvSpPr>
          <p:cNvPr id="1048609" name="TextBox 2"/>
          <p:cNvSpPr txBox="1"/>
          <p:nvPr/>
        </p:nvSpPr>
        <p:spPr>
          <a:xfrm>
            <a:off x="255996" y="502545"/>
            <a:ext cx="1062433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/>
            <a:r>
              <a:rPr lang="en-US" sz="3600" b="1" dirty="0">
                <a:solidFill>
                  <a:srgbClr val="5B9BD5">
                    <a:lumMod val="50000"/>
                  </a:srgbClr>
                </a:solidFill>
                <a:latin typeface="Calibri" panose="020F0502020204030204"/>
              </a:rPr>
              <a:t>Module name</a:t>
            </a: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5B9BD5">
                  <a:lumMod val="50000"/>
                </a:srgb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cxnSp>
        <p:nvCxnSpPr>
          <p:cNvPr id="3145736" name="Straight Connector 3"/>
          <p:cNvCxnSpPr>
            <a:cxnSpLocks/>
          </p:cNvCxnSpPr>
          <p:nvPr/>
        </p:nvCxnSpPr>
        <p:spPr>
          <a:xfrm>
            <a:off x="221274" y="1191756"/>
            <a:ext cx="7305799" cy="0"/>
          </a:xfrm>
          <a:prstGeom prst="line">
            <a:avLst/>
          </a:prstGeom>
          <a:ln w="28575"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48610" name="TextBox 5"/>
          <p:cNvSpPr txBox="1"/>
          <p:nvPr/>
        </p:nvSpPr>
        <p:spPr>
          <a:xfrm>
            <a:off x="1993693" y="0"/>
            <a:ext cx="10198308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b="1" i="1" dirty="0">
                <a:solidFill>
                  <a:srgbClr val="FFFFFF"/>
                </a:solidFill>
              </a:rPr>
              <a:t>  </a:t>
            </a:r>
            <a:r>
              <a:rPr lang="en-US" b="1" dirty="0">
                <a:solidFill>
                  <a:prstClr val="white"/>
                </a:solidFill>
                <a:latin typeface="Frutiger 45 bold"/>
                <a:cs typeface="Calibri" panose="020F0502020204030204" pitchFamily="34" charset="0"/>
              </a:rPr>
              <a:t>Troubleshooting Assistance Through Expert knowledge Retrieval Techniques Using Bounded Agentic AI</a:t>
            </a:r>
          </a:p>
          <a:p>
            <a:pPr algn="r"/>
            <a:endParaRPr lang="en-US" b="1" i="1" dirty="0">
              <a:solidFill>
                <a:srgbClr val="FFFFFF"/>
              </a:solidFill>
            </a:endParaRPr>
          </a:p>
          <a:p>
            <a:pPr algn="r"/>
            <a:endParaRPr lang="en-US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583" name="Rectangle 5"/>
          <p:cNvSpPr/>
          <p:nvPr/>
        </p:nvSpPr>
        <p:spPr>
          <a:xfrm>
            <a:off x="-31269" y="29737"/>
            <a:ext cx="12254538" cy="6868389"/>
          </a:xfrm>
          <a:prstGeom prst="rect">
            <a:avLst/>
          </a:prstGeom>
          <a:gradFill>
            <a:gsLst>
              <a:gs pos="0">
                <a:srgbClr val="47BDAF"/>
              </a:gs>
              <a:gs pos="39000">
                <a:srgbClr val="1C4D98"/>
              </a:gs>
              <a:gs pos="100000">
                <a:srgbClr val="3793A6"/>
              </a:gs>
            </a:gsLst>
            <a:lin ang="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l" defTabSz="91437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Frutiger LT Pro 45 Light" panose="020B0403030504020204" pitchFamily="34" charset="0"/>
              <a:ea typeface="+mn-ea"/>
              <a:cs typeface="+mn-cs"/>
            </a:endParaRPr>
          </a:p>
        </p:txBody>
      </p:sp>
      <p:sp>
        <p:nvSpPr>
          <p:cNvPr id="1048584" name="Text Placeholder 1"/>
          <p:cNvSpPr>
            <a:spLocks noGrp="1"/>
          </p:cNvSpPr>
          <p:nvPr>
            <p:ph type="body" sz="quarter" idx="13"/>
          </p:nvPr>
        </p:nvSpPr>
        <p:spPr>
          <a:xfrm>
            <a:off x="2289635" y="17705"/>
            <a:ext cx="6910121" cy="1058125"/>
          </a:xfrm>
        </p:spPr>
        <p:txBody>
          <a:bodyPr/>
          <a:lstStyle/>
          <a:p>
            <a:pPr marL="0" indent="0" algn="ctr">
              <a:buNone/>
            </a:pPr>
            <a:r>
              <a:rPr lang="en-US" sz="4400" dirty="0">
                <a:solidFill>
                  <a:schemeClr val="bg1"/>
                </a:solidFill>
              </a:rPr>
              <a:t>M.Tech Program </a:t>
            </a:r>
          </a:p>
          <a:p>
            <a:pPr marL="0" indent="0" algn="ctr">
              <a:buNone/>
            </a:pPr>
            <a:r>
              <a:rPr lang="en-US" sz="2000" dirty="0">
                <a:solidFill>
                  <a:schemeClr val="bg1"/>
                </a:solidFill>
              </a:rPr>
              <a:t>Advanced Industry Integrated Programs</a:t>
            </a:r>
          </a:p>
        </p:txBody>
      </p:sp>
      <p:cxnSp>
        <p:nvCxnSpPr>
          <p:cNvPr id="3145728" name="Straight Connector 14"/>
          <p:cNvCxnSpPr>
            <a:cxnSpLocks/>
          </p:cNvCxnSpPr>
          <p:nvPr/>
        </p:nvCxnSpPr>
        <p:spPr>
          <a:xfrm>
            <a:off x="2977350" y="1120307"/>
            <a:ext cx="5866228" cy="0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48585" name="Rectangle: Rounded Corners 15"/>
          <p:cNvSpPr/>
          <p:nvPr/>
        </p:nvSpPr>
        <p:spPr>
          <a:xfrm>
            <a:off x="4125951" y="1177578"/>
            <a:ext cx="3033131" cy="456000"/>
          </a:xfrm>
          <a:prstGeom prst="roundRect">
            <a:avLst/>
          </a:prstGeom>
          <a:solidFill>
            <a:schemeClr val="accent6">
              <a:lumMod val="20000"/>
              <a:lumOff val="80000"/>
            </a:schemeClr>
          </a:solidFill>
        </p:spPr>
        <p:txBody>
          <a:bodyPr wrap="squar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595959"/>
                </a:solidFill>
                <a:effectLst/>
                <a:uLnTx/>
                <a:uFillTx/>
                <a:latin typeface="Frutiger 45 bold"/>
                <a:ea typeface="+mn-ea"/>
                <a:cs typeface="Calibri" panose="020F0502020204030204" pitchFamily="34" charset="0"/>
              </a:rPr>
              <a:t>Jointly offered by University and LTIMindTree</a:t>
            </a:r>
          </a:p>
        </p:txBody>
      </p:sp>
      <p:sp>
        <p:nvSpPr>
          <p:cNvPr id="1048586" name="TextBox 3"/>
          <p:cNvSpPr txBox="1"/>
          <p:nvPr/>
        </p:nvSpPr>
        <p:spPr>
          <a:xfrm>
            <a:off x="180236" y="1659821"/>
            <a:ext cx="11582564" cy="49859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lang="en-US" sz="3600" b="1" dirty="0">
                <a:solidFill>
                  <a:prstClr val="white"/>
                </a:solidFill>
                <a:cs typeface="Calibri" panose="020F0502020204030204" pitchFamily="34" charset="0"/>
              </a:rPr>
              <a:t>Project - 2  </a:t>
            </a:r>
          </a:p>
          <a:p>
            <a:pPr lvl="0" algn="ctr"/>
            <a:r>
              <a:rPr kumimoji="0" lang="en-US" sz="36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Frutiger 45 bold"/>
                <a:ea typeface="+mn-ea"/>
                <a:cs typeface="Calibri" panose="020F0502020204030204" pitchFamily="34" charset="0"/>
              </a:rPr>
              <a:t> </a:t>
            </a:r>
            <a:r>
              <a:rPr lang="en-IN" sz="3600" b="1" dirty="0">
                <a:solidFill>
                  <a:schemeClr val="accent1">
                    <a:lumMod val="20000"/>
                    <a:lumOff val="80000"/>
                  </a:schemeClr>
                </a:solidFill>
              </a:rPr>
              <a:t>Construction Operations Planning and Resource Allocation Using Agentic AI</a:t>
            </a:r>
            <a:endParaRPr lang="en-US" sz="3600" b="1" dirty="0">
              <a:solidFill>
                <a:schemeClr val="accent1">
                  <a:lumMod val="20000"/>
                  <a:lumOff val="80000"/>
                </a:schemeClr>
              </a:solidFill>
              <a:latin typeface="Frutiger 45 bold"/>
              <a:cs typeface="Calibri" panose="020F0502020204030204" pitchFamily="34" charset="0"/>
            </a:endParaRPr>
          </a:p>
          <a:p>
            <a:pPr lvl="0" algn="ctr"/>
            <a:endParaRPr kumimoji="0" lang="en-US" sz="54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Frutiger 45 bold"/>
              <a:ea typeface="+mn-ea"/>
              <a:cs typeface="Calibri" panose="020F0502020204030204" pitchFamily="34" charset="0"/>
            </a:endParaRPr>
          </a:p>
          <a:p>
            <a:pPr lvl="0" algn="ctr"/>
            <a:r>
              <a:rPr lang="en-US" sz="2400" b="1" dirty="0">
                <a:solidFill>
                  <a:prstClr val="white"/>
                </a:solidFill>
                <a:cs typeface="Calibri" panose="020F0502020204030204" pitchFamily="34" charset="0"/>
              </a:rPr>
              <a:t>Aravind </a:t>
            </a:r>
            <a:r>
              <a:rPr lang="en-US" sz="2400" b="1" dirty="0" err="1">
                <a:solidFill>
                  <a:prstClr val="white"/>
                </a:solidFill>
                <a:cs typeface="Calibri" panose="020F0502020204030204" pitchFamily="34" charset="0"/>
              </a:rPr>
              <a:t>kumaran</a:t>
            </a:r>
            <a:r>
              <a:rPr lang="en-US" sz="2400" b="1" dirty="0">
                <a:solidFill>
                  <a:prstClr val="white"/>
                </a:solidFill>
                <a:cs typeface="Calibri" panose="020F0502020204030204" pitchFamily="34" charset="0"/>
              </a:rPr>
              <a:t> R</a:t>
            </a:r>
          </a:p>
          <a:p>
            <a:pPr algn="ctr"/>
            <a:r>
              <a:rPr lang="en-US" sz="2400" b="1" dirty="0">
                <a:solidFill>
                  <a:prstClr val="white"/>
                </a:solidFill>
                <a:cs typeface="Calibri" panose="020F0502020204030204" pitchFamily="34" charset="0"/>
              </a:rPr>
              <a:t>SE-T9977</a:t>
            </a:r>
          </a:p>
          <a:p>
            <a:pPr lvl="0" algn="ctr"/>
            <a:endParaRPr lang="en-US" sz="5400" b="1" dirty="0">
              <a:solidFill>
                <a:prstClr val="white"/>
              </a:solidFill>
              <a:latin typeface="Frutiger 45 bold"/>
              <a:cs typeface="Calibri" panose="020F0502020204030204" pitchFamily="34" charset="0"/>
            </a:endParaRPr>
          </a:p>
          <a:p>
            <a:pPr lvl="0" algn="ctr"/>
            <a:endParaRPr kumimoji="0" lang="en-US" sz="54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Frutiger 45 bold"/>
              <a:ea typeface="+mn-ea"/>
              <a:cs typeface="Calibri" panose="020F0502020204030204" pitchFamily="34" charset="0"/>
            </a:endParaRPr>
          </a:p>
        </p:txBody>
      </p:sp>
      <p:graphicFrame>
        <p:nvGraphicFramePr>
          <p:cNvPr id="4194304" name="Table 2"/>
          <p:cNvGraphicFramePr>
            <a:graphicFrameLocks noGrp="1"/>
          </p:cNvGraphicFramePr>
          <p:nvPr/>
        </p:nvGraphicFramePr>
        <p:xfrm>
          <a:off x="-47290" y="5501244"/>
          <a:ext cx="12239216" cy="3264833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611960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11960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1527473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lang="en-US" dirty="0">
                          <a:solidFill>
                            <a:schemeClr val="bg1"/>
                          </a:solidFill>
                          <a:latin typeface="Frutiger 45 bold"/>
                          <a:cs typeface="Calibri" panose="020F0502020204030204" pitchFamily="34" charset="0"/>
                        </a:rPr>
                        <a:t>Knowledge partner</a:t>
                      </a:r>
                      <a:endParaRPr lang="en-US" dirty="0">
                        <a:solidFill>
                          <a:schemeClr val="bg1"/>
                        </a:solidFill>
                      </a:endParaRPr>
                    </a:p>
                    <a:p>
                      <a:endParaRPr lang="en-US" dirty="0"/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just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lang="en-US" dirty="0">
                          <a:solidFill>
                            <a:schemeClr val="bg1"/>
                          </a:solidFill>
                          <a:latin typeface="Frutiger 45 bold"/>
                          <a:cs typeface="Calibri" panose="020F0502020204030204" pitchFamily="34" charset="0"/>
                        </a:rPr>
                        <a:t>                                                                     Implementation partner</a:t>
                      </a:r>
                      <a:endParaRPr lang="en-US" dirty="0">
                        <a:solidFill>
                          <a:schemeClr val="bg1"/>
                        </a:solidFill>
                      </a:endParaRPr>
                    </a:p>
                    <a:p>
                      <a:endParaRPr lang="en-US" dirty="0"/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184198">
                <a:tc>
                  <a:txBody>
                    <a:bodyPr/>
                    <a:lstStyle/>
                    <a:p>
                      <a:endParaRPr lang="en-US" dirty="0"/>
                    </a:p>
                    <a:p>
                      <a:endParaRPr lang="en-US" dirty="0"/>
                    </a:p>
                    <a:p>
                      <a:endParaRPr lang="en-US" dirty="0"/>
                    </a:p>
                    <a:p>
                      <a:endParaRPr lang="en-US" dirty="0"/>
                    </a:p>
                    <a:p>
                      <a:endParaRPr lang="en-US" dirty="0"/>
                    </a:p>
                    <a:p>
                      <a:endParaRPr lang="en-US" dirty="0"/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pic>
        <p:nvPicPr>
          <p:cNvPr id="2097155" name="Picture 7"/>
          <p:cNvPicPr>
            <a:picLocks noChangeAspect="1"/>
          </p:cNvPicPr>
          <p:nvPr/>
        </p:nvPicPr>
        <p:blipFill>
          <a:blip r:embed="R160e8a8805604f25"/>
          <a:stretch>
            <a:fillRect/>
          </a:stretch>
        </p:blipFill>
        <p:spPr>
          <a:xfrm>
            <a:off x="9775332" y="5852667"/>
            <a:ext cx="1987468" cy="847417"/>
          </a:xfrm>
          <a:prstGeom prst="rect">
            <a:avLst/>
          </a:prstGeom>
        </p:spPr>
      </p:pic>
      <p:pic>
        <p:nvPicPr>
          <p:cNvPr id="9" name="Picture 8" descr="A new chapter begins. I am happy 😊to share that I have joined LTM  (LTIMindtree) as an Associate Trainee. I am very excited to start my  professional journey, learn new things, and">
            <a:extLst>
              <a:ext uri="{FF2B5EF4-FFF2-40B4-BE49-F238E27FC236}">
                <a16:creationId xmlns:a16="http://schemas.microsoft.com/office/drawing/2014/main" id="{0F005677-B52C-4ABE-E8A9-04807569F367}"/>
              </a:ext>
            </a:extLst>
          </p:cNvPr>
          <p:cNvPicPr>
            <a:picLocks noChangeAspect="1"/>
          </p:cNvPicPr>
          <p:nvPr/>
        </p:nvPicPr>
        <p:blipFill>
          <a:blip r:embed="Ra2052885604841e2"/>
          <a:stretch>
            <a:fillRect/>
          </a:stretch>
        </p:blipFill>
        <p:spPr>
          <a:xfrm>
            <a:off x="0" y="5879573"/>
            <a:ext cx="1828800" cy="94869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587" name="Text Placeholder 1"/>
          <p:cNvSpPr>
            <a:spLocks noGrp="1"/>
          </p:cNvSpPr>
          <p:nvPr>
            <p:ph type="body" sz="quarter" idx="13"/>
          </p:nvPr>
        </p:nvSpPr>
        <p:spPr>
          <a:xfrm>
            <a:off x="255996" y="1708882"/>
            <a:ext cx="11922177" cy="4646570"/>
          </a:xfrm>
        </p:spPr>
        <p:txBody>
          <a:bodyPr/>
          <a:lstStyle/>
          <a:p>
            <a:pPr lvl="0"/>
            <a:r>
              <a:rPr lang="en-IN" dirty="0">
                <a:latin typeface="+mn-lt"/>
              </a:rPr>
              <a:t> </a:t>
            </a:r>
            <a:r>
              <a:rPr lang="en-IN" b="0" dirty="0">
                <a:latin typeface="+mn-lt"/>
              </a:rPr>
              <a:t>Develops an AI-based system for construction planning and resource management. </a:t>
            </a:r>
          </a:p>
          <a:p>
            <a:pPr lvl="0"/>
            <a:r>
              <a:rPr lang="en-IN" b="0" dirty="0">
                <a:latin typeface="+mn-lt"/>
              </a:rPr>
              <a:t>Plans construction activities using labour, equipment, materials, and schedules. </a:t>
            </a:r>
          </a:p>
          <a:p>
            <a:pPr lvl="0"/>
            <a:r>
              <a:rPr lang="en-IN" b="0" dirty="0">
                <a:latin typeface="+mn-lt"/>
              </a:rPr>
              <a:t>Uses Agentic AI to coordinate multiple planning and allocation tasks. </a:t>
            </a:r>
          </a:p>
          <a:p>
            <a:pPr lvl="0"/>
            <a:r>
              <a:rPr lang="en-IN" b="0" dirty="0">
                <a:latin typeface="+mn-lt"/>
              </a:rPr>
              <a:t>Detects resource shortages, task conflicts, and scheduling constraints. </a:t>
            </a:r>
          </a:p>
          <a:p>
            <a:pPr lvl="0"/>
            <a:r>
              <a:rPr lang="en-IN" b="0" dirty="0">
                <a:latin typeface="+mn-lt"/>
              </a:rPr>
              <a:t>Improves resource utilization, planning efficiency, and project coordination</a:t>
            </a:r>
            <a:r>
              <a:rPr lang="en-IN" b="0" dirty="0"/>
              <a:t>. </a:t>
            </a:r>
          </a:p>
          <a:p>
            <a:endParaRPr lang="en-US" dirty="0">
              <a:solidFill>
                <a:srgbClr val="5583D1"/>
              </a:solidFill>
              <a:latin typeface="+mn-lt"/>
            </a:endParaRPr>
          </a:p>
        </p:txBody>
      </p:sp>
      <p:sp>
        <p:nvSpPr>
          <p:cNvPr id="1048588" name="TextBox 2"/>
          <p:cNvSpPr txBox="1"/>
          <p:nvPr/>
        </p:nvSpPr>
        <p:spPr>
          <a:xfrm>
            <a:off x="255996" y="502545"/>
            <a:ext cx="1062433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kumimoji="0" lang="en-US" sz="3600" b="1" i="0" u="none" strike="noStrike" kern="1200" cap="none" spc="0" normalizeH="0" baseline="0" noProof="0" dirty="0">
                <a:ln>
                  <a:noFill/>
                </a:ln>
                <a:solidFill>
                  <a:srgbClr val="5B9BD5">
                    <a:lumMod val="50000"/>
                  </a:srgb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Introduction</a:t>
            </a:r>
          </a:p>
        </p:txBody>
      </p:sp>
      <p:cxnSp>
        <p:nvCxnSpPr>
          <p:cNvPr id="3145729" name="Straight Connector 4"/>
          <p:cNvCxnSpPr>
            <a:cxnSpLocks/>
          </p:cNvCxnSpPr>
          <p:nvPr/>
        </p:nvCxnSpPr>
        <p:spPr>
          <a:xfrm>
            <a:off x="221274" y="1191756"/>
            <a:ext cx="7305799" cy="0"/>
          </a:xfrm>
          <a:prstGeom prst="line">
            <a:avLst/>
          </a:prstGeom>
          <a:ln w="28575"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48589" name="TextBox 3"/>
          <p:cNvSpPr txBox="1"/>
          <p:nvPr/>
        </p:nvSpPr>
        <p:spPr>
          <a:xfrm>
            <a:off x="425887" y="57036"/>
            <a:ext cx="1176611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b="1" dirty="0">
                <a:solidFill>
                  <a:prstClr val="white"/>
                </a:solidFill>
                <a:latin typeface="Frutiger 45 bold"/>
                <a:cs typeface="Calibri" panose="020F0502020204030204" pitchFamily="34" charset="0"/>
              </a:rPr>
              <a:t> </a:t>
            </a:r>
            <a:r>
              <a:rPr lang="en-IN" dirty="0">
                <a:solidFill>
                  <a:schemeClr val="accent1">
                    <a:lumMod val="20000"/>
                    <a:lumOff val="80000"/>
                  </a:schemeClr>
                </a:solidFill>
              </a:rPr>
              <a:t>Construction Operations Planning and Resource Allocation Using Agentic AI</a:t>
            </a:r>
            <a:endParaRPr lang="en-US" b="1" dirty="0">
              <a:solidFill>
                <a:prstClr val="white"/>
              </a:solidFill>
              <a:latin typeface="Frutiger 45 bold"/>
              <a:cs typeface="Calibri" panose="020F0502020204030204" pitchFamily="34" charset="0"/>
            </a:endParaRPr>
          </a:p>
          <a:p>
            <a:pPr algn="r"/>
            <a:r>
              <a:rPr lang="en-US" sz="1800" b="1" i="1" dirty="0" err="1">
                <a:solidFill>
                  <a:srgbClr val="FFFFFF"/>
                </a:solidFill>
              </a:rPr>
              <a:t>i</a:t>
            </a:r>
            <a:endParaRPr lang="en-US" sz="1800" b="1" i="1" dirty="0">
              <a:solidFill>
                <a:srgbClr val="FFFFFF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858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858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858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858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858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48587" grpId="0" uiExpand="1" build="p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590" name="Text Placeholder 1"/>
          <p:cNvSpPr>
            <a:spLocks noGrp="1"/>
          </p:cNvSpPr>
          <p:nvPr>
            <p:ph type="body" sz="quarter" idx="13"/>
          </p:nvPr>
        </p:nvSpPr>
        <p:spPr>
          <a:xfrm>
            <a:off x="255996" y="1425875"/>
            <a:ext cx="11826076" cy="4585173"/>
          </a:xfrm>
        </p:spPr>
        <p:txBody>
          <a:bodyPr/>
          <a:lstStyle/>
          <a:p>
            <a:pPr lvl="0"/>
            <a:r>
              <a:rPr lang="en-GB" b="0" dirty="0">
                <a:solidFill>
                  <a:srgbClr val="5583D1"/>
                </a:solidFill>
                <a:latin typeface="+mn-lt"/>
              </a:rPr>
              <a:t> </a:t>
            </a:r>
            <a:r>
              <a:rPr lang="en-IN" b="0" dirty="0">
                <a:latin typeface="+mn-lt"/>
              </a:rPr>
              <a:t>Develop intelligent construction activity planning. </a:t>
            </a:r>
          </a:p>
          <a:p>
            <a:pPr lvl="0"/>
            <a:r>
              <a:rPr lang="en-IN" b="0" dirty="0">
                <a:latin typeface="+mn-lt"/>
              </a:rPr>
              <a:t>Optimize labour, equipment, and material allocation. </a:t>
            </a:r>
          </a:p>
          <a:p>
            <a:pPr lvl="0"/>
            <a:r>
              <a:rPr lang="en-IN" b="0" dirty="0">
                <a:latin typeface="+mn-lt"/>
              </a:rPr>
              <a:t>Implement Agentic AI for automated workflow coordination. </a:t>
            </a:r>
          </a:p>
          <a:p>
            <a:pPr lvl="0"/>
            <a:r>
              <a:rPr lang="en-IN" b="0" dirty="0">
                <a:latin typeface="+mn-lt"/>
              </a:rPr>
              <a:t>Detect resource conflicts and scheduling constraints. </a:t>
            </a:r>
          </a:p>
          <a:p>
            <a:pPr lvl="0"/>
            <a:r>
              <a:rPr lang="en-IN" b="0" dirty="0">
                <a:latin typeface="+mn-lt"/>
              </a:rPr>
              <a:t>Provide human-supervised planning recommendations.</a:t>
            </a:r>
          </a:p>
          <a:p>
            <a:pPr lvl="0"/>
            <a:endParaRPr lang="en-US" b="0" dirty="0">
              <a:solidFill>
                <a:srgbClr val="5583D1"/>
              </a:solidFill>
            </a:endParaRPr>
          </a:p>
        </p:txBody>
      </p:sp>
      <p:sp>
        <p:nvSpPr>
          <p:cNvPr id="1048591" name="TextBox 2"/>
          <p:cNvSpPr txBox="1"/>
          <p:nvPr/>
        </p:nvSpPr>
        <p:spPr>
          <a:xfrm>
            <a:off x="255996" y="502545"/>
            <a:ext cx="1062433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kumimoji="0" lang="en-US" sz="3600" b="1" i="0" u="none" strike="noStrike" kern="1200" cap="none" spc="0" normalizeH="0" baseline="0" noProof="0" dirty="0">
                <a:ln>
                  <a:noFill/>
                </a:ln>
                <a:solidFill>
                  <a:srgbClr val="5B9BD5">
                    <a:lumMod val="50000"/>
                  </a:srgb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Objective </a:t>
            </a:r>
          </a:p>
        </p:txBody>
      </p:sp>
      <p:cxnSp>
        <p:nvCxnSpPr>
          <p:cNvPr id="3145730" name="Straight Connector 4"/>
          <p:cNvCxnSpPr>
            <a:cxnSpLocks/>
          </p:cNvCxnSpPr>
          <p:nvPr/>
        </p:nvCxnSpPr>
        <p:spPr>
          <a:xfrm>
            <a:off x="221274" y="1191756"/>
            <a:ext cx="7305799" cy="0"/>
          </a:xfrm>
          <a:prstGeom prst="line">
            <a:avLst/>
          </a:prstGeom>
          <a:ln w="28575"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48592" name="TextBox 3"/>
          <p:cNvSpPr txBox="1"/>
          <p:nvPr/>
        </p:nvSpPr>
        <p:spPr>
          <a:xfrm>
            <a:off x="1738859" y="57036"/>
            <a:ext cx="10453141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800" b="1" i="1" dirty="0">
                <a:solidFill>
                  <a:srgbClr val="FFFFFF"/>
                </a:solidFill>
              </a:rPr>
              <a:t> </a:t>
            </a:r>
            <a:r>
              <a:rPr lang="en-IN" dirty="0">
                <a:solidFill>
                  <a:schemeClr val="accent1">
                    <a:lumMod val="20000"/>
                    <a:lumOff val="80000"/>
                  </a:schemeClr>
                </a:solidFill>
              </a:rPr>
              <a:t>Construction Operations Planning and Resource Allocation Using Agentic AI</a:t>
            </a:r>
            <a:endParaRPr lang="en-US" b="1" dirty="0">
              <a:solidFill>
                <a:prstClr val="white"/>
              </a:solidFill>
              <a:latin typeface="Frutiger 45 bold"/>
              <a:cs typeface="Calibri" panose="020F0502020204030204" pitchFamily="34" charset="0"/>
            </a:endParaRPr>
          </a:p>
          <a:p>
            <a:pPr algn="r"/>
            <a:endParaRPr lang="en-US" sz="1800" b="1" i="1" dirty="0">
              <a:solidFill>
                <a:srgbClr val="FFFFFF"/>
              </a:solidFill>
            </a:endParaRPr>
          </a:p>
          <a:p>
            <a:pPr algn="r"/>
            <a:endParaRPr lang="en-US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593" name="Text Placeholder 1"/>
          <p:cNvSpPr>
            <a:spLocks noGrp="1"/>
          </p:cNvSpPr>
          <p:nvPr>
            <p:ph type="body" sz="quarter" idx="13"/>
          </p:nvPr>
        </p:nvSpPr>
        <p:spPr>
          <a:xfrm>
            <a:off x="221274" y="1903753"/>
            <a:ext cx="11970726" cy="3087971"/>
          </a:xfrm>
        </p:spPr>
        <p:txBody>
          <a:bodyPr/>
          <a:lstStyle/>
          <a:p>
            <a:pPr lvl="0"/>
            <a:r>
              <a:rPr lang="en-GB" b="0" dirty="0">
                <a:solidFill>
                  <a:srgbClr val="5583D1"/>
                </a:solidFill>
                <a:latin typeface="+mn-lt"/>
              </a:rPr>
              <a:t> </a:t>
            </a:r>
            <a:r>
              <a:rPr lang="en-IN" b="0" dirty="0"/>
              <a:t>Activity Planning – Organize and prioritize construction tasks. </a:t>
            </a:r>
          </a:p>
          <a:p>
            <a:pPr lvl="0"/>
            <a:r>
              <a:rPr lang="en-IN" b="0" dirty="0"/>
              <a:t>Resource Allocation – Assign labour, equipment, and materials. </a:t>
            </a:r>
          </a:p>
          <a:p>
            <a:pPr lvl="0"/>
            <a:r>
              <a:rPr lang="en-IN" b="0" dirty="0"/>
              <a:t>Conflict Management – Detect shortages and scheduling conflicts. </a:t>
            </a:r>
          </a:p>
          <a:p>
            <a:pPr lvl="0"/>
            <a:r>
              <a:rPr lang="en-IN" b="0" dirty="0"/>
              <a:t>Decision Support – Assist engineers with optimized plans.</a:t>
            </a:r>
          </a:p>
          <a:p>
            <a:pPr lvl="0"/>
            <a:endParaRPr lang="en-IN" b="0" dirty="0"/>
          </a:p>
          <a:p>
            <a:pPr lvl="0"/>
            <a:endParaRPr lang="en-IN" b="0" dirty="0"/>
          </a:p>
          <a:p>
            <a:pPr marL="0" indent="0">
              <a:lnSpc>
                <a:spcPct val="150000"/>
              </a:lnSpc>
              <a:buNone/>
            </a:pPr>
            <a:endParaRPr lang="en-US" b="0" dirty="0">
              <a:solidFill>
                <a:srgbClr val="5583D1"/>
              </a:solidFill>
            </a:endParaRPr>
          </a:p>
        </p:txBody>
      </p:sp>
      <p:sp>
        <p:nvSpPr>
          <p:cNvPr id="1048594" name="TextBox 2"/>
          <p:cNvSpPr txBox="1"/>
          <p:nvPr/>
        </p:nvSpPr>
        <p:spPr>
          <a:xfrm>
            <a:off x="255996" y="502545"/>
            <a:ext cx="1062433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kumimoji="0" lang="en-US" sz="3600" b="1" i="0" u="none" strike="noStrike" kern="1200" cap="none" spc="0" normalizeH="0" baseline="0" noProof="0" dirty="0">
                <a:ln>
                  <a:noFill/>
                </a:ln>
                <a:solidFill>
                  <a:srgbClr val="5B9BD5">
                    <a:lumMod val="50000"/>
                  </a:srgb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Scope…. </a:t>
            </a:r>
          </a:p>
        </p:txBody>
      </p:sp>
      <p:cxnSp>
        <p:nvCxnSpPr>
          <p:cNvPr id="3145731" name="Straight Connector 4"/>
          <p:cNvCxnSpPr>
            <a:cxnSpLocks/>
          </p:cNvCxnSpPr>
          <p:nvPr/>
        </p:nvCxnSpPr>
        <p:spPr>
          <a:xfrm>
            <a:off x="221274" y="1191756"/>
            <a:ext cx="7305799" cy="0"/>
          </a:xfrm>
          <a:prstGeom prst="line">
            <a:avLst/>
          </a:prstGeom>
          <a:ln w="28575"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48595" name="TextBox 3"/>
          <p:cNvSpPr txBox="1"/>
          <p:nvPr/>
        </p:nvSpPr>
        <p:spPr>
          <a:xfrm>
            <a:off x="1903751" y="0"/>
            <a:ext cx="10288249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b="1" i="1" dirty="0">
                <a:solidFill>
                  <a:srgbClr val="FFFFFF"/>
                </a:solidFill>
              </a:rPr>
              <a:t> </a:t>
            </a:r>
            <a:r>
              <a:rPr lang="en-IN" dirty="0">
                <a:solidFill>
                  <a:schemeClr val="accent1">
                    <a:lumMod val="20000"/>
                    <a:lumOff val="80000"/>
                  </a:schemeClr>
                </a:solidFill>
              </a:rPr>
              <a:t>Construction Operations Planning and Resource Allocation Using Agentic AI</a:t>
            </a:r>
            <a:endParaRPr lang="en-US" b="1" dirty="0">
              <a:solidFill>
                <a:prstClr val="white"/>
              </a:solidFill>
              <a:latin typeface="Frutiger 45 bold"/>
              <a:cs typeface="Calibri" panose="020F0502020204030204" pitchFamily="34" charset="0"/>
            </a:endParaRPr>
          </a:p>
          <a:p>
            <a:pPr algn="r"/>
            <a:endParaRPr lang="en-US" sz="1800" b="1" i="1" dirty="0">
              <a:solidFill>
                <a:srgbClr val="FFFFFF"/>
              </a:solidFill>
            </a:endParaRPr>
          </a:p>
          <a:p>
            <a:pPr algn="r"/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859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859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859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859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48593" grpId="0" uiExpand="1" build="p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02" name="Text Placeholder 1"/>
          <p:cNvSpPr>
            <a:spLocks noGrp="1"/>
          </p:cNvSpPr>
          <p:nvPr>
            <p:ph type="body" sz="quarter" idx="13"/>
          </p:nvPr>
        </p:nvSpPr>
        <p:spPr>
          <a:xfrm>
            <a:off x="255996" y="1873772"/>
            <a:ext cx="10624338" cy="3540436"/>
          </a:xfrm>
        </p:spPr>
        <p:txBody>
          <a:bodyPr/>
          <a:lstStyle/>
          <a:p>
            <a:pPr lvl="0"/>
            <a:r>
              <a:rPr lang="en-IN" b="0" dirty="0"/>
              <a:t>Multi-Source Data – Uses schedule, labour, equipment, and material data. </a:t>
            </a:r>
          </a:p>
          <a:p>
            <a:pPr lvl="0"/>
            <a:r>
              <a:rPr lang="en-IN" b="0" dirty="0"/>
              <a:t>Agentic Planning – Multiple agents coordinate planning decisions. </a:t>
            </a:r>
          </a:p>
          <a:p>
            <a:pPr lvl="0"/>
            <a:r>
              <a:rPr lang="en-IN" b="0" dirty="0"/>
              <a:t>Adaptive Allocation – Resources are reassigned when conflicts occur. </a:t>
            </a:r>
          </a:p>
          <a:p>
            <a:pPr lvl="0"/>
            <a:r>
              <a:rPr lang="en-IN" b="0" dirty="0"/>
              <a:t>Human Control – Engineers approve critical operational decisions.</a:t>
            </a:r>
          </a:p>
          <a:p>
            <a:pPr marL="0" indent="0">
              <a:lnSpc>
                <a:spcPct val="150000"/>
              </a:lnSpc>
              <a:buNone/>
            </a:pPr>
            <a:endParaRPr lang="en-US" sz="2400" b="0" dirty="0">
              <a:solidFill>
                <a:srgbClr val="5583D1"/>
              </a:solidFill>
            </a:endParaRPr>
          </a:p>
        </p:txBody>
      </p:sp>
      <p:sp>
        <p:nvSpPr>
          <p:cNvPr id="1048603" name="TextBox 2"/>
          <p:cNvSpPr txBox="1"/>
          <p:nvPr/>
        </p:nvSpPr>
        <p:spPr>
          <a:xfrm>
            <a:off x="255996" y="502545"/>
            <a:ext cx="1062433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kumimoji="0" lang="en-US" sz="3600" b="1" i="0" u="none" strike="noStrike" kern="1200" cap="none" spc="0" normalizeH="0" baseline="0" noProof="0" dirty="0">
                <a:ln>
                  <a:noFill/>
                </a:ln>
                <a:solidFill>
                  <a:srgbClr val="5B9BD5">
                    <a:lumMod val="50000"/>
                  </a:srgb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Additional Information</a:t>
            </a:r>
          </a:p>
        </p:txBody>
      </p:sp>
      <p:cxnSp>
        <p:nvCxnSpPr>
          <p:cNvPr id="3145734" name="Straight Connector 4"/>
          <p:cNvCxnSpPr>
            <a:cxnSpLocks/>
          </p:cNvCxnSpPr>
          <p:nvPr/>
        </p:nvCxnSpPr>
        <p:spPr>
          <a:xfrm>
            <a:off x="221274" y="1191756"/>
            <a:ext cx="7305799" cy="0"/>
          </a:xfrm>
          <a:prstGeom prst="line">
            <a:avLst/>
          </a:prstGeom>
          <a:ln w="28575"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48604" name="TextBox 3"/>
          <p:cNvSpPr txBox="1"/>
          <p:nvPr/>
        </p:nvSpPr>
        <p:spPr>
          <a:xfrm>
            <a:off x="1888761" y="0"/>
            <a:ext cx="10303239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b="1" i="1" dirty="0">
                <a:solidFill>
                  <a:srgbClr val="FFFFFF"/>
                </a:solidFill>
              </a:rPr>
              <a:t> </a:t>
            </a:r>
            <a:r>
              <a:rPr lang="en-IN" dirty="0">
                <a:solidFill>
                  <a:schemeClr val="accent1">
                    <a:lumMod val="20000"/>
                    <a:lumOff val="80000"/>
                  </a:schemeClr>
                </a:solidFill>
              </a:rPr>
              <a:t>Construction Operations Planning and Resource Allocation Using Agentic AI</a:t>
            </a:r>
            <a:endParaRPr lang="en-US" b="1" dirty="0">
              <a:solidFill>
                <a:prstClr val="white"/>
              </a:solidFill>
              <a:latin typeface="Frutiger 45 bold"/>
              <a:cs typeface="Calibri" panose="020F0502020204030204" pitchFamily="34" charset="0"/>
            </a:endParaRPr>
          </a:p>
          <a:p>
            <a:pPr algn="r"/>
            <a:endParaRPr lang="en-US" sz="1800" b="1" i="1" dirty="0">
              <a:solidFill>
                <a:srgbClr val="FFFFFF"/>
              </a:solidFill>
            </a:endParaRPr>
          </a:p>
          <a:p>
            <a:pPr algn="r"/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860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860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860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860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48602" grpId="0" uiExpand="1" build="p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05" name="Text Placeholder 1"/>
          <p:cNvSpPr>
            <a:spLocks noGrp="1"/>
          </p:cNvSpPr>
          <p:nvPr>
            <p:ph type="body" sz="quarter" idx="13"/>
          </p:nvPr>
        </p:nvSpPr>
        <p:spPr>
          <a:xfrm>
            <a:off x="255996" y="1651421"/>
            <a:ext cx="10624338" cy="3762787"/>
          </a:xfrm>
        </p:spPr>
        <p:txBody>
          <a:bodyPr/>
          <a:lstStyle/>
          <a:p>
            <a:pPr lvl="0"/>
            <a:r>
              <a:rPr lang="en-IN" b="0" dirty="0"/>
              <a:t>Module 1 – Construction Data Acquisition &amp; Modelling </a:t>
            </a:r>
          </a:p>
          <a:p>
            <a:pPr lvl="0"/>
            <a:r>
              <a:rPr lang="en-IN" b="0" dirty="0"/>
              <a:t>Module 2 – Activity &amp; Dependency Analysis </a:t>
            </a:r>
          </a:p>
          <a:p>
            <a:pPr lvl="0"/>
            <a:r>
              <a:rPr lang="en-IN" b="0" dirty="0"/>
              <a:t>Module 3 – Resource Requirement Analysis </a:t>
            </a:r>
          </a:p>
          <a:p>
            <a:pPr lvl="0"/>
            <a:r>
              <a:rPr lang="en-IN" b="0" dirty="0"/>
              <a:t>Module 4 – Agentic AI Planning &amp; Orchestration </a:t>
            </a:r>
          </a:p>
          <a:p>
            <a:pPr lvl="0"/>
            <a:r>
              <a:rPr lang="en-IN" b="0" dirty="0"/>
              <a:t>Module 5 – Constraint-Aware Resource Allocation </a:t>
            </a:r>
          </a:p>
          <a:p>
            <a:pPr lvl="0"/>
            <a:r>
              <a:rPr lang="en-IN" b="0" dirty="0"/>
              <a:t>Module 6 – Conflict Detection &amp; Replanning </a:t>
            </a:r>
          </a:p>
          <a:p>
            <a:pPr lvl="0"/>
            <a:r>
              <a:rPr lang="en-IN" b="0" dirty="0"/>
              <a:t>Module 7 – Dashboard &amp; System Integration </a:t>
            </a:r>
          </a:p>
          <a:p>
            <a:pPr lvl="0"/>
            <a:r>
              <a:rPr lang="en-IN" b="0" dirty="0"/>
              <a:t>Module 8 – Evaluation &amp; Decision Traceability</a:t>
            </a:r>
          </a:p>
          <a:p>
            <a:pPr marL="0" indent="0">
              <a:lnSpc>
                <a:spcPct val="150000"/>
              </a:lnSpc>
              <a:buNone/>
            </a:pPr>
            <a:endParaRPr lang="en-US" b="0" dirty="0">
              <a:solidFill>
                <a:srgbClr val="5583D1"/>
              </a:solidFill>
            </a:endParaRPr>
          </a:p>
        </p:txBody>
      </p:sp>
      <p:sp>
        <p:nvSpPr>
          <p:cNvPr id="1048606" name="TextBox 2"/>
          <p:cNvSpPr txBox="1"/>
          <p:nvPr/>
        </p:nvSpPr>
        <p:spPr>
          <a:xfrm>
            <a:off x="255996" y="502545"/>
            <a:ext cx="1062433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kumimoji="0" lang="en-US" sz="3600" b="1" i="0" u="none" strike="noStrike" kern="1200" cap="none" spc="0" normalizeH="0" baseline="0" noProof="0" dirty="0">
                <a:ln>
                  <a:noFill/>
                </a:ln>
                <a:solidFill>
                  <a:srgbClr val="5B9BD5">
                    <a:lumMod val="50000"/>
                  </a:srgb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Modules to cover</a:t>
            </a:r>
          </a:p>
        </p:txBody>
      </p:sp>
      <p:cxnSp>
        <p:nvCxnSpPr>
          <p:cNvPr id="3145735" name="Straight Connector 4"/>
          <p:cNvCxnSpPr>
            <a:cxnSpLocks/>
          </p:cNvCxnSpPr>
          <p:nvPr/>
        </p:nvCxnSpPr>
        <p:spPr>
          <a:xfrm>
            <a:off x="221274" y="1191756"/>
            <a:ext cx="7305799" cy="0"/>
          </a:xfrm>
          <a:prstGeom prst="line">
            <a:avLst/>
          </a:prstGeom>
          <a:ln w="28575"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48607" name="TextBox 3"/>
          <p:cNvSpPr txBox="1"/>
          <p:nvPr/>
        </p:nvSpPr>
        <p:spPr>
          <a:xfrm>
            <a:off x="2173575" y="0"/>
            <a:ext cx="10018426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b="1" i="1" dirty="0">
                <a:solidFill>
                  <a:srgbClr val="FFFFFF"/>
                </a:solidFill>
              </a:rPr>
              <a:t> </a:t>
            </a:r>
            <a:r>
              <a:rPr lang="en-IN" dirty="0">
                <a:solidFill>
                  <a:schemeClr val="accent1">
                    <a:lumMod val="20000"/>
                    <a:lumOff val="80000"/>
                  </a:schemeClr>
                </a:solidFill>
              </a:rPr>
              <a:t>Construction Operations Planning and Resource Allocation Using Agentic AI</a:t>
            </a:r>
            <a:endParaRPr lang="en-US" b="1" dirty="0">
              <a:solidFill>
                <a:prstClr val="white"/>
              </a:solidFill>
              <a:latin typeface="Frutiger 45 bold"/>
              <a:cs typeface="Calibri" panose="020F0502020204030204" pitchFamily="34" charset="0"/>
            </a:endParaRPr>
          </a:p>
          <a:p>
            <a:pPr algn="r"/>
            <a:endParaRPr lang="en-US" sz="1800" b="1" i="1" dirty="0">
              <a:solidFill>
                <a:srgbClr val="FFFFFF"/>
              </a:solidFill>
            </a:endParaRPr>
          </a:p>
          <a:p>
            <a:pPr algn="r"/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860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860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860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860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860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860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860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860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48605" grpId="0" uiExpand="1" build="p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08" name="Text Placeholder 1"/>
          <p:cNvSpPr>
            <a:spLocks noGrp="1"/>
          </p:cNvSpPr>
          <p:nvPr>
            <p:ph type="body" sz="quarter" idx="13"/>
          </p:nvPr>
        </p:nvSpPr>
        <p:spPr>
          <a:xfrm>
            <a:off x="255996" y="1425875"/>
            <a:ext cx="10624338" cy="4120486"/>
          </a:xfrm>
        </p:spPr>
        <p:txBody>
          <a:bodyPr/>
          <a:lstStyle/>
          <a:p>
            <a:pPr lvl="0"/>
            <a:r>
              <a:rPr lang="en-US" b="0" dirty="0">
                <a:solidFill>
                  <a:srgbClr val="5583D1"/>
                </a:solidFill>
                <a:latin typeface="+mn-lt"/>
              </a:rPr>
              <a:t> </a:t>
            </a:r>
            <a:r>
              <a:rPr lang="en-IN" sz="2400" b="0" dirty="0"/>
              <a:t>Data Acquisition – Collect and structure construction project data. </a:t>
            </a:r>
          </a:p>
          <a:p>
            <a:pPr lvl="0"/>
            <a:r>
              <a:rPr lang="en-IN" sz="2400" b="0" dirty="0"/>
              <a:t>Activity Analysis – Analyse tasks, priorities, and dependencies. </a:t>
            </a:r>
          </a:p>
          <a:p>
            <a:pPr lvl="0"/>
            <a:r>
              <a:rPr lang="en-IN" sz="2400" b="0" dirty="0"/>
              <a:t>Resource Analysis – Check labour, equipment, and material availability. </a:t>
            </a:r>
          </a:p>
          <a:p>
            <a:pPr lvl="0"/>
            <a:r>
              <a:rPr lang="en-IN" sz="2400" b="0" dirty="0"/>
              <a:t>Agentic AI – Coordinate planning through specialized AI agents. </a:t>
            </a:r>
          </a:p>
          <a:p>
            <a:pPr lvl="0"/>
            <a:r>
              <a:rPr lang="en-IN" sz="2400" b="0" dirty="0"/>
              <a:t>Resource Allocation – Assign resources based on project constraints. </a:t>
            </a:r>
          </a:p>
          <a:p>
            <a:pPr lvl="0"/>
            <a:r>
              <a:rPr lang="en-IN" sz="2400" b="0" dirty="0"/>
              <a:t>Replanning – Resolve shortages, conflicts, and schedule changes. </a:t>
            </a:r>
          </a:p>
          <a:p>
            <a:pPr lvl="0"/>
            <a:r>
              <a:rPr lang="en-IN" sz="2400" b="0" dirty="0"/>
              <a:t>Integration – Connect backend, agents, database, and dashboard. </a:t>
            </a:r>
          </a:p>
          <a:p>
            <a:pPr lvl="0"/>
            <a:r>
              <a:rPr lang="en-IN" sz="2400" b="0" dirty="0"/>
              <a:t>Evaluation – Measure planning quality, utilization, and agent reliability.</a:t>
            </a:r>
          </a:p>
          <a:p>
            <a:pPr marL="0" indent="0">
              <a:buNone/>
            </a:pPr>
            <a:endParaRPr lang="en-US" sz="2400" b="0" i="0" dirty="0">
              <a:solidFill>
                <a:srgbClr val="242424"/>
              </a:solidFill>
              <a:effectLst/>
              <a:highlight>
                <a:srgbClr val="FFFFFF"/>
              </a:highlight>
              <a:latin typeface="source-serif-pro"/>
            </a:endParaRPr>
          </a:p>
          <a:p>
            <a:pPr lvl="1"/>
            <a:endParaRPr lang="en-US" dirty="0">
              <a:solidFill>
                <a:srgbClr val="1C3898"/>
              </a:solidFill>
            </a:endParaRPr>
          </a:p>
        </p:txBody>
      </p:sp>
      <p:sp>
        <p:nvSpPr>
          <p:cNvPr id="1048609" name="TextBox 2"/>
          <p:cNvSpPr txBox="1"/>
          <p:nvPr/>
        </p:nvSpPr>
        <p:spPr>
          <a:xfrm>
            <a:off x="255996" y="502545"/>
            <a:ext cx="1062433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/>
            <a:r>
              <a:rPr lang="en-US" sz="3600" b="1" dirty="0">
                <a:solidFill>
                  <a:srgbClr val="5B9BD5">
                    <a:lumMod val="50000"/>
                  </a:srgbClr>
                </a:solidFill>
                <a:latin typeface="Calibri" panose="020F0502020204030204"/>
              </a:rPr>
              <a:t>Module name</a:t>
            </a: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5B9BD5">
                  <a:lumMod val="50000"/>
                </a:srgb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cxnSp>
        <p:nvCxnSpPr>
          <p:cNvPr id="3145736" name="Straight Connector 3"/>
          <p:cNvCxnSpPr>
            <a:cxnSpLocks/>
          </p:cNvCxnSpPr>
          <p:nvPr/>
        </p:nvCxnSpPr>
        <p:spPr>
          <a:xfrm>
            <a:off x="221274" y="1191756"/>
            <a:ext cx="7305799" cy="0"/>
          </a:xfrm>
          <a:prstGeom prst="line">
            <a:avLst/>
          </a:prstGeom>
          <a:ln w="28575"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48610" name="TextBox 5"/>
          <p:cNvSpPr txBox="1"/>
          <p:nvPr/>
        </p:nvSpPr>
        <p:spPr>
          <a:xfrm>
            <a:off x="1993693" y="0"/>
            <a:ext cx="10198308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b="1" i="1" dirty="0">
                <a:solidFill>
                  <a:srgbClr val="FFFFFF"/>
                </a:solidFill>
              </a:rPr>
              <a:t> </a:t>
            </a:r>
            <a:r>
              <a:rPr lang="en-IN" dirty="0">
                <a:solidFill>
                  <a:schemeClr val="accent1">
                    <a:lumMod val="20000"/>
                    <a:lumOff val="80000"/>
                  </a:schemeClr>
                </a:solidFill>
              </a:rPr>
              <a:t>Construction Operations Planning and Resource Allocation Using Agentic AI</a:t>
            </a:r>
            <a:endParaRPr lang="en-US" b="1" dirty="0">
              <a:solidFill>
                <a:prstClr val="white"/>
              </a:solidFill>
              <a:latin typeface="Frutiger 45 bold"/>
              <a:cs typeface="Calibri" panose="020F0502020204030204" pitchFamily="34" charset="0"/>
            </a:endParaRPr>
          </a:p>
          <a:p>
            <a:pPr algn="r"/>
            <a:endParaRPr lang="en-US" b="1" i="1" dirty="0">
              <a:solidFill>
                <a:srgbClr val="FFFFFF"/>
              </a:solidFill>
            </a:endParaRPr>
          </a:p>
          <a:p>
            <a:pPr algn="r"/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457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860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860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860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860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860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8608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8608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8608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48608" grpId="0" uiExpand="1" build="p"/>
    </p:bldLst>
  </p:timing>
</p:sld>
</file>

<file path=docProps/app.xml><?xml version="1.0" encoding="utf-8"?>
<Properties xmlns="http://schemas.openxmlformats.org/officeDocument/2006/extended-properties" xmlns:vt="http://schemas.openxmlformats.org/officeDocument/2006/docPropsVTypes">
  <TotalTime>140</TotalTime>
  <Words>946</Words>
  <Application>Microsoft Office PowerPoint</Application>
  <PresentationFormat>Widescreen</PresentationFormat>
  <Paragraphs>95</Paragraphs>
  <Slides>9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6" baseType="lpstr">
      <vt:lpstr>Arial</vt:lpstr>
      <vt:lpstr>Calibri</vt:lpstr>
      <vt:lpstr>Calibri (Body)</vt:lpstr>
      <vt:lpstr>Frutiger 45 bold</vt:lpstr>
      <vt:lpstr>Frutiger LT Pro 45 Light</vt:lpstr>
      <vt:lpstr>source-serif-pro</vt:lpstr>
      <vt:lpstr>1_Office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title>PowerPoint Presentation</dc:title>
  <dc:creator>HARI PRASATH</dc:creator>
  <lastModifiedBy>Aravind Kumaran R</lastModifiedBy>
  <revision>6</revision>
  <dcterms:created xsi:type="dcterms:W3CDTF">2024-05-12T23:33:11.0000000Z</dcterms:created>
  <dcterms:modified xsi:type="dcterms:W3CDTF">2026-10-01T06:56:45.0090000Z</dcterms:modified>
</coreProperties>
</file>

<file path=docProps/custom.xml><?xml version="1.0" encoding="utf-8"?>
<Properties xmlns="http://schemas.openxmlformats.org/officeDocument/2006/custom-properties" xmlns:vt="http://schemas.openxmlformats.org/officeDocument/2006/docPropsVTypes"/>
</file>