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89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89304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509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DEB"/>
          </a:solidFill>
          <a:ln w="12700">
            <a:solidFill>
              <a:srgbClr val="00BD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65392" y="656539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073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INDIVIDUAL PROJECT PROPOSAL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87968" y="6565392"/>
            <a:ext cx="146304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07386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87968" y="6565392"/>
            <a:ext cx="146304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07386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9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6470" y="438912"/>
            <a:ext cx="8321040" cy="5797296"/>
          </a:xfrm>
          <a:prstGeom prst="rect">
            <a:avLst/>
          </a:prstGeom>
          <a:solidFill>
            <a:srgbClr val="050912">
              <a:alpha val="0"/>
            </a:srgbClr>
          </a:solidFill>
          <a:ln w="15240">
            <a:solidFill>
              <a:srgbClr val="17748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58368" y="713232"/>
            <a:ext cx="781812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C4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INDIVIDUAL PROJECT PROPOSALS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920240" y="1307592"/>
            <a:ext cx="5303520" cy="0"/>
          </a:xfrm>
          <a:prstGeom prst="line">
            <a:avLst/>
          </a:prstGeom>
          <a:noFill/>
          <a:ln w="15240">
            <a:solidFill>
              <a:srgbClr val="16667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572768"/>
            <a:ext cx="749808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5F7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Aravindkumaran R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975104"/>
            <a:ext cx="7498080" cy="2834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Rajalakshmi Engineering College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04288"/>
            <a:ext cx="74980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AAB6C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T9977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77240" y="2834640"/>
            <a:ext cx="7589520" cy="1051560"/>
          </a:xfrm>
          <a:prstGeom prst="roundRect">
            <a:avLst>
              <a:gd name="adj" fmla="val 2609"/>
            </a:avLst>
          </a:prstGeom>
          <a:solidFill>
            <a:srgbClr val="081522"/>
          </a:solidFill>
          <a:ln w="12700">
            <a:solidFill>
              <a:srgbClr val="17748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87552" y="2971800"/>
            <a:ext cx="18745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C4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INDIVIDUAL PROJECT 1</a:t>
            </a:r>
          </a:p>
          <a:p>
            <a:pPr marL="0" indent="0" algn="l">
              <a:lnSpc>
                <a:spcPct val="100000"/>
              </a:lnSpc>
              <a:buNone/>
            </a:pP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3218688"/>
            <a:ext cx="7059168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F5F7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Troubleshooting Assistance Through Expert Knowledge Retrieval Techniques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4160520"/>
            <a:ext cx="7589520" cy="1051560"/>
          </a:xfrm>
          <a:prstGeom prst="roundRect">
            <a:avLst>
              <a:gd name="adj" fmla="val 2609"/>
            </a:avLst>
          </a:prstGeom>
          <a:solidFill>
            <a:srgbClr val="081522"/>
          </a:solidFill>
          <a:ln w="12700">
            <a:solidFill>
              <a:srgbClr val="17748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87552" y="4297680"/>
            <a:ext cx="18745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C4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INDIVIDUAL PROJECT 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87552" y="4544568"/>
            <a:ext cx="7059168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F5F7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Construction Operations Planning and Resource Allocation Using </a:t>
            </a:r>
            <a:r>
              <a:rPr lang="en-US" sz="1650" b="1" dirty="0" err="1">
                <a:solidFill>
                  <a:srgbClr val="F5F7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AgenticAI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687568"/>
            <a:ext cx="74980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i="1" dirty="0">
                <a:solidFill>
                  <a:srgbClr val="AAB6C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87968" y="6565392"/>
            <a:ext cx="146304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07386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9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56032" y="310896"/>
            <a:ext cx="274320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256032" y="566928"/>
            <a:ext cx="384048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256032" y="374754"/>
            <a:ext cx="8183880" cy="39334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b="1" dirty="0">
                <a:solidFill>
                  <a:srgbClr val="F5F7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Troubleshooting Assistance Through Expert Knowledge Retrieval Techniques</a:t>
            </a:r>
            <a:endParaRPr lang="en-US" b="1" dirty="0"/>
          </a:p>
        </p:txBody>
      </p:sp>
      <p:sp>
        <p:nvSpPr>
          <p:cNvPr id="5" name="Shape 3"/>
          <p:cNvSpPr/>
          <p:nvPr/>
        </p:nvSpPr>
        <p:spPr>
          <a:xfrm>
            <a:off x="256032" y="1154093"/>
            <a:ext cx="4160520" cy="4140283"/>
          </a:xfrm>
          <a:prstGeom prst="roundRect">
            <a:avLst>
              <a:gd name="adj" fmla="val 948"/>
            </a:avLst>
          </a:prstGeom>
          <a:solidFill>
            <a:srgbClr val="07111D">
              <a:alpha val="93000"/>
            </a:srgbClr>
          </a:solidFill>
          <a:ln w="13970">
            <a:solidFill>
              <a:srgbClr val="1774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38912" y="1353312"/>
            <a:ext cx="3867912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C4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8912" y="1773936"/>
            <a:ext cx="3867912" cy="0"/>
          </a:xfrm>
          <a:prstGeom prst="line">
            <a:avLst/>
          </a:prstGeom>
          <a:noFill/>
          <a:ln w="13970">
            <a:solidFill>
              <a:srgbClr val="1666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792224"/>
            <a:ext cx="3785616" cy="31638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127000" indent="-127000">
              <a:buSzPct val="100000"/>
              <a:buChar char="•"/>
            </a:pPr>
            <a:r>
              <a:rPr lang="en-US" sz="160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Industrial Senior Knowledge is scattered across manuals, SOPs, failure reports, maintenance records, and technician experience.</a:t>
            </a:r>
            <a:endParaRPr lang="en-US" sz="1600" dirty="0"/>
          </a:p>
          <a:p>
            <a:pPr marL="127000" indent="-127000">
              <a:buSzPct val="100000"/>
              <a:buChar char="•"/>
            </a:pPr>
            <a:r>
              <a:rPr lang="en-US" sz="160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Junior engineers and freshers often do not know where to start after a machine fault or symptom is reported.</a:t>
            </a:r>
            <a:endParaRPr lang="en-US" sz="1600" dirty="0"/>
          </a:p>
          <a:p>
            <a:pPr marL="127000" indent="-127000">
              <a:buSzPct val="100000"/>
              <a:buChar char="•"/>
            </a:pPr>
            <a:r>
              <a:rPr lang="en-US" sz="160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Identifying probable causes, required evidence, inspection order, and similar historical failures is difficult.</a:t>
            </a:r>
            <a:endParaRPr lang="en-US" sz="1600" dirty="0"/>
          </a:p>
          <a:p>
            <a:pPr marL="127000" indent="-127000">
              <a:buSzPct val="100000"/>
              <a:buChar char="•"/>
            </a:pPr>
            <a:r>
              <a:rPr lang="en-US" sz="160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Unavailable or retiring experts can create slow, repetitive, and inconsistent investigations and loss of practical knowledge.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645152" y="1294850"/>
            <a:ext cx="4206240" cy="3858768"/>
          </a:xfrm>
          <a:prstGeom prst="roundRect">
            <a:avLst>
              <a:gd name="adj" fmla="val 948"/>
            </a:avLst>
          </a:prstGeom>
          <a:solidFill>
            <a:srgbClr val="07111D">
              <a:alpha val="93000"/>
            </a:srgbClr>
          </a:solidFill>
          <a:ln w="13970">
            <a:solidFill>
              <a:srgbClr val="17748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91456" y="1463040"/>
            <a:ext cx="3913632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C4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OBJECTIVE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791456" y="1773936"/>
            <a:ext cx="3913632" cy="0"/>
          </a:xfrm>
          <a:prstGeom prst="line">
            <a:avLst/>
          </a:prstGeom>
          <a:noFill/>
          <a:ln w="13970">
            <a:solidFill>
              <a:srgbClr val="1666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37176" y="1847089"/>
            <a:ext cx="3822192" cy="3236971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lnSpcReduction="10000"/>
          </a:bodyPr>
          <a:lstStyle/>
          <a:p>
            <a:pPr marL="127000" indent="-127000">
              <a:buSzPct val="100000"/>
              <a:buChar char="•"/>
            </a:pPr>
            <a:r>
              <a:rPr lang="en-US" sz="160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Organize authoritative documents, historical cases, and structured experience-based cases.</a:t>
            </a:r>
            <a:endParaRPr lang="en-US" sz="1600" dirty="0"/>
          </a:p>
          <a:p>
            <a:pPr marL="127000" indent="-127000">
              <a:buSzPct val="100000"/>
              <a:buChar char="•"/>
            </a:pPr>
            <a:r>
              <a:rPr lang="en-US" sz="160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 separate, traceable Multi-RAG sources for manuals, SOPs, historical cases, and experience-derived knowledge.</a:t>
            </a:r>
            <a:endParaRPr lang="en-US" sz="1600" dirty="0"/>
          </a:p>
          <a:p>
            <a:pPr marL="127000" indent="-127000">
              <a:buSzPct val="100000"/>
              <a:buChar char="•"/>
            </a:pPr>
            <a:r>
              <a:rPr lang="en-US" sz="160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Apply semantic embeddings and vector search to retrieve relevant information for reported faults.</a:t>
            </a:r>
            <a:endParaRPr lang="en-US" sz="1600" dirty="0"/>
          </a:p>
          <a:p>
            <a:pPr marL="127000" indent="-127000">
              <a:buSzPct val="100000"/>
              <a:buChar char="•"/>
            </a:pPr>
            <a:r>
              <a:rPr lang="en-US" sz="160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 an LLM to consolidate evidence into causes, investigation steps, required evidence, and similar cases.</a:t>
            </a:r>
            <a:endParaRPr lang="en-US" sz="1600" dirty="0"/>
          </a:p>
          <a:p>
            <a:pPr marL="127000" indent="-127000">
              <a:buSzPct val="100000"/>
              <a:buChar char="•"/>
            </a:pPr>
            <a:r>
              <a:rPr lang="en-US" sz="160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Provide source-grounded guidance while engineers retain final diagnosis and corrective-action responsibility</a:t>
            </a:r>
            <a:r>
              <a:rPr lang="en-US" sz="116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1160" dirty="0"/>
          </a:p>
        </p:txBody>
      </p:sp>
      <p:sp>
        <p:nvSpPr>
          <p:cNvPr id="13" name="Text 11"/>
          <p:cNvSpPr txBox="1"/>
          <p:nvPr/>
        </p:nvSpPr>
        <p:spPr>
          <a:xfrm>
            <a:off x="301752" y="5376672"/>
            <a:ext cx="19202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0C4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ARCHITECTURE FLOW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92608" y="5650992"/>
            <a:ext cx="1304544" cy="612648"/>
          </a:xfrm>
          <a:prstGeom prst="roundRect">
            <a:avLst>
              <a:gd name="adj" fmla="val 4478"/>
            </a:avLst>
          </a:prstGeom>
          <a:solidFill>
            <a:srgbClr val="0A1825"/>
          </a:solidFill>
          <a:ln w="12700">
            <a:solidFill>
              <a:srgbClr val="17748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38328" y="5696712"/>
            <a:ext cx="1213104" cy="5212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F5F7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Reported</a:t>
            </a:r>
            <a:endParaRPr lang="en-US" sz="108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F5F7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Fault / Query</a:t>
            </a:r>
            <a:endParaRPr lang="en-US" sz="1080" dirty="0"/>
          </a:p>
        </p:txBody>
      </p:sp>
      <p:sp>
        <p:nvSpPr>
          <p:cNvPr id="16" name="Text 14"/>
          <p:cNvSpPr txBox="1"/>
          <p:nvPr/>
        </p:nvSpPr>
        <p:spPr>
          <a:xfrm>
            <a:off x="1615440" y="5760720"/>
            <a:ext cx="109728" cy="4480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C4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1743456" y="5650992"/>
            <a:ext cx="1304544" cy="612648"/>
          </a:xfrm>
          <a:prstGeom prst="roundRect">
            <a:avLst>
              <a:gd name="adj" fmla="val 4478"/>
            </a:avLst>
          </a:prstGeom>
          <a:solidFill>
            <a:srgbClr val="0A1825"/>
          </a:solidFill>
          <a:ln w="12700">
            <a:solidFill>
              <a:srgbClr val="17748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789176" y="5696712"/>
            <a:ext cx="1213104" cy="5212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F5F7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Multi-RAG</a:t>
            </a:r>
            <a:endParaRPr lang="en-US" sz="108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F5F7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Knowledge Sources</a:t>
            </a:r>
            <a:endParaRPr lang="en-US" sz="1080" dirty="0"/>
          </a:p>
        </p:txBody>
      </p:sp>
      <p:sp>
        <p:nvSpPr>
          <p:cNvPr id="19" name="Text 17"/>
          <p:cNvSpPr txBox="1"/>
          <p:nvPr/>
        </p:nvSpPr>
        <p:spPr>
          <a:xfrm>
            <a:off x="3066288" y="5760720"/>
            <a:ext cx="109728" cy="4480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C4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194304" y="5650992"/>
            <a:ext cx="1304544" cy="612648"/>
          </a:xfrm>
          <a:prstGeom prst="roundRect">
            <a:avLst>
              <a:gd name="adj" fmla="val 4478"/>
            </a:avLst>
          </a:prstGeom>
          <a:solidFill>
            <a:srgbClr val="0A1825"/>
          </a:solidFill>
          <a:ln w="12700">
            <a:solidFill>
              <a:srgbClr val="17748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240024" y="5696712"/>
            <a:ext cx="1213104" cy="5212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F5F7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Semantic</a:t>
            </a:r>
            <a:endParaRPr lang="en-US" sz="108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F5F7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Retrieval</a:t>
            </a:r>
            <a:endParaRPr lang="en-US" sz="1080" dirty="0"/>
          </a:p>
        </p:txBody>
      </p:sp>
      <p:sp>
        <p:nvSpPr>
          <p:cNvPr id="22" name="Text 20"/>
          <p:cNvSpPr txBox="1"/>
          <p:nvPr/>
        </p:nvSpPr>
        <p:spPr>
          <a:xfrm>
            <a:off x="4517136" y="5760720"/>
            <a:ext cx="109728" cy="4480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C4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645152" y="5650992"/>
            <a:ext cx="1304544" cy="612648"/>
          </a:xfrm>
          <a:prstGeom prst="roundRect">
            <a:avLst>
              <a:gd name="adj" fmla="val 4478"/>
            </a:avLst>
          </a:prstGeom>
          <a:solidFill>
            <a:srgbClr val="0A1825"/>
          </a:solidFill>
          <a:ln w="12700">
            <a:solidFill>
              <a:srgbClr val="17748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690872" y="5696712"/>
            <a:ext cx="1213104" cy="5212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F5F7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LLM Evidence</a:t>
            </a:r>
            <a:endParaRPr lang="en-US" sz="108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F5F7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Consolidation</a:t>
            </a:r>
            <a:endParaRPr lang="en-US" sz="1080" dirty="0"/>
          </a:p>
        </p:txBody>
      </p:sp>
      <p:sp>
        <p:nvSpPr>
          <p:cNvPr id="25" name="Text 23"/>
          <p:cNvSpPr txBox="1"/>
          <p:nvPr/>
        </p:nvSpPr>
        <p:spPr>
          <a:xfrm>
            <a:off x="5967984" y="5760720"/>
            <a:ext cx="109728" cy="4480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C4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096000" y="5650992"/>
            <a:ext cx="1304544" cy="612648"/>
          </a:xfrm>
          <a:prstGeom prst="roundRect">
            <a:avLst>
              <a:gd name="adj" fmla="val 4478"/>
            </a:avLst>
          </a:prstGeom>
          <a:solidFill>
            <a:srgbClr val="0A1825"/>
          </a:solidFill>
          <a:ln w="12700">
            <a:solidFill>
              <a:srgbClr val="17748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141720" y="5696712"/>
            <a:ext cx="1213104" cy="5212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F5F7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Structured</a:t>
            </a:r>
            <a:endParaRPr lang="en-US" sz="108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F5F7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Guidance</a:t>
            </a:r>
            <a:endParaRPr lang="en-US" sz="1080" dirty="0"/>
          </a:p>
        </p:txBody>
      </p:sp>
      <p:sp>
        <p:nvSpPr>
          <p:cNvPr id="28" name="Text 26"/>
          <p:cNvSpPr txBox="1"/>
          <p:nvPr/>
        </p:nvSpPr>
        <p:spPr>
          <a:xfrm>
            <a:off x="7418832" y="5760720"/>
            <a:ext cx="109728" cy="4480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C4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7546848" y="5650992"/>
            <a:ext cx="1304544" cy="612648"/>
          </a:xfrm>
          <a:prstGeom prst="roundRect">
            <a:avLst>
              <a:gd name="adj" fmla="val 4478"/>
            </a:avLst>
          </a:prstGeom>
          <a:solidFill>
            <a:srgbClr val="0A1825"/>
          </a:solidFill>
          <a:ln w="12700">
            <a:solidFill>
              <a:srgbClr val="17748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592568" y="5696712"/>
            <a:ext cx="1213104" cy="5212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F5F7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Engineer Final</a:t>
            </a:r>
            <a:endParaRPr lang="en-US" sz="108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F5F7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Decision</a:t>
            </a:r>
            <a:endParaRPr lang="en-US" sz="108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87968" y="6565392"/>
            <a:ext cx="146304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07386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9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37744" y="201168"/>
            <a:ext cx="2377440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5F7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1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64592" y="722376"/>
            <a:ext cx="2907792" cy="5660136"/>
          </a:xfrm>
          <a:prstGeom prst="roundRect">
            <a:avLst>
              <a:gd name="adj" fmla="val 1258"/>
            </a:avLst>
          </a:prstGeom>
          <a:solidFill>
            <a:srgbClr val="07111D">
              <a:alpha val="93000"/>
            </a:srgbClr>
          </a:solidFill>
          <a:ln w="13970">
            <a:solidFill>
              <a:srgbClr val="1774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10896" y="832104"/>
            <a:ext cx="2615184" cy="219455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6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C4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 AND KNOWLEDGE COLLECTION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10896" y="1143000"/>
            <a:ext cx="2615184" cy="0"/>
          </a:xfrm>
          <a:prstGeom prst="line">
            <a:avLst/>
          </a:prstGeom>
          <a:noFill/>
          <a:ln w="13970">
            <a:solidFill>
              <a:srgbClr val="16667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Text 4"/>
          <p:cNvSpPr txBox="1"/>
          <p:nvPr/>
        </p:nvSpPr>
        <p:spPr>
          <a:xfrm>
            <a:off x="329184" y="1202438"/>
            <a:ext cx="2578608" cy="3003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C4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AUTHORITATIVE TECHNICAL SOURCES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329184" y="1527048"/>
            <a:ext cx="257860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7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Maintenance manuals</a:t>
            </a:r>
            <a:endParaRPr lang="en-US" sz="970" dirty="0"/>
          </a:p>
        </p:txBody>
      </p:sp>
      <p:sp>
        <p:nvSpPr>
          <p:cNvPr id="8" name="Text 6"/>
          <p:cNvSpPr txBox="1"/>
          <p:nvPr/>
        </p:nvSpPr>
        <p:spPr>
          <a:xfrm>
            <a:off x="329184" y="1723644"/>
            <a:ext cx="257860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7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Manufacturer troubleshooting guides</a:t>
            </a:r>
            <a:endParaRPr lang="en-US" sz="970" dirty="0"/>
          </a:p>
        </p:txBody>
      </p:sp>
      <p:sp>
        <p:nvSpPr>
          <p:cNvPr id="9" name="Text 7"/>
          <p:cNvSpPr txBox="1"/>
          <p:nvPr/>
        </p:nvSpPr>
        <p:spPr>
          <a:xfrm>
            <a:off x="329184" y="1920240"/>
            <a:ext cx="257860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7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Operating manuals</a:t>
            </a:r>
            <a:endParaRPr lang="en-US" sz="970" dirty="0"/>
          </a:p>
        </p:txBody>
      </p:sp>
      <p:sp>
        <p:nvSpPr>
          <p:cNvPr id="10" name="Text 8"/>
          <p:cNvSpPr txBox="1"/>
          <p:nvPr/>
        </p:nvSpPr>
        <p:spPr>
          <a:xfrm>
            <a:off x="329184" y="2116836"/>
            <a:ext cx="257860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7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Standard maintenance procedures (SOPs)</a:t>
            </a:r>
            <a:endParaRPr lang="en-US" sz="970" dirty="0"/>
          </a:p>
        </p:txBody>
      </p:sp>
      <p:sp>
        <p:nvSpPr>
          <p:cNvPr id="11" name="Text 9"/>
          <p:cNvSpPr txBox="1"/>
          <p:nvPr/>
        </p:nvSpPr>
        <p:spPr>
          <a:xfrm>
            <a:off x="329184" y="2313432"/>
            <a:ext cx="257860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7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Technical handbooks and public industrial documentation</a:t>
            </a:r>
            <a:endParaRPr lang="en-US" sz="970" dirty="0"/>
          </a:p>
        </p:txBody>
      </p:sp>
      <p:sp>
        <p:nvSpPr>
          <p:cNvPr id="12" name="Shape 10"/>
          <p:cNvSpPr/>
          <p:nvPr/>
        </p:nvSpPr>
        <p:spPr>
          <a:xfrm>
            <a:off x="329184" y="2780600"/>
            <a:ext cx="2578608" cy="0"/>
          </a:xfrm>
          <a:prstGeom prst="line">
            <a:avLst/>
          </a:prstGeom>
          <a:noFill/>
          <a:ln w="8890">
            <a:solidFill>
              <a:srgbClr val="16667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9184" y="2916936"/>
            <a:ext cx="2578608" cy="37803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C4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HISTORICAL TROUBLESHOOTING KNOWLEDGE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329184" y="3294970"/>
            <a:ext cx="2578608" cy="242035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7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Machine-failure case studies</a:t>
            </a:r>
            <a:endParaRPr lang="en-US" sz="970" dirty="0"/>
          </a:p>
        </p:txBody>
      </p:sp>
      <p:sp>
        <p:nvSpPr>
          <p:cNvPr id="15" name="Text 13"/>
          <p:cNvSpPr txBox="1"/>
          <p:nvPr/>
        </p:nvSpPr>
        <p:spPr>
          <a:xfrm>
            <a:off x="329184" y="3563030"/>
            <a:ext cx="2578608" cy="167017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7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Open maintenance / failure datasets</a:t>
            </a:r>
            <a:endParaRPr lang="en-US" sz="970" dirty="0"/>
          </a:p>
        </p:txBody>
      </p:sp>
      <p:sp>
        <p:nvSpPr>
          <p:cNvPr id="16" name="Text 14"/>
          <p:cNvSpPr txBox="1"/>
          <p:nvPr/>
        </p:nvSpPr>
        <p:spPr>
          <a:xfrm>
            <a:off x="329184" y="3766625"/>
            <a:ext cx="2578608" cy="25673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7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Root-cause analysis reports</a:t>
            </a:r>
            <a:endParaRPr lang="en-US" sz="970" dirty="0"/>
          </a:p>
        </p:txBody>
      </p:sp>
      <p:sp>
        <p:nvSpPr>
          <p:cNvPr id="17" name="Text 15"/>
          <p:cNvSpPr txBox="1"/>
          <p:nvPr/>
        </p:nvSpPr>
        <p:spPr>
          <a:xfrm>
            <a:off x="329184" y="4049384"/>
            <a:ext cx="2578608" cy="184287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7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Public engineering incident reports</a:t>
            </a:r>
            <a:endParaRPr lang="en-US" sz="970" dirty="0"/>
          </a:p>
        </p:txBody>
      </p:sp>
      <p:sp>
        <p:nvSpPr>
          <p:cNvPr id="18" name="Text 16"/>
          <p:cNvSpPr txBox="1"/>
          <p:nvPr/>
        </p:nvSpPr>
        <p:spPr>
          <a:xfrm>
            <a:off x="329184" y="4270248"/>
            <a:ext cx="2578608" cy="17584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7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Research-based troubleshooting cases</a:t>
            </a:r>
            <a:endParaRPr lang="en-US" sz="970" dirty="0"/>
          </a:p>
        </p:txBody>
      </p:sp>
      <p:sp>
        <p:nvSpPr>
          <p:cNvPr id="19" name="Shape 17"/>
          <p:cNvSpPr/>
          <p:nvPr/>
        </p:nvSpPr>
        <p:spPr>
          <a:xfrm>
            <a:off x="329184" y="4574850"/>
            <a:ext cx="2578608" cy="0"/>
          </a:xfrm>
          <a:prstGeom prst="line">
            <a:avLst/>
          </a:prstGeom>
          <a:noFill/>
          <a:ln w="8890">
            <a:solidFill>
              <a:srgbClr val="16667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29184" y="4542022"/>
            <a:ext cx="2578608" cy="62011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C4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STORAGE AND MANAGEMENT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29184" y="5330952"/>
            <a:ext cx="2578608" cy="3734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3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Raw documents → version-controlled repository / object storage</a:t>
            </a:r>
            <a:endParaRPr lang="en-US" sz="930" dirty="0"/>
          </a:p>
        </p:txBody>
      </p:sp>
      <p:sp>
        <p:nvSpPr>
          <p:cNvPr id="22" name="Text 20"/>
          <p:cNvSpPr txBox="1"/>
          <p:nvPr/>
        </p:nvSpPr>
        <p:spPr>
          <a:xfrm>
            <a:off x="329184" y="5704448"/>
            <a:ext cx="2578608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3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Structured cases → PostgreSQL</a:t>
            </a:r>
            <a:endParaRPr lang="en-US" sz="930" dirty="0"/>
          </a:p>
        </p:txBody>
      </p:sp>
      <p:sp>
        <p:nvSpPr>
          <p:cNvPr id="23" name="Text 21"/>
          <p:cNvSpPr txBox="1"/>
          <p:nvPr/>
        </p:nvSpPr>
        <p:spPr>
          <a:xfrm>
            <a:off x="329184" y="5914760"/>
            <a:ext cx="2578608" cy="22086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3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Embeddings → ChromaDB / FAISS</a:t>
            </a:r>
            <a:endParaRPr lang="en-US" sz="930" dirty="0"/>
          </a:p>
        </p:txBody>
      </p:sp>
      <p:sp>
        <p:nvSpPr>
          <p:cNvPr id="24" name="Text 22"/>
          <p:cNvSpPr txBox="1"/>
          <p:nvPr/>
        </p:nvSpPr>
        <p:spPr>
          <a:xfrm>
            <a:off x="329184" y="5061204"/>
            <a:ext cx="2578608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182112" y="722376"/>
            <a:ext cx="2798064" cy="5660136"/>
          </a:xfrm>
          <a:prstGeom prst="roundRect">
            <a:avLst>
              <a:gd name="adj" fmla="val 1307"/>
            </a:avLst>
          </a:prstGeom>
          <a:solidFill>
            <a:srgbClr val="07111D">
              <a:alpha val="93000"/>
            </a:srgbClr>
          </a:solidFill>
          <a:ln w="13970">
            <a:solidFill>
              <a:srgbClr val="17748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328416" y="832104"/>
            <a:ext cx="25054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C4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TECHNOLOGY STACK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3328416" y="1143000"/>
            <a:ext cx="2505456" cy="0"/>
          </a:xfrm>
          <a:prstGeom prst="line">
            <a:avLst/>
          </a:prstGeom>
          <a:noFill/>
          <a:ln w="13970">
            <a:solidFill>
              <a:srgbClr val="16667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55264" y="1252728"/>
            <a:ext cx="2651760" cy="347472"/>
          </a:xfrm>
          <a:prstGeom prst="rect">
            <a:avLst/>
          </a:prstGeom>
          <a:solidFill>
            <a:srgbClr val="081522"/>
          </a:solidFill>
          <a:ln w="10160">
            <a:solidFill>
              <a:srgbClr val="17748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310128" y="1280160"/>
            <a:ext cx="987552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C4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LAYER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4370832" y="1280160"/>
            <a:ext cx="1499616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C4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TECHNOLOGY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255264" y="1600200"/>
            <a:ext cx="2651760" cy="358023"/>
          </a:xfrm>
          <a:prstGeom prst="rect">
            <a:avLst/>
          </a:prstGeom>
          <a:solidFill>
            <a:srgbClr val="07111D">
              <a:alpha val="95000"/>
            </a:srgbClr>
          </a:solidFill>
          <a:ln w="6350">
            <a:solidFill>
              <a:srgbClr val="16667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15968" y="1600200"/>
            <a:ext cx="0" cy="358023"/>
          </a:xfrm>
          <a:prstGeom prst="line">
            <a:avLst/>
          </a:prstGeom>
          <a:noFill/>
          <a:ln w="6350">
            <a:solidFill>
              <a:srgbClr val="16667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300984" y="1618488"/>
            <a:ext cx="987552" cy="321447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4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Programming</a:t>
            </a:r>
            <a:endParaRPr lang="en-US" sz="940" dirty="0"/>
          </a:p>
        </p:txBody>
      </p:sp>
      <p:sp>
        <p:nvSpPr>
          <p:cNvPr id="35" name="Text 33"/>
          <p:cNvSpPr txBox="1"/>
          <p:nvPr/>
        </p:nvSpPr>
        <p:spPr>
          <a:xfrm>
            <a:off x="4361688" y="1618488"/>
            <a:ext cx="1517904" cy="321447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4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Python / </a:t>
            </a:r>
            <a:r>
              <a:rPr lang="en-US" sz="940" dirty="0" err="1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VScode</a:t>
            </a:r>
            <a:endParaRPr lang="en-US" sz="940" dirty="0"/>
          </a:p>
        </p:txBody>
      </p:sp>
      <p:sp>
        <p:nvSpPr>
          <p:cNvPr id="36" name="Shape 34"/>
          <p:cNvSpPr/>
          <p:nvPr/>
        </p:nvSpPr>
        <p:spPr>
          <a:xfrm>
            <a:off x="3255264" y="1958223"/>
            <a:ext cx="2651760" cy="358023"/>
          </a:xfrm>
          <a:prstGeom prst="rect">
            <a:avLst/>
          </a:prstGeom>
          <a:solidFill>
            <a:srgbClr val="0A1825">
              <a:alpha val="95000"/>
            </a:srgbClr>
          </a:solidFill>
          <a:ln w="6350">
            <a:solidFill>
              <a:srgbClr val="16667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315968" y="1958223"/>
            <a:ext cx="0" cy="358023"/>
          </a:xfrm>
          <a:prstGeom prst="line">
            <a:avLst/>
          </a:prstGeom>
          <a:noFill/>
          <a:ln w="6350">
            <a:solidFill>
              <a:srgbClr val="16667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300984" y="1976511"/>
            <a:ext cx="987552" cy="321447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4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Processing</a:t>
            </a:r>
            <a:endParaRPr lang="en-US" sz="940" dirty="0"/>
          </a:p>
        </p:txBody>
      </p:sp>
      <p:sp>
        <p:nvSpPr>
          <p:cNvPr id="39" name="Text 37"/>
          <p:cNvSpPr txBox="1"/>
          <p:nvPr/>
        </p:nvSpPr>
        <p:spPr>
          <a:xfrm>
            <a:off x="4361688" y="1976511"/>
            <a:ext cx="1517904" cy="321447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4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Pandas, NumPy</a:t>
            </a:r>
            <a:endParaRPr lang="en-US" sz="940" dirty="0"/>
          </a:p>
        </p:txBody>
      </p:sp>
      <p:sp>
        <p:nvSpPr>
          <p:cNvPr id="40" name="Shape 38"/>
          <p:cNvSpPr/>
          <p:nvPr/>
        </p:nvSpPr>
        <p:spPr>
          <a:xfrm>
            <a:off x="3255264" y="2316246"/>
            <a:ext cx="2651760" cy="358023"/>
          </a:xfrm>
          <a:prstGeom prst="rect">
            <a:avLst/>
          </a:prstGeom>
          <a:solidFill>
            <a:srgbClr val="07111D">
              <a:alpha val="95000"/>
            </a:srgbClr>
          </a:solidFill>
          <a:ln w="6350">
            <a:solidFill>
              <a:srgbClr val="16667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315968" y="2316246"/>
            <a:ext cx="0" cy="358023"/>
          </a:xfrm>
          <a:prstGeom prst="line">
            <a:avLst/>
          </a:prstGeom>
          <a:noFill/>
          <a:ln w="6350">
            <a:solidFill>
              <a:srgbClr val="16667B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300984" y="2334534"/>
            <a:ext cx="987552" cy="321447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4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NLP / Embeddings</a:t>
            </a:r>
            <a:endParaRPr lang="en-US" sz="940" dirty="0"/>
          </a:p>
        </p:txBody>
      </p:sp>
      <p:sp>
        <p:nvSpPr>
          <p:cNvPr id="43" name="Text 41"/>
          <p:cNvSpPr txBox="1"/>
          <p:nvPr/>
        </p:nvSpPr>
        <p:spPr>
          <a:xfrm>
            <a:off x="4361688" y="2334534"/>
            <a:ext cx="1517904" cy="321447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4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Transformers, Sentence Transformers</a:t>
            </a:r>
            <a:endParaRPr lang="en-US" sz="940" dirty="0"/>
          </a:p>
        </p:txBody>
      </p:sp>
      <p:sp>
        <p:nvSpPr>
          <p:cNvPr id="44" name="Shape 42"/>
          <p:cNvSpPr/>
          <p:nvPr/>
        </p:nvSpPr>
        <p:spPr>
          <a:xfrm>
            <a:off x="3255264" y="2674268"/>
            <a:ext cx="2651760" cy="358023"/>
          </a:xfrm>
          <a:prstGeom prst="rect">
            <a:avLst/>
          </a:prstGeom>
          <a:solidFill>
            <a:srgbClr val="0A1825">
              <a:alpha val="95000"/>
            </a:srgbClr>
          </a:solidFill>
          <a:ln w="6350">
            <a:solidFill>
              <a:srgbClr val="16667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315968" y="2674268"/>
            <a:ext cx="0" cy="358023"/>
          </a:xfrm>
          <a:prstGeom prst="line">
            <a:avLst/>
          </a:prstGeom>
          <a:noFill/>
          <a:ln w="6350">
            <a:solidFill>
              <a:srgbClr val="16667B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3300984" y="2692556"/>
            <a:ext cx="987552" cy="321447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4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Retrieval</a:t>
            </a:r>
            <a:endParaRPr lang="en-US" sz="940" dirty="0"/>
          </a:p>
        </p:txBody>
      </p:sp>
      <p:sp>
        <p:nvSpPr>
          <p:cNvPr id="47" name="Text 45"/>
          <p:cNvSpPr txBox="1"/>
          <p:nvPr/>
        </p:nvSpPr>
        <p:spPr>
          <a:xfrm>
            <a:off x="4361688" y="2692556"/>
            <a:ext cx="1517904" cy="321447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4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Multi-RAG, Semantic Search</a:t>
            </a:r>
            <a:endParaRPr lang="en-US" sz="940" dirty="0"/>
          </a:p>
        </p:txBody>
      </p:sp>
      <p:sp>
        <p:nvSpPr>
          <p:cNvPr id="48" name="Shape 46"/>
          <p:cNvSpPr/>
          <p:nvPr/>
        </p:nvSpPr>
        <p:spPr>
          <a:xfrm>
            <a:off x="3255264" y="3032291"/>
            <a:ext cx="2651760" cy="358023"/>
          </a:xfrm>
          <a:prstGeom prst="rect">
            <a:avLst/>
          </a:prstGeom>
          <a:solidFill>
            <a:srgbClr val="07111D">
              <a:alpha val="95000"/>
            </a:srgbClr>
          </a:solidFill>
          <a:ln w="6350">
            <a:solidFill>
              <a:srgbClr val="16667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315968" y="3032291"/>
            <a:ext cx="0" cy="358023"/>
          </a:xfrm>
          <a:prstGeom prst="line">
            <a:avLst/>
          </a:prstGeom>
          <a:noFill/>
          <a:ln w="6350">
            <a:solidFill>
              <a:srgbClr val="16667B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3300984" y="3050579"/>
            <a:ext cx="987552" cy="321447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4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Vector Store</a:t>
            </a:r>
            <a:endParaRPr lang="en-US" sz="940" dirty="0"/>
          </a:p>
        </p:txBody>
      </p:sp>
      <p:sp>
        <p:nvSpPr>
          <p:cNvPr id="51" name="Text 49"/>
          <p:cNvSpPr txBox="1"/>
          <p:nvPr/>
        </p:nvSpPr>
        <p:spPr>
          <a:xfrm>
            <a:off x="4361688" y="3050579"/>
            <a:ext cx="1517904" cy="321447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4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ChromaDB / FAISS</a:t>
            </a:r>
            <a:endParaRPr lang="en-US" sz="940" dirty="0"/>
          </a:p>
        </p:txBody>
      </p:sp>
      <p:sp>
        <p:nvSpPr>
          <p:cNvPr id="52" name="Shape 50"/>
          <p:cNvSpPr/>
          <p:nvPr/>
        </p:nvSpPr>
        <p:spPr>
          <a:xfrm>
            <a:off x="3255264" y="3390314"/>
            <a:ext cx="2651760" cy="358023"/>
          </a:xfrm>
          <a:prstGeom prst="rect">
            <a:avLst/>
          </a:prstGeom>
          <a:solidFill>
            <a:srgbClr val="0A1825">
              <a:alpha val="95000"/>
            </a:srgbClr>
          </a:solidFill>
          <a:ln w="6350">
            <a:solidFill>
              <a:srgbClr val="16667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315968" y="3390314"/>
            <a:ext cx="0" cy="358023"/>
          </a:xfrm>
          <a:prstGeom prst="line">
            <a:avLst/>
          </a:prstGeom>
          <a:noFill/>
          <a:ln w="6350">
            <a:solidFill>
              <a:srgbClr val="16667B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3300984" y="3408602"/>
            <a:ext cx="987552" cy="321447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4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LLM</a:t>
            </a:r>
            <a:endParaRPr lang="en-US" sz="940" dirty="0"/>
          </a:p>
        </p:txBody>
      </p:sp>
      <p:sp>
        <p:nvSpPr>
          <p:cNvPr id="55" name="Text 53"/>
          <p:cNvSpPr txBox="1"/>
          <p:nvPr/>
        </p:nvSpPr>
        <p:spPr>
          <a:xfrm>
            <a:off x="4361688" y="3408602"/>
            <a:ext cx="1517904" cy="321447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4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Open-source LLM through Ollama</a:t>
            </a:r>
            <a:endParaRPr lang="en-US" sz="940" dirty="0"/>
          </a:p>
        </p:txBody>
      </p:sp>
      <p:sp>
        <p:nvSpPr>
          <p:cNvPr id="56" name="Shape 54"/>
          <p:cNvSpPr/>
          <p:nvPr/>
        </p:nvSpPr>
        <p:spPr>
          <a:xfrm>
            <a:off x="3255264" y="3748337"/>
            <a:ext cx="2651760" cy="358023"/>
          </a:xfrm>
          <a:prstGeom prst="rect">
            <a:avLst/>
          </a:prstGeom>
          <a:solidFill>
            <a:srgbClr val="07111D">
              <a:alpha val="95000"/>
            </a:srgbClr>
          </a:solidFill>
          <a:ln w="6350">
            <a:solidFill>
              <a:srgbClr val="16667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315968" y="3748337"/>
            <a:ext cx="0" cy="358023"/>
          </a:xfrm>
          <a:prstGeom prst="line">
            <a:avLst/>
          </a:prstGeom>
          <a:noFill/>
          <a:ln w="6350">
            <a:solidFill>
              <a:srgbClr val="16667B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3300984" y="3766625"/>
            <a:ext cx="987552" cy="321447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4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Structured DB</a:t>
            </a:r>
            <a:endParaRPr lang="en-US" sz="940" dirty="0"/>
          </a:p>
        </p:txBody>
      </p:sp>
      <p:sp>
        <p:nvSpPr>
          <p:cNvPr id="59" name="Text 57"/>
          <p:cNvSpPr txBox="1"/>
          <p:nvPr/>
        </p:nvSpPr>
        <p:spPr>
          <a:xfrm>
            <a:off x="4361688" y="3766625"/>
            <a:ext cx="1517904" cy="321447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4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PostgreSQL</a:t>
            </a:r>
            <a:endParaRPr lang="en-US" sz="940" dirty="0"/>
          </a:p>
        </p:txBody>
      </p:sp>
      <p:sp>
        <p:nvSpPr>
          <p:cNvPr id="60" name="Shape 58"/>
          <p:cNvSpPr/>
          <p:nvPr/>
        </p:nvSpPr>
        <p:spPr>
          <a:xfrm>
            <a:off x="3255264" y="4106359"/>
            <a:ext cx="2651760" cy="358023"/>
          </a:xfrm>
          <a:prstGeom prst="rect">
            <a:avLst/>
          </a:prstGeom>
          <a:solidFill>
            <a:srgbClr val="0A1825">
              <a:alpha val="95000"/>
            </a:srgbClr>
          </a:solidFill>
          <a:ln w="6350">
            <a:solidFill>
              <a:srgbClr val="16667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315968" y="4106359"/>
            <a:ext cx="0" cy="358023"/>
          </a:xfrm>
          <a:prstGeom prst="line">
            <a:avLst/>
          </a:prstGeom>
          <a:noFill/>
          <a:ln w="6350">
            <a:solidFill>
              <a:srgbClr val="16667B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3300984" y="4124647"/>
            <a:ext cx="987552" cy="321447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4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Backend</a:t>
            </a:r>
            <a:endParaRPr lang="en-US" sz="940" dirty="0"/>
          </a:p>
        </p:txBody>
      </p:sp>
      <p:sp>
        <p:nvSpPr>
          <p:cNvPr id="63" name="Text 61"/>
          <p:cNvSpPr txBox="1"/>
          <p:nvPr/>
        </p:nvSpPr>
        <p:spPr>
          <a:xfrm>
            <a:off x="4361688" y="4124647"/>
            <a:ext cx="1517904" cy="321447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4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FastAPI</a:t>
            </a:r>
            <a:endParaRPr lang="en-US" sz="940" dirty="0"/>
          </a:p>
        </p:txBody>
      </p:sp>
      <p:sp>
        <p:nvSpPr>
          <p:cNvPr id="64" name="Shape 62"/>
          <p:cNvSpPr/>
          <p:nvPr/>
        </p:nvSpPr>
        <p:spPr>
          <a:xfrm>
            <a:off x="3255264" y="4464382"/>
            <a:ext cx="2651760" cy="358023"/>
          </a:xfrm>
          <a:prstGeom prst="rect">
            <a:avLst/>
          </a:prstGeom>
          <a:solidFill>
            <a:srgbClr val="07111D">
              <a:alpha val="95000"/>
            </a:srgbClr>
          </a:solidFill>
          <a:ln w="6350">
            <a:solidFill>
              <a:srgbClr val="16667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315968" y="4464382"/>
            <a:ext cx="0" cy="358023"/>
          </a:xfrm>
          <a:prstGeom prst="line">
            <a:avLst/>
          </a:prstGeom>
          <a:noFill/>
          <a:ln w="6350">
            <a:solidFill>
              <a:srgbClr val="16667B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3300984" y="4482670"/>
            <a:ext cx="987552" cy="321447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4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Frontend</a:t>
            </a:r>
            <a:endParaRPr lang="en-US" sz="940" dirty="0"/>
          </a:p>
        </p:txBody>
      </p:sp>
      <p:sp>
        <p:nvSpPr>
          <p:cNvPr id="67" name="Text 65"/>
          <p:cNvSpPr txBox="1"/>
          <p:nvPr/>
        </p:nvSpPr>
        <p:spPr>
          <a:xfrm>
            <a:off x="4361688" y="4482670"/>
            <a:ext cx="1517904" cy="321447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4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Streamlit</a:t>
            </a:r>
            <a:endParaRPr lang="en-US" sz="940" dirty="0"/>
          </a:p>
        </p:txBody>
      </p:sp>
      <p:sp>
        <p:nvSpPr>
          <p:cNvPr id="68" name="Shape 66"/>
          <p:cNvSpPr/>
          <p:nvPr/>
        </p:nvSpPr>
        <p:spPr>
          <a:xfrm>
            <a:off x="3255264" y="4822405"/>
            <a:ext cx="2651760" cy="358023"/>
          </a:xfrm>
          <a:prstGeom prst="rect">
            <a:avLst/>
          </a:prstGeom>
          <a:solidFill>
            <a:srgbClr val="0A1825">
              <a:alpha val="95000"/>
            </a:srgbClr>
          </a:solidFill>
          <a:ln w="6350">
            <a:solidFill>
              <a:srgbClr val="16667B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315968" y="4822405"/>
            <a:ext cx="0" cy="358023"/>
          </a:xfrm>
          <a:prstGeom prst="line">
            <a:avLst/>
          </a:prstGeom>
          <a:noFill/>
          <a:ln w="6350">
            <a:solidFill>
              <a:srgbClr val="16667B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3300984" y="4840693"/>
            <a:ext cx="987552" cy="321447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4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Testing</a:t>
            </a:r>
            <a:endParaRPr lang="en-US" sz="940" dirty="0"/>
          </a:p>
        </p:txBody>
      </p:sp>
      <p:sp>
        <p:nvSpPr>
          <p:cNvPr id="71" name="Text 69"/>
          <p:cNvSpPr txBox="1"/>
          <p:nvPr/>
        </p:nvSpPr>
        <p:spPr>
          <a:xfrm>
            <a:off x="4361688" y="4840693"/>
            <a:ext cx="1517904" cy="321447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4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PyTest, Retrieval Evaluation</a:t>
            </a:r>
            <a:endParaRPr lang="en-US" sz="940" dirty="0"/>
          </a:p>
        </p:txBody>
      </p:sp>
      <p:sp>
        <p:nvSpPr>
          <p:cNvPr id="72" name="Shape 70"/>
          <p:cNvSpPr/>
          <p:nvPr/>
        </p:nvSpPr>
        <p:spPr>
          <a:xfrm>
            <a:off x="3255264" y="5180428"/>
            <a:ext cx="2651760" cy="358023"/>
          </a:xfrm>
          <a:prstGeom prst="rect">
            <a:avLst/>
          </a:prstGeom>
          <a:solidFill>
            <a:srgbClr val="07111D">
              <a:alpha val="95000"/>
            </a:srgbClr>
          </a:solidFill>
          <a:ln w="6350">
            <a:solidFill>
              <a:srgbClr val="16667B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315968" y="5180428"/>
            <a:ext cx="0" cy="358023"/>
          </a:xfrm>
          <a:prstGeom prst="line">
            <a:avLst/>
          </a:prstGeom>
          <a:noFill/>
          <a:ln w="6350">
            <a:solidFill>
              <a:srgbClr val="16667B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3300984" y="5198716"/>
            <a:ext cx="987552" cy="321447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4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Containerization</a:t>
            </a:r>
            <a:endParaRPr lang="en-US" sz="940" dirty="0"/>
          </a:p>
        </p:txBody>
      </p:sp>
      <p:sp>
        <p:nvSpPr>
          <p:cNvPr id="75" name="Text 73"/>
          <p:cNvSpPr txBox="1"/>
          <p:nvPr/>
        </p:nvSpPr>
        <p:spPr>
          <a:xfrm>
            <a:off x="4361688" y="5198716"/>
            <a:ext cx="1517904" cy="321447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4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Docker</a:t>
            </a:r>
            <a:endParaRPr lang="en-US" sz="940" dirty="0"/>
          </a:p>
        </p:txBody>
      </p:sp>
      <p:sp>
        <p:nvSpPr>
          <p:cNvPr id="76" name="Shape 74"/>
          <p:cNvSpPr/>
          <p:nvPr/>
        </p:nvSpPr>
        <p:spPr>
          <a:xfrm>
            <a:off x="3255264" y="5538450"/>
            <a:ext cx="2651760" cy="358023"/>
          </a:xfrm>
          <a:prstGeom prst="rect">
            <a:avLst/>
          </a:prstGeom>
          <a:solidFill>
            <a:srgbClr val="0A1825">
              <a:alpha val="95000"/>
            </a:srgbClr>
          </a:solidFill>
          <a:ln w="6350">
            <a:solidFill>
              <a:srgbClr val="16667B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315968" y="5538450"/>
            <a:ext cx="0" cy="358023"/>
          </a:xfrm>
          <a:prstGeom prst="line">
            <a:avLst/>
          </a:prstGeom>
          <a:noFill/>
          <a:ln w="6350">
            <a:solidFill>
              <a:srgbClr val="16667B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3300984" y="5556738"/>
            <a:ext cx="987552" cy="321447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4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Version Control / CICD</a:t>
            </a:r>
            <a:endParaRPr lang="en-US" sz="940" dirty="0"/>
          </a:p>
        </p:txBody>
      </p:sp>
      <p:sp>
        <p:nvSpPr>
          <p:cNvPr id="79" name="Text 77"/>
          <p:cNvSpPr txBox="1"/>
          <p:nvPr/>
        </p:nvSpPr>
        <p:spPr>
          <a:xfrm>
            <a:off x="4361688" y="5556738"/>
            <a:ext cx="1517904" cy="321447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4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Git, GitHub, GitHub Actions</a:t>
            </a:r>
            <a:endParaRPr lang="en-US" sz="940" dirty="0"/>
          </a:p>
        </p:txBody>
      </p:sp>
      <p:sp>
        <p:nvSpPr>
          <p:cNvPr id="80" name="Shape 78"/>
          <p:cNvSpPr/>
          <p:nvPr/>
        </p:nvSpPr>
        <p:spPr>
          <a:xfrm>
            <a:off x="3255264" y="5896473"/>
            <a:ext cx="2651760" cy="358023"/>
          </a:xfrm>
          <a:prstGeom prst="rect">
            <a:avLst/>
          </a:prstGeom>
          <a:solidFill>
            <a:srgbClr val="07111D">
              <a:alpha val="95000"/>
            </a:srgbClr>
          </a:solidFill>
          <a:ln w="6350">
            <a:solidFill>
              <a:srgbClr val="16667B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315968" y="5896473"/>
            <a:ext cx="0" cy="358023"/>
          </a:xfrm>
          <a:prstGeom prst="line">
            <a:avLst/>
          </a:prstGeom>
          <a:noFill/>
          <a:ln w="6350">
            <a:solidFill>
              <a:srgbClr val="16667B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3300984" y="5914761"/>
            <a:ext cx="987552" cy="321447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4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Monitoring</a:t>
            </a:r>
            <a:endParaRPr lang="en-US" sz="940" dirty="0"/>
          </a:p>
        </p:txBody>
      </p:sp>
      <p:sp>
        <p:nvSpPr>
          <p:cNvPr id="83" name="Text 81"/>
          <p:cNvSpPr txBox="1"/>
          <p:nvPr/>
        </p:nvSpPr>
        <p:spPr>
          <a:xfrm>
            <a:off x="4361688" y="5914761"/>
            <a:ext cx="1517904" cy="321447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4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Application Logging, Retrieval/Response Monitoring</a:t>
            </a:r>
            <a:endParaRPr lang="en-US" sz="940" dirty="0"/>
          </a:p>
        </p:txBody>
      </p:sp>
      <p:sp>
        <p:nvSpPr>
          <p:cNvPr id="84" name="Shape 82"/>
          <p:cNvSpPr/>
          <p:nvPr/>
        </p:nvSpPr>
        <p:spPr>
          <a:xfrm>
            <a:off x="6089904" y="722376"/>
            <a:ext cx="2889504" cy="5660136"/>
          </a:xfrm>
          <a:prstGeom prst="roundRect">
            <a:avLst>
              <a:gd name="adj" fmla="val 1266"/>
            </a:avLst>
          </a:prstGeom>
          <a:solidFill>
            <a:srgbClr val="07111D">
              <a:alpha val="93000"/>
            </a:srgbClr>
          </a:solidFill>
          <a:ln w="13970">
            <a:solidFill>
              <a:srgbClr val="17748A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6236208" y="832104"/>
            <a:ext cx="259689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C4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OUTCOME OF THE PROJECT</a:t>
            </a:r>
            <a:endParaRPr lang="en-US" sz="1500" dirty="0"/>
          </a:p>
        </p:txBody>
      </p:sp>
      <p:sp>
        <p:nvSpPr>
          <p:cNvPr id="86" name="Shape 84"/>
          <p:cNvSpPr/>
          <p:nvPr/>
        </p:nvSpPr>
        <p:spPr>
          <a:xfrm>
            <a:off x="6236208" y="1143000"/>
            <a:ext cx="2596896" cy="0"/>
          </a:xfrm>
          <a:prstGeom prst="line">
            <a:avLst/>
          </a:prstGeom>
          <a:noFill/>
          <a:ln w="13970">
            <a:solidFill>
              <a:srgbClr val="16667B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163056" y="1252728"/>
            <a:ext cx="2743200" cy="329184"/>
          </a:xfrm>
          <a:prstGeom prst="rect">
            <a:avLst/>
          </a:prstGeom>
          <a:solidFill>
            <a:srgbClr val="081522"/>
          </a:solidFill>
          <a:ln w="10160">
            <a:solidFill>
              <a:srgbClr val="17748A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6208776" y="1271016"/>
            <a:ext cx="996696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C4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</a:t>
            </a:r>
            <a:endParaRPr lang="en-US" sz="1000" dirty="0"/>
          </a:p>
        </p:txBody>
      </p:sp>
      <p:sp>
        <p:nvSpPr>
          <p:cNvPr id="89" name="Text 87"/>
          <p:cNvSpPr txBox="1"/>
          <p:nvPr/>
        </p:nvSpPr>
        <p:spPr>
          <a:xfrm>
            <a:off x="7278624" y="1271016"/>
            <a:ext cx="160020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C4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INDUSTRIAL VALUE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6163056" y="1581912"/>
            <a:ext cx="2743200" cy="667512"/>
          </a:xfrm>
          <a:prstGeom prst="rect">
            <a:avLst/>
          </a:prstGeom>
          <a:solidFill>
            <a:srgbClr val="07111D">
              <a:alpha val="95000"/>
            </a:srgbClr>
          </a:solidFill>
          <a:ln w="6350">
            <a:solidFill>
              <a:srgbClr val="16667B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232904" y="1581912"/>
            <a:ext cx="0" cy="667512"/>
          </a:xfrm>
          <a:prstGeom prst="line">
            <a:avLst/>
          </a:prstGeom>
          <a:noFill/>
          <a:ln w="6350">
            <a:solidFill>
              <a:srgbClr val="16667B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6208776" y="1600200"/>
            <a:ext cx="996696" cy="6309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21BC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Interpretation</a:t>
            </a:r>
            <a:endParaRPr lang="en-US" sz="920" dirty="0"/>
          </a:p>
        </p:txBody>
      </p:sp>
      <p:sp>
        <p:nvSpPr>
          <p:cNvPr id="93" name="Text 91"/>
          <p:cNvSpPr txBox="1"/>
          <p:nvPr/>
        </p:nvSpPr>
        <p:spPr>
          <a:xfrm>
            <a:off x="7278624" y="1600200"/>
            <a:ext cx="1600200" cy="6309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1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Understands the reported machine symptom or fault.</a:t>
            </a:r>
            <a:endParaRPr lang="en-US" sz="910" dirty="0"/>
          </a:p>
        </p:txBody>
      </p:sp>
      <p:sp>
        <p:nvSpPr>
          <p:cNvPr id="94" name="Shape 92"/>
          <p:cNvSpPr/>
          <p:nvPr/>
        </p:nvSpPr>
        <p:spPr>
          <a:xfrm>
            <a:off x="6163056" y="2249424"/>
            <a:ext cx="2743200" cy="667512"/>
          </a:xfrm>
          <a:prstGeom prst="rect">
            <a:avLst/>
          </a:prstGeom>
          <a:solidFill>
            <a:srgbClr val="0A1825">
              <a:alpha val="95000"/>
            </a:srgbClr>
          </a:solidFill>
          <a:ln w="6350">
            <a:solidFill>
              <a:srgbClr val="16667B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232904" y="2249424"/>
            <a:ext cx="0" cy="667512"/>
          </a:xfrm>
          <a:prstGeom prst="line">
            <a:avLst/>
          </a:prstGeom>
          <a:noFill/>
          <a:ln w="6350">
            <a:solidFill>
              <a:srgbClr val="16667B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6208776" y="2267712"/>
            <a:ext cx="996696" cy="6309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21BC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Probable Causes</a:t>
            </a:r>
            <a:endParaRPr lang="en-US" sz="920" dirty="0"/>
          </a:p>
        </p:txBody>
      </p:sp>
      <p:sp>
        <p:nvSpPr>
          <p:cNvPr id="97" name="Text 95"/>
          <p:cNvSpPr txBox="1"/>
          <p:nvPr/>
        </p:nvSpPr>
        <p:spPr>
          <a:xfrm>
            <a:off x="7278624" y="2267712"/>
            <a:ext cx="1600200" cy="6309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1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Retrieves evidence-backed possible causes from trusted industrial knowledge.</a:t>
            </a:r>
            <a:endParaRPr lang="en-US" sz="910" dirty="0"/>
          </a:p>
        </p:txBody>
      </p:sp>
      <p:sp>
        <p:nvSpPr>
          <p:cNvPr id="98" name="Shape 96"/>
          <p:cNvSpPr/>
          <p:nvPr/>
        </p:nvSpPr>
        <p:spPr>
          <a:xfrm>
            <a:off x="6163056" y="2916936"/>
            <a:ext cx="2743200" cy="667512"/>
          </a:xfrm>
          <a:prstGeom prst="rect">
            <a:avLst/>
          </a:prstGeom>
          <a:solidFill>
            <a:srgbClr val="07111D">
              <a:alpha val="95000"/>
            </a:srgbClr>
          </a:solidFill>
          <a:ln w="6350">
            <a:solidFill>
              <a:srgbClr val="16667B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232904" y="2916936"/>
            <a:ext cx="0" cy="667512"/>
          </a:xfrm>
          <a:prstGeom prst="line">
            <a:avLst/>
          </a:prstGeom>
          <a:noFill/>
          <a:ln w="6350">
            <a:solidFill>
              <a:srgbClr val="16667B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6208776" y="2935224"/>
            <a:ext cx="996696" cy="6309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21BC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Investigation Sequence</a:t>
            </a:r>
            <a:endParaRPr lang="en-US" sz="920" dirty="0"/>
          </a:p>
        </p:txBody>
      </p:sp>
      <p:sp>
        <p:nvSpPr>
          <p:cNvPr id="101" name="Text 99"/>
          <p:cNvSpPr txBox="1"/>
          <p:nvPr/>
        </p:nvSpPr>
        <p:spPr>
          <a:xfrm>
            <a:off x="7278624" y="2935224"/>
            <a:ext cx="1600200" cy="6309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1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Recommends what to inspect first and what should follow.</a:t>
            </a:r>
            <a:endParaRPr lang="en-US" sz="910" dirty="0"/>
          </a:p>
        </p:txBody>
      </p:sp>
      <p:sp>
        <p:nvSpPr>
          <p:cNvPr id="102" name="Shape 100"/>
          <p:cNvSpPr/>
          <p:nvPr/>
        </p:nvSpPr>
        <p:spPr>
          <a:xfrm>
            <a:off x="6163056" y="3584448"/>
            <a:ext cx="2743200" cy="667512"/>
          </a:xfrm>
          <a:prstGeom prst="rect">
            <a:avLst/>
          </a:prstGeom>
          <a:solidFill>
            <a:srgbClr val="0A1825">
              <a:alpha val="95000"/>
            </a:srgbClr>
          </a:solidFill>
          <a:ln w="6350">
            <a:solidFill>
              <a:srgbClr val="16667B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7232904" y="3584448"/>
            <a:ext cx="0" cy="667512"/>
          </a:xfrm>
          <a:prstGeom prst="line">
            <a:avLst/>
          </a:prstGeom>
          <a:noFill/>
          <a:ln w="6350">
            <a:solidFill>
              <a:srgbClr val="16667B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6208776" y="3602736"/>
            <a:ext cx="996696" cy="6309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21BC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Evidence Required</a:t>
            </a:r>
            <a:endParaRPr lang="en-US" sz="920" dirty="0"/>
          </a:p>
        </p:txBody>
      </p:sp>
      <p:sp>
        <p:nvSpPr>
          <p:cNvPr id="105" name="Text 103"/>
          <p:cNvSpPr txBox="1"/>
          <p:nvPr/>
        </p:nvSpPr>
        <p:spPr>
          <a:xfrm>
            <a:off x="7278624" y="3602736"/>
            <a:ext cx="1600200" cy="6309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1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Identifies measurements, readings, visual checks, or observations before diagnosis.</a:t>
            </a:r>
            <a:endParaRPr lang="en-US" sz="910" dirty="0"/>
          </a:p>
        </p:txBody>
      </p:sp>
      <p:sp>
        <p:nvSpPr>
          <p:cNvPr id="106" name="Shape 104"/>
          <p:cNvSpPr/>
          <p:nvPr/>
        </p:nvSpPr>
        <p:spPr>
          <a:xfrm>
            <a:off x="6163056" y="4251960"/>
            <a:ext cx="2743200" cy="667512"/>
          </a:xfrm>
          <a:prstGeom prst="rect">
            <a:avLst/>
          </a:prstGeom>
          <a:solidFill>
            <a:srgbClr val="07111D">
              <a:alpha val="95000"/>
            </a:srgbClr>
          </a:solidFill>
          <a:ln w="6350">
            <a:solidFill>
              <a:srgbClr val="16667B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7232904" y="4251960"/>
            <a:ext cx="0" cy="667512"/>
          </a:xfrm>
          <a:prstGeom prst="line">
            <a:avLst/>
          </a:prstGeom>
          <a:noFill/>
          <a:ln w="6350">
            <a:solidFill>
              <a:srgbClr val="16667B"/>
            </a:solidFill>
            <a:prstDash val="solid"/>
          </a:ln>
        </p:spPr>
      </p:sp>
      <p:sp>
        <p:nvSpPr>
          <p:cNvPr id="108" name="Text 106"/>
          <p:cNvSpPr txBox="1"/>
          <p:nvPr/>
        </p:nvSpPr>
        <p:spPr>
          <a:xfrm>
            <a:off x="6208776" y="4270248"/>
            <a:ext cx="996696" cy="6309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21BC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Similar Historical Cases</a:t>
            </a:r>
            <a:endParaRPr lang="en-US" sz="920" dirty="0"/>
          </a:p>
        </p:txBody>
      </p:sp>
      <p:sp>
        <p:nvSpPr>
          <p:cNvPr id="109" name="Text 107"/>
          <p:cNvSpPr txBox="1"/>
          <p:nvPr/>
        </p:nvSpPr>
        <p:spPr>
          <a:xfrm>
            <a:off x="7278624" y="4270248"/>
            <a:ext cx="1600200" cy="6309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1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Shows previous incidents with comparable symptoms and outcomes.</a:t>
            </a:r>
            <a:endParaRPr lang="en-US" sz="910" dirty="0"/>
          </a:p>
        </p:txBody>
      </p:sp>
      <p:sp>
        <p:nvSpPr>
          <p:cNvPr id="110" name="Shape 108"/>
          <p:cNvSpPr/>
          <p:nvPr/>
        </p:nvSpPr>
        <p:spPr>
          <a:xfrm>
            <a:off x="6163056" y="4919472"/>
            <a:ext cx="2743200" cy="667512"/>
          </a:xfrm>
          <a:prstGeom prst="rect">
            <a:avLst/>
          </a:prstGeom>
          <a:solidFill>
            <a:srgbClr val="0A1825">
              <a:alpha val="95000"/>
            </a:srgbClr>
          </a:solidFill>
          <a:ln w="6350">
            <a:solidFill>
              <a:srgbClr val="16667B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232904" y="4919472"/>
            <a:ext cx="0" cy="667512"/>
          </a:xfrm>
          <a:prstGeom prst="line">
            <a:avLst/>
          </a:prstGeom>
          <a:noFill/>
          <a:ln w="6350">
            <a:solidFill>
              <a:srgbClr val="16667B"/>
            </a:solidFill>
            <a:prstDash val="solid"/>
          </a:ln>
        </p:spPr>
      </p:sp>
      <p:sp>
        <p:nvSpPr>
          <p:cNvPr id="112" name="Text 110"/>
          <p:cNvSpPr txBox="1"/>
          <p:nvPr/>
        </p:nvSpPr>
        <p:spPr>
          <a:xfrm>
            <a:off x="6208776" y="4937760"/>
            <a:ext cx="996696" cy="6309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21BC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Corrective-Action References</a:t>
            </a:r>
            <a:endParaRPr lang="en-US" sz="920" dirty="0"/>
          </a:p>
        </p:txBody>
      </p:sp>
      <p:sp>
        <p:nvSpPr>
          <p:cNvPr id="113" name="Text 111"/>
          <p:cNvSpPr txBox="1"/>
          <p:nvPr/>
        </p:nvSpPr>
        <p:spPr>
          <a:xfrm>
            <a:off x="7278624" y="4937760"/>
            <a:ext cx="1600200" cy="6309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1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Surfaces how comparable validated cases were resolved.</a:t>
            </a:r>
            <a:endParaRPr lang="en-US" sz="910" dirty="0"/>
          </a:p>
        </p:txBody>
      </p:sp>
      <p:sp>
        <p:nvSpPr>
          <p:cNvPr id="114" name="Shape 112"/>
          <p:cNvSpPr/>
          <p:nvPr/>
        </p:nvSpPr>
        <p:spPr>
          <a:xfrm>
            <a:off x="6163056" y="5586984"/>
            <a:ext cx="2743200" cy="667512"/>
          </a:xfrm>
          <a:prstGeom prst="rect">
            <a:avLst/>
          </a:prstGeom>
          <a:solidFill>
            <a:srgbClr val="07111D">
              <a:alpha val="95000"/>
            </a:srgbClr>
          </a:solidFill>
          <a:ln w="6350">
            <a:solidFill>
              <a:srgbClr val="16667B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7232904" y="5586984"/>
            <a:ext cx="0" cy="667512"/>
          </a:xfrm>
          <a:prstGeom prst="line">
            <a:avLst/>
          </a:prstGeom>
          <a:noFill/>
          <a:ln w="6350">
            <a:solidFill>
              <a:srgbClr val="16667B"/>
            </a:solidFill>
            <a:prstDash val="solid"/>
          </a:ln>
        </p:spPr>
      </p:sp>
      <p:sp>
        <p:nvSpPr>
          <p:cNvPr id="116" name="Text 114"/>
          <p:cNvSpPr txBox="1"/>
          <p:nvPr/>
        </p:nvSpPr>
        <p:spPr>
          <a:xfrm>
            <a:off x="6208776" y="5605272"/>
            <a:ext cx="996696" cy="6309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21BC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Source Traceability</a:t>
            </a:r>
            <a:endParaRPr lang="en-US" sz="920" dirty="0"/>
          </a:p>
        </p:txBody>
      </p:sp>
      <p:sp>
        <p:nvSpPr>
          <p:cNvPr id="117" name="Text 115"/>
          <p:cNvSpPr txBox="1"/>
          <p:nvPr/>
        </p:nvSpPr>
        <p:spPr>
          <a:xfrm>
            <a:off x="7278624" y="5605272"/>
            <a:ext cx="1600200" cy="6309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1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Shows the origin of retrieved knowledge for verification and auditability.</a:t>
            </a:r>
            <a:endParaRPr lang="en-US" sz="910" dirty="0"/>
          </a:p>
        </p:txBody>
      </p:sp>
      <p:sp>
        <p:nvSpPr>
          <p:cNvPr id="11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87968" y="6565392"/>
            <a:ext cx="146304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07386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9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56032" y="274320"/>
            <a:ext cx="818343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700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F5F7FA"/>
                </a:solidFill>
                <a:latin typeface="Times New Roman" pitchFamily="34" charset="0"/>
                <a:cs typeface="Times New Roman" pitchFamily="34" charset="-120"/>
              </a:rPr>
              <a:t>2 . Construction Operation Planning and Resource Allocation Using Agentic AI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256032" y="758952"/>
            <a:ext cx="8577072" cy="0"/>
          </a:xfrm>
          <a:prstGeom prst="line">
            <a:avLst/>
          </a:prstGeom>
          <a:noFill/>
          <a:ln w="12700">
            <a:solidFill>
              <a:srgbClr val="1666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" y="932688"/>
            <a:ext cx="4160520" cy="4078224"/>
          </a:xfrm>
          <a:prstGeom prst="roundRect">
            <a:avLst>
              <a:gd name="adj" fmla="val 897"/>
            </a:avLst>
          </a:prstGeom>
          <a:solidFill>
            <a:srgbClr val="07111D">
              <a:alpha val="93000"/>
            </a:srgbClr>
          </a:solidFill>
          <a:ln w="13970">
            <a:solidFill>
              <a:srgbClr val="1774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38912" y="1042416"/>
            <a:ext cx="3867912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C4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8912" y="1353312"/>
            <a:ext cx="3867912" cy="0"/>
          </a:xfrm>
          <a:prstGeom prst="line">
            <a:avLst/>
          </a:prstGeom>
          <a:noFill/>
          <a:ln w="13970">
            <a:solidFill>
              <a:srgbClr val="1666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89888"/>
            <a:ext cx="3749040" cy="33649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127000" indent="-127000">
              <a:buSzPct val="100000"/>
              <a:buChar char="•"/>
            </a:pPr>
            <a:r>
              <a:rPr lang="en-US" sz="150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Planning coordinates activities, workforce, engineers, contractors, equipment, materials, schedules, deadlines, and site constraints.</a:t>
            </a:r>
            <a:endParaRPr lang="en-US" sz="1500" dirty="0"/>
          </a:p>
          <a:p>
            <a:pPr marL="127000" indent="-127000">
              <a:buSzPct val="100000"/>
              <a:buChar char="•"/>
            </a:pPr>
            <a:r>
              <a:rPr lang="en-US" sz="150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Interdependent resources mean one material or resource delay can affect several downstream activities.</a:t>
            </a:r>
            <a:endParaRPr lang="en-US" sz="1500" dirty="0"/>
          </a:p>
          <a:p>
            <a:pPr marL="127000" indent="-127000">
              <a:buSzPct val="100000"/>
              <a:buChar char="•"/>
            </a:pPr>
            <a:r>
              <a:rPr lang="en-US" sz="150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Managers and planning engineers must manually evaluate dependencies, availability limits, and scheduling conflicts.</a:t>
            </a:r>
            <a:endParaRPr lang="en-US" sz="1500" dirty="0"/>
          </a:p>
          <a:p>
            <a:pPr marL="127000" indent="-127000">
              <a:buSzPct val="100000"/>
              <a:buChar char="•"/>
            </a:pPr>
            <a:r>
              <a:rPr lang="en-US" sz="150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Manual planning can cause over-allocation, worker/equipment conflicts, idle resources, material issues, and schedule clashes.</a:t>
            </a:r>
            <a:endParaRPr lang="en-US" sz="1500" dirty="0"/>
          </a:p>
          <a:p>
            <a:pPr marL="127000" indent="-127000">
              <a:buSzPct val="100000"/>
              <a:buChar char="•"/>
            </a:pPr>
            <a:r>
              <a:rPr lang="en-US" sz="150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Comparing feasible alternatives and understanding operational impact before execution is difficult.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645152" y="932688"/>
            <a:ext cx="4206240" cy="4078224"/>
          </a:xfrm>
          <a:prstGeom prst="roundRect">
            <a:avLst>
              <a:gd name="adj" fmla="val 897"/>
            </a:avLst>
          </a:prstGeom>
          <a:solidFill>
            <a:srgbClr val="07111D">
              <a:alpha val="93000"/>
            </a:srgbClr>
          </a:solidFill>
          <a:ln w="13970">
            <a:solidFill>
              <a:srgbClr val="17748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91456" y="1042416"/>
            <a:ext cx="3913632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C4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OBJECTIVE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791456" y="1353312"/>
            <a:ext cx="3913632" cy="0"/>
          </a:xfrm>
          <a:prstGeom prst="line">
            <a:avLst/>
          </a:prstGeom>
          <a:noFill/>
          <a:ln w="13970">
            <a:solidFill>
              <a:srgbClr val="1666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55464" y="1389888"/>
            <a:ext cx="3758184" cy="33649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50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 a human-supervised Agentic AI system for coordinated activity planning and resource allocation.</a:t>
            </a:r>
            <a:endParaRPr lang="en-US" sz="1500" dirty="0"/>
          </a:p>
          <a:p>
            <a:pPr marL="127000" indent="-127000">
              <a:buSzPct val="100000"/>
              <a:buChar char="•"/>
            </a:pPr>
            <a:r>
              <a:rPr lang="en-US" sz="150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 Planning, Scheduling, Resource, and Constraint/Risk Agents to analyze different planning dimensions.</a:t>
            </a:r>
            <a:endParaRPr lang="en-US" sz="1500" dirty="0"/>
          </a:p>
          <a:p>
            <a:pPr marL="127000" indent="-127000">
              <a:buSzPct val="100000"/>
              <a:buChar char="•"/>
            </a:pPr>
            <a:r>
              <a:rPr lang="en-US" sz="150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 a Coordinator Agent to combine outputs and resolve conflicting recommendations.</a:t>
            </a:r>
            <a:endParaRPr lang="en-US" sz="1500" dirty="0"/>
          </a:p>
          <a:p>
            <a:pPr marL="127000" indent="-127000">
              <a:buSzPct val="100000"/>
              <a:buChar char="•"/>
            </a:pPr>
            <a:r>
              <a:rPr lang="en-US" sz="150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 Google OR-Tools constraint optimization to validate resources, dependencies, availability, and schedule feasibility.</a:t>
            </a:r>
            <a:endParaRPr lang="en-US" sz="1500" dirty="0"/>
          </a:p>
          <a:p>
            <a:pPr marL="127000" indent="-127000">
              <a:buSzPct val="100000"/>
              <a:buChar char="•"/>
            </a:pPr>
            <a:r>
              <a:rPr lang="en-US" sz="150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Generate alternative plans and provide explainable recommendations for project-manager review and final approval.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511296" y="5212080"/>
            <a:ext cx="228600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77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0C4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ARCHITECTURE AND WORKFLOW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56032" y="5513832"/>
            <a:ext cx="1225296" cy="768096"/>
          </a:xfrm>
          <a:prstGeom prst="roundRect">
            <a:avLst>
              <a:gd name="adj" fmla="val 3571"/>
            </a:avLst>
          </a:prstGeom>
          <a:solidFill>
            <a:srgbClr val="0A1825"/>
          </a:solidFill>
          <a:ln w="12700">
            <a:solidFill>
              <a:srgbClr val="17748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92608" y="5568696"/>
            <a:ext cx="1152144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F5F7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</a:t>
            </a:r>
            <a:endParaRPr lang="en-US" sz="98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F5F7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REQUIREMENTS</a:t>
            </a:r>
            <a:endParaRPr lang="en-US" sz="980" dirty="0"/>
          </a:p>
        </p:txBody>
      </p:sp>
      <p:sp>
        <p:nvSpPr>
          <p:cNvPr id="15" name="Text 13"/>
          <p:cNvSpPr txBox="1"/>
          <p:nvPr/>
        </p:nvSpPr>
        <p:spPr>
          <a:xfrm>
            <a:off x="1499616" y="5715000"/>
            <a:ext cx="164592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C4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682496" y="5513832"/>
            <a:ext cx="1682496" cy="768096"/>
          </a:xfrm>
          <a:prstGeom prst="roundRect">
            <a:avLst>
              <a:gd name="adj" fmla="val 3571"/>
            </a:avLst>
          </a:prstGeom>
          <a:solidFill>
            <a:srgbClr val="0A1825"/>
          </a:solidFill>
          <a:ln w="12700">
            <a:solidFill>
              <a:srgbClr val="17748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719072" y="5568696"/>
            <a:ext cx="1609344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F5F7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PLANNING AGENT</a:t>
            </a:r>
            <a:endParaRPr lang="en-US" sz="92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F5F7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SCHEDULING AGENT</a:t>
            </a:r>
            <a:endParaRPr lang="en-US" sz="92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F5F7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RESOURCE AGENT</a:t>
            </a:r>
            <a:endParaRPr lang="en-US" sz="92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F5F7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CONSTRAINT / RISK AGENT</a:t>
            </a:r>
            <a:endParaRPr lang="en-US" sz="920" dirty="0"/>
          </a:p>
        </p:txBody>
      </p:sp>
      <p:sp>
        <p:nvSpPr>
          <p:cNvPr id="18" name="Text 16"/>
          <p:cNvSpPr txBox="1"/>
          <p:nvPr/>
        </p:nvSpPr>
        <p:spPr>
          <a:xfrm>
            <a:off x="3383280" y="5715000"/>
            <a:ext cx="173736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C4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575304" y="5513832"/>
            <a:ext cx="1225296" cy="768096"/>
          </a:xfrm>
          <a:prstGeom prst="roundRect">
            <a:avLst>
              <a:gd name="adj" fmla="val 3571"/>
            </a:avLst>
          </a:prstGeom>
          <a:solidFill>
            <a:srgbClr val="0A1825"/>
          </a:solidFill>
          <a:ln w="12700">
            <a:solidFill>
              <a:srgbClr val="17748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611880" y="5568696"/>
            <a:ext cx="1152144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F5F7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COORDINATOR</a:t>
            </a:r>
            <a:endParaRPr lang="en-US" sz="98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F5F7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AGENT</a:t>
            </a:r>
            <a:endParaRPr lang="en-US" sz="980" dirty="0"/>
          </a:p>
        </p:txBody>
      </p:sp>
      <p:sp>
        <p:nvSpPr>
          <p:cNvPr id="21" name="Text 19"/>
          <p:cNvSpPr txBox="1"/>
          <p:nvPr/>
        </p:nvSpPr>
        <p:spPr>
          <a:xfrm>
            <a:off x="4818888" y="5715000"/>
            <a:ext cx="173736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C4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010912" y="5513832"/>
            <a:ext cx="1188720" cy="768096"/>
          </a:xfrm>
          <a:prstGeom prst="roundRect">
            <a:avLst>
              <a:gd name="adj" fmla="val 3571"/>
            </a:avLst>
          </a:prstGeom>
          <a:solidFill>
            <a:srgbClr val="0A1825"/>
          </a:solidFill>
          <a:ln w="12700">
            <a:solidFill>
              <a:srgbClr val="17748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047488" y="5568696"/>
            <a:ext cx="1115568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F5F7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OR-TOOLS</a:t>
            </a:r>
            <a:endParaRPr lang="en-US" sz="98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F5F7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VALIDATION</a:t>
            </a:r>
            <a:endParaRPr lang="en-US" sz="980" dirty="0"/>
          </a:p>
        </p:txBody>
      </p:sp>
      <p:sp>
        <p:nvSpPr>
          <p:cNvPr id="24" name="Text 22"/>
          <p:cNvSpPr txBox="1"/>
          <p:nvPr/>
        </p:nvSpPr>
        <p:spPr>
          <a:xfrm>
            <a:off x="6217920" y="5715000"/>
            <a:ext cx="173736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C4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409944" y="5513832"/>
            <a:ext cx="1353312" cy="768096"/>
          </a:xfrm>
          <a:prstGeom prst="roundRect">
            <a:avLst>
              <a:gd name="adj" fmla="val 3571"/>
            </a:avLst>
          </a:prstGeom>
          <a:solidFill>
            <a:srgbClr val="0A1825"/>
          </a:solidFill>
          <a:ln w="12700">
            <a:solidFill>
              <a:srgbClr val="17748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46520" y="5568696"/>
            <a:ext cx="128016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F5F7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EXPLAINABLE</a:t>
            </a:r>
            <a:endParaRPr lang="en-US" sz="92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F5F7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RECOMMENDATION</a:t>
            </a:r>
            <a:endParaRPr lang="en-US" sz="920" dirty="0"/>
          </a:p>
        </p:txBody>
      </p:sp>
      <p:sp>
        <p:nvSpPr>
          <p:cNvPr id="27" name="Text 25"/>
          <p:cNvSpPr txBox="1"/>
          <p:nvPr/>
        </p:nvSpPr>
        <p:spPr>
          <a:xfrm>
            <a:off x="7781544" y="5715000"/>
            <a:ext cx="173736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C4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7973568" y="5513832"/>
            <a:ext cx="960120" cy="768096"/>
          </a:xfrm>
          <a:prstGeom prst="roundRect">
            <a:avLst>
              <a:gd name="adj" fmla="val 3571"/>
            </a:avLst>
          </a:prstGeom>
          <a:solidFill>
            <a:srgbClr val="0A1825"/>
          </a:solidFill>
          <a:ln w="12700">
            <a:solidFill>
              <a:srgbClr val="17748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010144" y="5568696"/>
            <a:ext cx="886968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F5F7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MANAGER</a:t>
            </a:r>
            <a:endParaRPr lang="en-US" sz="92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F5F7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APPROVAL</a:t>
            </a:r>
            <a:endParaRPr lang="en-US" sz="92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87968" y="6565392"/>
            <a:ext cx="146304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07386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27B6617-335D-704A-BAA0-D69FF04AE72E}"/>
              </a:ext>
            </a:extLst>
          </p:cNvPr>
          <p:cNvSpPr txBox="1"/>
          <p:nvPr/>
        </p:nvSpPr>
        <p:spPr>
          <a:xfrm>
            <a:off x="7763256" y="654320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9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37744" y="65732"/>
            <a:ext cx="2377440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5F7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2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46304" y="722376"/>
            <a:ext cx="3054096" cy="5660136"/>
          </a:xfrm>
          <a:prstGeom prst="roundRect">
            <a:avLst>
              <a:gd name="adj" fmla="val 1198"/>
            </a:avLst>
          </a:prstGeom>
          <a:solidFill>
            <a:srgbClr val="07111D">
              <a:alpha val="93000"/>
            </a:srgbClr>
          </a:solidFill>
          <a:ln w="13970">
            <a:solidFill>
              <a:srgbClr val="1774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92608" y="832104"/>
            <a:ext cx="2761488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77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C4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 AND DATA COLLECTION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92608" y="1143000"/>
            <a:ext cx="2761488" cy="0"/>
          </a:xfrm>
          <a:prstGeom prst="line">
            <a:avLst/>
          </a:prstGeom>
          <a:noFill/>
          <a:ln w="13970">
            <a:solidFill>
              <a:srgbClr val="16667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01752" y="1289304"/>
            <a:ext cx="274320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C4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PLANNING DATA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301752" y="1517904"/>
            <a:ext cx="274320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3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WBS, activity ID/description, duration, start/end constraints, predecessors/successors, milestones, project deadline</a:t>
            </a:r>
            <a:endParaRPr lang="en-US" sz="930" dirty="0"/>
          </a:p>
        </p:txBody>
      </p:sp>
      <p:sp>
        <p:nvSpPr>
          <p:cNvPr id="8" name="Text 6"/>
          <p:cNvSpPr txBox="1"/>
          <p:nvPr/>
        </p:nvSpPr>
        <p:spPr>
          <a:xfrm>
            <a:off x="301752" y="1952244"/>
            <a:ext cx="274320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C4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WORKFORCE DATA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301752" y="2180844"/>
            <a:ext cx="274320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3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Worker/engineer category, required skills, resource count, availability calendar, shift duration, productivity/capacity</a:t>
            </a:r>
            <a:endParaRPr lang="en-US" sz="930" dirty="0"/>
          </a:p>
        </p:txBody>
      </p:sp>
      <p:sp>
        <p:nvSpPr>
          <p:cNvPr id="10" name="Text 8"/>
          <p:cNvSpPr txBox="1"/>
          <p:nvPr/>
        </p:nvSpPr>
        <p:spPr>
          <a:xfrm>
            <a:off x="301752" y="2615184"/>
            <a:ext cx="274320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C4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EQUIPMENT DATA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301752" y="2843784"/>
            <a:ext cx="274320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3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Category, capacity, availability, utilization, activity requirement</a:t>
            </a:r>
            <a:endParaRPr lang="en-US" sz="930" dirty="0"/>
          </a:p>
        </p:txBody>
      </p:sp>
      <p:sp>
        <p:nvSpPr>
          <p:cNvPr id="12" name="Text 10"/>
          <p:cNvSpPr txBox="1"/>
          <p:nvPr/>
        </p:nvSpPr>
        <p:spPr>
          <a:xfrm>
            <a:off x="301752" y="3204972"/>
            <a:ext cx="274320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C4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 DATA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01752" y="3433572"/>
            <a:ext cx="274320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3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Type, required quantity, available inventory, expected delivery date, lead time</a:t>
            </a:r>
            <a:endParaRPr lang="en-US" sz="930" dirty="0"/>
          </a:p>
        </p:txBody>
      </p:sp>
      <p:sp>
        <p:nvSpPr>
          <p:cNvPr id="14" name="Text 12"/>
          <p:cNvSpPr txBox="1"/>
          <p:nvPr/>
        </p:nvSpPr>
        <p:spPr>
          <a:xfrm>
            <a:off x="301752" y="3794760"/>
            <a:ext cx="274320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C4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CONSTRAINT DATA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301752" y="4023360"/>
            <a:ext cx="274320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3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dependencies, resource/site limits, budget limits, material/equipment availability, working-calendar constraints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457200" y="5485486"/>
            <a:ext cx="2743200" cy="0"/>
          </a:xfrm>
          <a:prstGeom prst="line">
            <a:avLst/>
          </a:prstGeom>
          <a:noFill/>
          <a:ln w="8890">
            <a:solidFill>
              <a:srgbClr val="16667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7" name="Text 15"/>
          <p:cNvSpPr txBox="1"/>
          <p:nvPr/>
        </p:nvSpPr>
        <p:spPr>
          <a:xfrm>
            <a:off x="291695" y="4334257"/>
            <a:ext cx="2743200" cy="237745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C4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COLLECTION APPROACH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291695" y="4572002"/>
            <a:ext cx="2743200" cy="365301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2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Primary: public scheduling/resource datasets, project case studies, open research datasets and public planning examples</a:t>
            </a:r>
            <a:endParaRPr lang="en-US" sz="820" dirty="0"/>
          </a:p>
        </p:txBody>
      </p:sp>
      <p:sp>
        <p:nvSpPr>
          <p:cNvPr id="19" name="Text 17"/>
          <p:cNvSpPr txBox="1"/>
          <p:nvPr/>
        </p:nvSpPr>
        <p:spPr>
          <a:xfrm>
            <a:off x="301752" y="4882899"/>
            <a:ext cx="2743200" cy="341069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2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Secondary: structured historical scenarios, resource-allocation examples and construction planning literature</a:t>
            </a:r>
            <a:endParaRPr lang="en-US" sz="820" dirty="0"/>
          </a:p>
        </p:txBody>
      </p:sp>
      <p:sp>
        <p:nvSpPr>
          <p:cNvPr id="20" name="Text 18"/>
          <p:cNvSpPr txBox="1"/>
          <p:nvPr/>
        </p:nvSpPr>
        <p:spPr>
          <a:xfrm>
            <a:off x="301752" y="5174590"/>
            <a:ext cx="2743200" cy="2715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2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Synthetic: equipment breakdown, material delay, worker shortage, resource conflict, activity delay and schedule change</a:t>
            </a:r>
            <a:endParaRPr lang="en-US" sz="820" dirty="0"/>
          </a:p>
        </p:txBody>
      </p:sp>
      <p:sp>
        <p:nvSpPr>
          <p:cNvPr id="21" name="Text 19"/>
          <p:cNvSpPr txBox="1"/>
          <p:nvPr/>
        </p:nvSpPr>
        <p:spPr>
          <a:xfrm>
            <a:off x="301752" y="5546750"/>
            <a:ext cx="2743200" cy="149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C4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STORAGE AND AUDIT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301752" y="5714086"/>
            <a:ext cx="2743200" cy="2148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25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Structured project/resource data → PostgreSQL</a:t>
            </a:r>
            <a:endParaRPr lang="en-US" sz="825" dirty="0"/>
          </a:p>
        </p:txBody>
      </p:sp>
      <p:sp>
        <p:nvSpPr>
          <p:cNvPr id="23" name="Text 21"/>
          <p:cNvSpPr txBox="1"/>
          <p:nvPr/>
        </p:nvSpPr>
        <p:spPr>
          <a:xfrm>
            <a:off x="301752" y="5936285"/>
            <a:ext cx="2743200" cy="2148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25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Historical documents → repository + vector database</a:t>
            </a:r>
            <a:endParaRPr lang="en-US" sz="825" dirty="0"/>
          </a:p>
        </p:txBody>
      </p:sp>
      <p:sp>
        <p:nvSpPr>
          <p:cNvPr id="24" name="Text 22"/>
          <p:cNvSpPr txBox="1"/>
          <p:nvPr/>
        </p:nvSpPr>
        <p:spPr>
          <a:xfrm>
            <a:off x="301752" y="6158484"/>
            <a:ext cx="2743200" cy="2148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25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Agent decisions/logs → audit DB (decision, agent, reason and constraints)</a:t>
            </a:r>
            <a:endParaRPr lang="en-US" sz="825" dirty="0"/>
          </a:p>
        </p:txBody>
      </p:sp>
      <p:sp>
        <p:nvSpPr>
          <p:cNvPr id="25" name="Shape 23"/>
          <p:cNvSpPr/>
          <p:nvPr/>
        </p:nvSpPr>
        <p:spPr>
          <a:xfrm>
            <a:off x="3310128" y="722376"/>
            <a:ext cx="2761488" cy="5660136"/>
          </a:xfrm>
          <a:prstGeom prst="roundRect">
            <a:avLst>
              <a:gd name="adj" fmla="val 1325"/>
            </a:avLst>
          </a:prstGeom>
          <a:solidFill>
            <a:srgbClr val="07111D">
              <a:alpha val="93000"/>
            </a:srgbClr>
          </a:solidFill>
          <a:ln w="13970">
            <a:solidFill>
              <a:srgbClr val="17748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456432" y="832104"/>
            <a:ext cx="246888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C4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TECHNOLOGY STACK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3456432" y="1143000"/>
            <a:ext cx="2468880" cy="0"/>
          </a:xfrm>
          <a:prstGeom prst="line">
            <a:avLst/>
          </a:prstGeom>
          <a:noFill/>
          <a:ln w="13970">
            <a:solidFill>
              <a:srgbClr val="16667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83280" y="1252728"/>
            <a:ext cx="2615184" cy="347472"/>
          </a:xfrm>
          <a:prstGeom prst="rect">
            <a:avLst/>
          </a:prstGeom>
          <a:solidFill>
            <a:srgbClr val="081522"/>
          </a:solidFill>
          <a:ln w="10160">
            <a:solidFill>
              <a:srgbClr val="17748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438144" y="1280160"/>
            <a:ext cx="972922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C4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LAYER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4484218" y="1280160"/>
            <a:ext cx="147767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C4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TECHNOLOGY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383280" y="1600200"/>
            <a:ext cx="2615184" cy="332450"/>
          </a:xfrm>
          <a:prstGeom prst="rect">
            <a:avLst/>
          </a:prstGeom>
          <a:solidFill>
            <a:srgbClr val="07111D">
              <a:alpha val="95000"/>
            </a:srgbClr>
          </a:solidFill>
          <a:ln w="6350">
            <a:solidFill>
              <a:srgbClr val="16667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429354" y="1600200"/>
            <a:ext cx="0" cy="332450"/>
          </a:xfrm>
          <a:prstGeom prst="line">
            <a:avLst/>
          </a:prstGeom>
          <a:noFill/>
          <a:ln w="6350">
            <a:solidFill>
              <a:srgbClr val="16667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429000" y="1618488"/>
            <a:ext cx="972922" cy="29587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4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Programming</a:t>
            </a:r>
            <a:endParaRPr lang="en-US" sz="940" dirty="0"/>
          </a:p>
        </p:txBody>
      </p:sp>
      <p:sp>
        <p:nvSpPr>
          <p:cNvPr id="34" name="Text 32"/>
          <p:cNvSpPr txBox="1"/>
          <p:nvPr/>
        </p:nvSpPr>
        <p:spPr>
          <a:xfrm>
            <a:off x="4475074" y="1618488"/>
            <a:ext cx="1495958" cy="29587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4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Python</a:t>
            </a:r>
            <a:endParaRPr lang="en-US" sz="940" dirty="0"/>
          </a:p>
        </p:txBody>
      </p:sp>
      <p:sp>
        <p:nvSpPr>
          <p:cNvPr id="35" name="Shape 33"/>
          <p:cNvSpPr/>
          <p:nvPr/>
        </p:nvSpPr>
        <p:spPr>
          <a:xfrm>
            <a:off x="3383280" y="1932650"/>
            <a:ext cx="2615184" cy="332450"/>
          </a:xfrm>
          <a:prstGeom prst="rect">
            <a:avLst/>
          </a:prstGeom>
          <a:solidFill>
            <a:srgbClr val="0A1825">
              <a:alpha val="95000"/>
            </a:srgbClr>
          </a:solidFill>
          <a:ln w="6350">
            <a:solidFill>
              <a:srgbClr val="16667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429354" y="1932650"/>
            <a:ext cx="0" cy="332450"/>
          </a:xfrm>
          <a:prstGeom prst="line">
            <a:avLst/>
          </a:prstGeom>
          <a:noFill/>
          <a:ln w="6350">
            <a:solidFill>
              <a:srgbClr val="16667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429000" y="1950938"/>
            <a:ext cx="972922" cy="29587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4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Processing</a:t>
            </a:r>
            <a:endParaRPr lang="en-US" sz="940" dirty="0"/>
          </a:p>
        </p:txBody>
      </p:sp>
      <p:sp>
        <p:nvSpPr>
          <p:cNvPr id="38" name="Text 36"/>
          <p:cNvSpPr txBox="1"/>
          <p:nvPr/>
        </p:nvSpPr>
        <p:spPr>
          <a:xfrm>
            <a:off x="4475074" y="1950938"/>
            <a:ext cx="1495958" cy="29587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4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Pandas, NumPy</a:t>
            </a:r>
            <a:endParaRPr lang="en-US" sz="940" dirty="0"/>
          </a:p>
        </p:txBody>
      </p:sp>
      <p:sp>
        <p:nvSpPr>
          <p:cNvPr id="39" name="Shape 37"/>
          <p:cNvSpPr/>
          <p:nvPr/>
        </p:nvSpPr>
        <p:spPr>
          <a:xfrm>
            <a:off x="3383280" y="2265099"/>
            <a:ext cx="2615184" cy="332450"/>
          </a:xfrm>
          <a:prstGeom prst="rect">
            <a:avLst/>
          </a:prstGeom>
          <a:solidFill>
            <a:srgbClr val="07111D">
              <a:alpha val="95000"/>
            </a:srgbClr>
          </a:solidFill>
          <a:ln w="6350">
            <a:solidFill>
              <a:srgbClr val="16667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429354" y="2265099"/>
            <a:ext cx="0" cy="332450"/>
          </a:xfrm>
          <a:prstGeom prst="line">
            <a:avLst/>
          </a:prstGeom>
          <a:noFill/>
          <a:ln w="6350">
            <a:solidFill>
              <a:srgbClr val="16667B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429000" y="2283387"/>
            <a:ext cx="972922" cy="29587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4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Agentic AI</a:t>
            </a:r>
            <a:endParaRPr lang="en-US" sz="940" dirty="0"/>
          </a:p>
        </p:txBody>
      </p:sp>
      <p:sp>
        <p:nvSpPr>
          <p:cNvPr id="42" name="Text 40"/>
          <p:cNvSpPr txBox="1"/>
          <p:nvPr/>
        </p:nvSpPr>
        <p:spPr>
          <a:xfrm>
            <a:off x="4475074" y="2283387"/>
            <a:ext cx="1495958" cy="29587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4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LangGraph / suitable multi-agent framework</a:t>
            </a:r>
            <a:endParaRPr lang="en-US" sz="940" dirty="0"/>
          </a:p>
        </p:txBody>
      </p:sp>
      <p:sp>
        <p:nvSpPr>
          <p:cNvPr id="43" name="Shape 41"/>
          <p:cNvSpPr/>
          <p:nvPr/>
        </p:nvSpPr>
        <p:spPr>
          <a:xfrm>
            <a:off x="3383280" y="2597549"/>
            <a:ext cx="2615184" cy="332450"/>
          </a:xfrm>
          <a:prstGeom prst="rect">
            <a:avLst/>
          </a:prstGeom>
          <a:solidFill>
            <a:srgbClr val="0A1825">
              <a:alpha val="95000"/>
            </a:srgbClr>
          </a:solidFill>
          <a:ln w="6350">
            <a:solidFill>
              <a:srgbClr val="16667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429354" y="2597549"/>
            <a:ext cx="0" cy="332450"/>
          </a:xfrm>
          <a:prstGeom prst="line">
            <a:avLst/>
          </a:prstGeom>
          <a:noFill/>
          <a:ln w="6350">
            <a:solidFill>
              <a:srgbClr val="16667B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3429000" y="2615837"/>
            <a:ext cx="972922" cy="29587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4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LLM</a:t>
            </a:r>
            <a:endParaRPr lang="en-US" sz="940" dirty="0"/>
          </a:p>
        </p:txBody>
      </p:sp>
      <p:sp>
        <p:nvSpPr>
          <p:cNvPr id="46" name="Text 44"/>
          <p:cNvSpPr txBox="1"/>
          <p:nvPr/>
        </p:nvSpPr>
        <p:spPr>
          <a:xfrm>
            <a:off x="4475074" y="2615837"/>
            <a:ext cx="1495958" cy="29587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4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Open-source LLM</a:t>
            </a:r>
            <a:endParaRPr lang="en-US" sz="940" dirty="0"/>
          </a:p>
        </p:txBody>
      </p:sp>
      <p:sp>
        <p:nvSpPr>
          <p:cNvPr id="47" name="Shape 45"/>
          <p:cNvSpPr/>
          <p:nvPr/>
        </p:nvSpPr>
        <p:spPr>
          <a:xfrm>
            <a:off x="3383280" y="2929999"/>
            <a:ext cx="2615184" cy="332450"/>
          </a:xfrm>
          <a:prstGeom prst="rect">
            <a:avLst/>
          </a:prstGeom>
          <a:solidFill>
            <a:srgbClr val="07111D">
              <a:alpha val="95000"/>
            </a:srgbClr>
          </a:solidFill>
          <a:ln w="6350">
            <a:solidFill>
              <a:srgbClr val="16667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429354" y="2929999"/>
            <a:ext cx="0" cy="332450"/>
          </a:xfrm>
          <a:prstGeom prst="line">
            <a:avLst/>
          </a:prstGeom>
          <a:noFill/>
          <a:ln w="6350">
            <a:solidFill>
              <a:srgbClr val="16667B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3429000" y="2948287"/>
            <a:ext cx="972922" cy="29587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4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Resource Optimization</a:t>
            </a:r>
            <a:endParaRPr lang="en-US" sz="940" dirty="0"/>
          </a:p>
        </p:txBody>
      </p:sp>
      <p:sp>
        <p:nvSpPr>
          <p:cNvPr id="50" name="Text 48"/>
          <p:cNvSpPr txBox="1"/>
          <p:nvPr/>
        </p:nvSpPr>
        <p:spPr>
          <a:xfrm>
            <a:off x="4475074" y="2948287"/>
            <a:ext cx="1495958" cy="29587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4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Google OR-Tools</a:t>
            </a:r>
            <a:endParaRPr lang="en-US" sz="940" dirty="0"/>
          </a:p>
        </p:txBody>
      </p:sp>
      <p:sp>
        <p:nvSpPr>
          <p:cNvPr id="51" name="Shape 49"/>
          <p:cNvSpPr/>
          <p:nvPr/>
        </p:nvSpPr>
        <p:spPr>
          <a:xfrm>
            <a:off x="3383280" y="3262449"/>
            <a:ext cx="2615184" cy="332450"/>
          </a:xfrm>
          <a:prstGeom prst="rect">
            <a:avLst/>
          </a:prstGeom>
          <a:solidFill>
            <a:srgbClr val="0A1825">
              <a:alpha val="95000"/>
            </a:srgbClr>
          </a:solidFill>
          <a:ln w="6350">
            <a:solidFill>
              <a:srgbClr val="16667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429354" y="3262449"/>
            <a:ext cx="0" cy="332450"/>
          </a:xfrm>
          <a:prstGeom prst="line">
            <a:avLst/>
          </a:prstGeom>
          <a:noFill/>
          <a:ln w="6350">
            <a:solidFill>
              <a:srgbClr val="16667B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3429000" y="3280737"/>
            <a:ext cx="972922" cy="29587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4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Knowledge Retrieval</a:t>
            </a:r>
            <a:endParaRPr lang="en-US" sz="940" dirty="0"/>
          </a:p>
        </p:txBody>
      </p:sp>
      <p:sp>
        <p:nvSpPr>
          <p:cNvPr id="54" name="Text 52"/>
          <p:cNvSpPr txBox="1"/>
          <p:nvPr/>
        </p:nvSpPr>
        <p:spPr>
          <a:xfrm>
            <a:off x="4475074" y="3280737"/>
            <a:ext cx="1495958" cy="29587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4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RAG</a:t>
            </a:r>
            <a:endParaRPr lang="en-US" sz="940" dirty="0"/>
          </a:p>
        </p:txBody>
      </p:sp>
      <p:sp>
        <p:nvSpPr>
          <p:cNvPr id="55" name="Shape 53"/>
          <p:cNvSpPr/>
          <p:nvPr/>
        </p:nvSpPr>
        <p:spPr>
          <a:xfrm>
            <a:off x="3383280" y="3594898"/>
            <a:ext cx="2615184" cy="332450"/>
          </a:xfrm>
          <a:prstGeom prst="rect">
            <a:avLst/>
          </a:prstGeom>
          <a:solidFill>
            <a:srgbClr val="07111D">
              <a:alpha val="95000"/>
            </a:srgbClr>
          </a:solidFill>
          <a:ln w="6350">
            <a:solidFill>
              <a:srgbClr val="16667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429354" y="3594898"/>
            <a:ext cx="0" cy="332450"/>
          </a:xfrm>
          <a:prstGeom prst="line">
            <a:avLst/>
          </a:prstGeom>
          <a:noFill/>
          <a:ln w="6350">
            <a:solidFill>
              <a:srgbClr val="16667B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3429000" y="3613186"/>
            <a:ext cx="972922" cy="29587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4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Vector Store</a:t>
            </a:r>
            <a:endParaRPr lang="en-US" sz="940" dirty="0"/>
          </a:p>
        </p:txBody>
      </p:sp>
      <p:sp>
        <p:nvSpPr>
          <p:cNvPr id="58" name="Text 56"/>
          <p:cNvSpPr txBox="1"/>
          <p:nvPr/>
        </p:nvSpPr>
        <p:spPr>
          <a:xfrm>
            <a:off x="4475074" y="3613186"/>
            <a:ext cx="1495958" cy="29587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4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ChromaDB</a:t>
            </a:r>
            <a:endParaRPr lang="en-US" sz="940" dirty="0"/>
          </a:p>
        </p:txBody>
      </p:sp>
      <p:sp>
        <p:nvSpPr>
          <p:cNvPr id="59" name="Shape 57"/>
          <p:cNvSpPr/>
          <p:nvPr/>
        </p:nvSpPr>
        <p:spPr>
          <a:xfrm>
            <a:off x="3383280" y="3927348"/>
            <a:ext cx="2615184" cy="332450"/>
          </a:xfrm>
          <a:prstGeom prst="rect">
            <a:avLst/>
          </a:prstGeom>
          <a:solidFill>
            <a:srgbClr val="0A1825">
              <a:alpha val="95000"/>
            </a:srgbClr>
          </a:solidFill>
          <a:ln w="6350">
            <a:solidFill>
              <a:srgbClr val="16667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429354" y="3927348"/>
            <a:ext cx="0" cy="332450"/>
          </a:xfrm>
          <a:prstGeom prst="line">
            <a:avLst/>
          </a:prstGeom>
          <a:noFill/>
          <a:ln w="6350">
            <a:solidFill>
              <a:srgbClr val="16667B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3429000" y="3945636"/>
            <a:ext cx="972922" cy="29587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4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Database</a:t>
            </a:r>
            <a:endParaRPr lang="en-US" sz="940" dirty="0"/>
          </a:p>
        </p:txBody>
      </p:sp>
      <p:sp>
        <p:nvSpPr>
          <p:cNvPr id="62" name="Text 60"/>
          <p:cNvSpPr txBox="1"/>
          <p:nvPr/>
        </p:nvSpPr>
        <p:spPr>
          <a:xfrm>
            <a:off x="4475074" y="3945636"/>
            <a:ext cx="1495958" cy="29587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4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PostgreSQL</a:t>
            </a:r>
            <a:endParaRPr lang="en-US" sz="940" dirty="0"/>
          </a:p>
        </p:txBody>
      </p:sp>
      <p:sp>
        <p:nvSpPr>
          <p:cNvPr id="63" name="Shape 61"/>
          <p:cNvSpPr/>
          <p:nvPr/>
        </p:nvSpPr>
        <p:spPr>
          <a:xfrm>
            <a:off x="3383280" y="4259798"/>
            <a:ext cx="2615184" cy="332450"/>
          </a:xfrm>
          <a:prstGeom prst="rect">
            <a:avLst/>
          </a:prstGeom>
          <a:solidFill>
            <a:srgbClr val="07111D">
              <a:alpha val="95000"/>
            </a:srgbClr>
          </a:solidFill>
          <a:ln w="6350">
            <a:solidFill>
              <a:srgbClr val="16667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429354" y="4259798"/>
            <a:ext cx="0" cy="332450"/>
          </a:xfrm>
          <a:prstGeom prst="line">
            <a:avLst/>
          </a:prstGeom>
          <a:noFill/>
          <a:ln w="6350">
            <a:solidFill>
              <a:srgbClr val="16667B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3429000" y="4278086"/>
            <a:ext cx="972922" cy="29587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4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Backend</a:t>
            </a:r>
            <a:endParaRPr lang="en-US" sz="940" dirty="0"/>
          </a:p>
        </p:txBody>
      </p:sp>
      <p:sp>
        <p:nvSpPr>
          <p:cNvPr id="66" name="Text 64"/>
          <p:cNvSpPr txBox="1"/>
          <p:nvPr/>
        </p:nvSpPr>
        <p:spPr>
          <a:xfrm>
            <a:off x="4475074" y="4278086"/>
            <a:ext cx="1495958" cy="29587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4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FastAPI</a:t>
            </a:r>
            <a:endParaRPr lang="en-US" sz="940" dirty="0"/>
          </a:p>
        </p:txBody>
      </p:sp>
      <p:sp>
        <p:nvSpPr>
          <p:cNvPr id="67" name="Shape 65"/>
          <p:cNvSpPr/>
          <p:nvPr/>
        </p:nvSpPr>
        <p:spPr>
          <a:xfrm>
            <a:off x="3383280" y="4592247"/>
            <a:ext cx="2615184" cy="332450"/>
          </a:xfrm>
          <a:prstGeom prst="rect">
            <a:avLst/>
          </a:prstGeom>
          <a:solidFill>
            <a:srgbClr val="0A1825">
              <a:alpha val="95000"/>
            </a:srgbClr>
          </a:solidFill>
          <a:ln w="6350">
            <a:solidFill>
              <a:srgbClr val="16667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429354" y="4592247"/>
            <a:ext cx="0" cy="332450"/>
          </a:xfrm>
          <a:prstGeom prst="line">
            <a:avLst/>
          </a:prstGeom>
          <a:noFill/>
          <a:ln w="6350">
            <a:solidFill>
              <a:srgbClr val="16667B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3429000" y="4610535"/>
            <a:ext cx="972922" cy="29587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4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Frontend</a:t>
            </a:r>
            <a:endParaRPr lang="en-US" sz="940" dirty="0"/>
          </a:p>
        </p:txBody>
      </p:sp>
      <p:sp>
        <p:nvSpPr>
          <p:cNvPr id="70" name="Text 68"/>
          <p:cNvSpPr txBox="1"/>
          <p:nvPr/>
        </p:nvSpPr>
        <p:spPr>
          <a:xfrm>
            <a:off x="4475074" y="4610535"/>
            <a:ext cx="1495958" cy="29587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4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Streamlit</a:t>
            </a:r>
            <a:endParaRPr lang="en-US" sz="940" dirty="0"/>
          </a:p>
        </p:txBody>
      </p:sp>
      <p:sp>
        <p:nvSpPr>
          <p:cNvPr id="71" name="Shape 69"/>
          <p:cNvSpPr/>
          <p:nvPr/>
        </p:nvSpPr>
        <p:spPr>
          <a:xfrm>
            <a:off x="3383280" y="4924697"/>
            <a:ext cx="2615184" cy="332450"/>
          </a:xfrm>
          <a:prstGeom prst="rect">
            <a:avLst/>
          </a:prstGeom>
          <a:solidFill>
            <a:srgbClr val="07111D">
              <a:alpha val="95000"/>
            </a:srgbClr>
          </a:solidFill>
          <a:ln w="6350">
            <a:solidFill>
              <a:srgbClr val="16667B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429354" y="4924697"/>
            <a:ext cx="0" cy="332450"/>
          </a:xfrm>
          <a:prstGeom prst="line">
            <a:avLst/>
          </a:prstGeom>
          <a:noFill/>
          <a:ln w="6350">
            <a:solidFill>
              <a:srgbClr val="16667B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3429000" y="4942985"/>
            <a:ext cx="972922" cy="29587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4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Testing</a:t>
            </a:r>
            <a:endParaRPr lang="en-US" sz="940" dirty="0"/>
          </a:p>
        </p:txBody>
      </p:sp>
      <p:sp>
        <p:nvSpPr>
          <p:cNvPr id="74" name="Text 72"/>
          <p:cNvSpPr txBox="1"/>
          <p:nvPr/>
        </p:nvSpPr>
        <p:spPr>
          <a:xfrm>
            <a:off x="4475074" y="4942985"/>
            <a:ext cx="1495958" cy="29587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4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PyTest, Scenario Testing</a:t>
            </a:r>
            <a:endParaRPr lang="en-US" sz="940" dirty="0"/>
          </a:p>
        </p:txBody>
      </p:sp>
      <p:sp>
        <p:nvSpPr>
          <p:cNvPr id="75" name="Shape 73"/>
          <p:cNvSpPr/>
          <p:nvPr/>
        </p:nvSpPr>
        <p:spPr>
          <a:xfrm>
            <a:off x="3383280" y="5257147"/>
            <a:ext cx="2615184" cy="332450"/>
          </a:xfrm>
          <a:prstGeom prst="rect">
            <a:avLst/>
          </a:prstGeom>
          <a:solidFill>
            <a:srgbClr val="0A1825">
              <a:alpha val="95000"/>
            </a:srgbClr>
          </a:solidFill>
          <a:ln w="6350">
            <a:solidFill>
              <a:srgbClr val="16667B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429354" y="5257147"/>
            <a:ext cx="0" cy="332450"/>
          </a:xfrm>
          <a:prstGeom prst="line">
            <a:avLst/>
          </a:prstGeom>
          <a:noFill/>
          <a:ln w="6350">
            <a:solidFill>
              <a:srgbClr val="16667B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3429000" y="5275435"/>
            <a:ext cx="972922" cy="29587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4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Containerization</a:t>
            </a:r>
            <a:endParaRPr lang="en-US" sz="940" dirty="0"/>
          </a:p>
        </p:txBody>
      </p:sp>
      <p:sp>
        <p:nvSpPr>
          <p:cNvPr id="78" name="Text 76"/>
          <p:cNvSpPr txBox="1"/>
          <p:nvPr/>
        </p:nvSpPr>
        <p:spPr>
          <a:xfrm>
            <a:off x="4475074" y="5275435"/>
            <a:ext cx="1495958" cy="29587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4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Docker</a:t>
            </a:r>
            <a:endParaRPr lang="en-US" sz="940" dirty="0"/>
          </a:p>
        </p:txBody>
      </p:sp>
      <p:sp>
        <p:nvSpPr>
          <p:cNvPr id="79" name="Shape 77"/>
          <p:cNvSpPr/>
          <p:nvPr/>
        </p:nvSpPr>
        <p:spPr>
          <a:xfrm>
            <a:off x="3383280" y="5589597"/>
            <a:ext cx="2615184" cy="332450"/>
          </a:xfrm>
          <a:prstGeom prst="rect">
            <a:avLst/>
          </a:prstGeom>
          <a:solidFill>
            <a:srgbClr val="07111D">
              <a:alpha val="95000"/>
            </a:srgbClr>
          </a:solidFill>
          <a:ln w="6350">
            <a:solidFill>
              <a:srgbClr val="16667B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429354" y="5589597"/>
            <a:ext cx="0" cy="332450"/>
          </a:xfrm>
          <a:prstGeom prst="line">
            <a:avLst/>
          </a:prstGeom>
          <a:noFill/>
          <a:ln w="6350">
            <a:solidFill>
              <a:srgbClr val="16667B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3429000" y="5607885"/>
            <a:ext cx="972922" cy="29587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4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Version Control / CICD</a:t>
            </a:r>
            <a:endParaRPr lang="en-US" sz="940" dirty="0"/>
          </a:p>
        </p:txBody>
      </p:sp>
      <p:sp>
        <p:nvSpPr>
          <p:cNvPr id="82" name="Text 80"/>
          <p:cNvSpPr txBox="1"/>
          <p:nvPr/>
        </p:nvSpPr>
        <p:spPr>
          <a:xfrm>
            <a:off x="4475074" y="5607885"/>
            <a:ext cx="1495958" cy="29587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4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Git, GitHub, GitHub Actions</a:t>
            </a:r>
            <a:endParaRPr lang="en-US" sz="940" dirty="0"/>
          </a:p>
        </p:txBody>
      </p:sp>
      <p:sp>
        <p:nvSpPr>
          <p:cNvPr id="83" name="Shape 81"/>
          <p:cNvSpPr/>
          <p:nvPr/>
        </p:nvSpPr>
        <p:spPr>
          <a:xfrm>
            <a:off x="3383280" y="5922046"/>
            <a:ext cx="2615184" cy="332450"/>
          </a:xfrm>
          <a:prstGeom prst="rect">
            <a:avLst/>
          </a:prstGeom>
          <a:solidFill>
            <a:srgbClr val="0A1825">
              <a:alpha val="95000"/>
            </a:srgbClr>
          </a:solidFill>
          <a:ln w="6350">
            <a:solidFill>
              <a:srgbClr val="16667B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4429354" y="5922046"/>
            <a:ext cx="0" cy="332450"/>
          </a:xfrm>
          <a:prstGeom prst="line">
            <a:avLst/>
          </a:prstGeom>
          <a:noFill/>
          <a:ln w="6350">
            <a:solidFill>
              <a:srgbClr val="16667B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3429000" y="5940334"/>
            <a:ext cx="972922" cy="29587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4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Monitoring</a:t>
            </a:r>
            <a:endParaRPr lang="en-US" sz="940" dirty="0"/>
          </a:p>
        </p:txBody>
      </p:sp>
      <p:sp>
        <p:nvSpPr>
          <p:cNvPr id="86" name="Text 84"/>
          <p:cNvSpPr txBox="1"/>
          <p:nvPr/>
        </p:nvSpPr>
        <p:spPr>
          <a:xfrm>
            <a:off x="4475074" y="5940334"/>
            <a:ext cx="1495958" cy="29587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4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Agent Logs, Resource/Planning Metrics</a:t>
            </a:r>
            <a:endParaRPr lang="en-US" sz="940" dirty="0"/>
          </a:p>
        </p:txBody>
      </p:sp>
      <p:sp>
        <p:nvSpPr>
          <p:cNvPr id="87" name="Shape 85"/>
          <p:cNvSpPr/>
          <p:nvPr/>
        </p:nvSpPr>
        <p:spPr>
          <a:xfrm>
            <a:off x="6181344" y="722376"/>
            <a:ext cx="2816352" cy="5660136"/>
          </a:xfrm>
          <a:prstGeom prst="roundRect">
            <a:avLst>
              <a:gd name="adj" fmla="val 1299"/>
            </a:avLst>
          </a:prstGeom>
          <a:solidFill>
            <a:srgbClr val="07111D">
              <a:alpha val="93000"/>
            </a:srgbClr>
          </a:solidFill>
          <a:ln w="13970">
            <a:solidFill>
              <a:srgbClr val="17748A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6327648" y="832104"/>
            <a:ext cx="2523744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C4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OUTCOME OF THE PROJECT</a:t>
            </a:r>
            <a:endParaRPr lang="en-US" sz="1500" dirty="0"/>
          </a:p>
        </p:txBody>
      </p:sp>
      <p:sp>
        <p:nvSpPr>
          <p:cNvPr id="89" name="Shape 87"/>
          <p:cNvSpPr/>
          <p:nvPr/>
        </p:nvSpPr>
        <p:spPr>
          <a:xfrm>
            <a:off x="6327648" y="1143000"/>
            <a:ext cx="2523744" cy="0"/>
          </a:xfrm>
          <a:prstGeom prst="line">
            <a:avLst/>
          </a:prstGeom>
          <a:noFill/>
          <a:ln w="13970">
            <a:solidFill>
              <a:srgbClr val="16667B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254496" y="1252728"/>
            <a:ext cx="2670048" cy="329184"/>
          </a:xfrm>
          <a:prstGeom prst="rect">
            <a:avLst/>
          </a:prstGeom>
          <a:solidFill>
            <a:srgbClr val="081522"/>
          </a:solidFill>
          <a:ln w="10160">
            <a:solidFill>
              <a:srgbClr val="17748A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6300216" y="1271016"/>
            <a:ext cx="968167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C4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</a:t>
            </a:r>
            <a:endParaRPr lang="en-US" sz="1000" dirty="0"/>
          </a:p>
        </p:txBody>
      </p:sp>
      <p:sp>
        <p:nvSpPr>
          <p:cNvPr id="92" name="Text 90"/>
          <p:cNvSpPr txBox="1"/>
          <p:nvPr/>
        </p:nvSpPr>
        <p:spPr>
          <a:xfrm>
            <a:off x="7341535" y="1271016"/>
            <a:ext cx="1555577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C4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INDUSTRIAL VALUE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6254496" y="1581912"/>
            <a:ext cx="2670048" cy="667512"/>
          </a:xfrm>
          <a:prstGeom prst="rect">
            <a:avLst/>
          </a:prstGeom>
          <a:solidFill>
            <a:srgbClr val="07111D">
              <a:alpha val="95000"/>
            </a:srgbClr>
          </a:solidFill>
          <a:ln w="6350">
            <a:solidFill>
              <a:srgbClr val="16667B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7295815" y="1581912"/>
            <a:ext cx="0" cy="667512"/>
          </a:xfrm>
          <a:prstGeom prst="line">
            <a:avLst/>
          </a:prstGeom>
          <a:noFill/>
          <a:ln w="6350">
            <a:solidFill>
              <a:srgbClr val="16667B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6300216" y="1600200"/>
            <a:ext cx="968167" cy="6309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21BC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Planning</a:t>
            </a:r>
            <a:endParaRPr lang="en-US" sz="920" dirty="0"/>
          </a:p>
        </p:txBody>
      </p:sp>
      <p:sp>
        <p:nvSpPr>
          <p:cNvPr id="96" name="Text 94"/>
          <p:cNvSpPr txBox="1"/>
          <p:nvPr/>
        </p:nvSpPr>
        <p:spPr>
          <a:xfrm>
            <a:off x="7341535" y="1600200"/>
            <a:ext cx="1555577" cy="6309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1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Generates a coordinated construction activity sequence based on dependencies.</a:t>
            </a:r>
            <a:endParaRPr lang="en-US" sz="910" dirty="0"/>
          </a:p>
        </p:txBody>
      </p:sp>
      <p:sp>
        <p:nvSpPr>
          <p:cNvPr id="97" name="Shape 95"/>
          <p:cNvSpPr/>
          <p:nvPr/>
        </p:nvSpPr>
        <p:spPr>
          <a:xfrm>
            <a:off x="6254496" y="2249424"/>
            <a:ext cx="2670048" cy="667512"/>
          </a:xfrm>
          <a:prstGeom prst="rect">
            <a:avLst/>
          </a:prstGeom>
          <a:solidFill>
            <a:srgbClr val="0A1825">
              <a:alpha val="95000"/>
            </a:srgbClr>
          </a:solidFill>
          <a:ln w="6350">
            <a:solidFill>
              <a:srgbClr val="16667B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295815" y="2249424"/>
            <a:ext cx="0" cy="667512"/>
          </a:xfrm>
          <a:prstGeom prst="line">
            <a:avLst/>
          </a:prstGeom>
          <a:noFill/>
          <a:ln w="6350">
            <a:solidFill>
              <a:srgbClr val="16667B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6300216" y="2267712"/>
            <a:ext cx="968167" cy="6309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21BC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Resource Allocation</a:t>
            </a:r>
            <a:endParaRPr lang="en-US" sz="920" dirty="0"/>
          </a:p>
        </p:txBody>
      </p:sp>
      <p:sp>
        <p:nvSpPr>
          <p:cNvPr id="100" name="Text 98"/>
          <p:cNvSpPr txBox="1"/>
          <p:nvPr/>
        </p:nvSpPr>
        <p:spPr>
          <a:xfrm>
            <a:off x="7341535" y="2267712"/>
            <a:ext cx="1555577" cy="6309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1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Assigns workforce, equipment, and materials according to requirements and availability.</a:t>
            </a:r>
            <a:endParaRPr lang="en-US" sz="910" dirty="0"/>
          </a:p>
        </p:txBody>
      </p:sp>
      <p:sp>
        <p:nvSpPr>
          <p:cNvPr id="101" name="Shape 99"/>
          <p:cNvSpPr/>
          <p:nvPr/>
        </p:nvSpPr>
        <p:spPr>
          <a:xfrm>
            <a:off x="6254496" y="2916936"/>
            <a:ext cx="2670048" cy="667512"/>
          </a:xfrm>
          <a:prstGeom prst="rect">
            <a:avLst/>
          </a:prstGeom>
          <a:solidFill>
            <a:srgbClr val="07111D">
              <a:alpha val="95000"/>
            </a:srgbClr>
          </a:solidFill>
          <a:ln w="6350">
            <a:solidFill>
              <a:srgbClr val="16667B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7295815" y="2916936"/>
            <a:ext cx="0" cy="667512"/>
          </a:xfrm>
          <a:prstGeom prst="line">
            <a:avLst/>
          </a:prstGeom>
          <a:noFill/>
          <a:ln w="6350">
            <a:solidFill>
              <a:srgbClr val="16667B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6300216" y="2935224"/>
            <a:ext cx="968167" cy="6309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21BC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Conflict Detection</a:t>
            </a:r>
            <a:endParaRPr lang="en-US" sz="920" dirty="0"/>
          </a:p>
        </p:txBody>
      </p:sp>
      <p:sp>
        <p:nvSpPr>
          <p:cNvPr id="104" name="Text 102"/>
          <p:cNvSpPr txBox="1"/>
          <p:nvPr/>
        </p:nvSpPr>
        <p:spPr>
          <a:xfrm>
            <a:off x="7341535" y="2935224"/>
            <a:ext cx="1555577" cy="6309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1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Identifies activities competing for the same limited resources before execution.</a:t>
            </a:r>
            <a:endParaRPr lang="en-US" sz="910" dirty="0"/>
          </a:p>
        </p:txBody>
      </p:sp>
      <p:sp>
        <p:nvSpPr>
          <p:cNvPr id="105" name="Shape 103"/>
          <p:cNvSpPr/>
          <p:nvPr/>
        </p:nvSpPr>
        <p:spPr>
          <a:xfrm>
            <a:off x="6254496" y="3584448"/>
            <a:ext cx="2670048" cy="667512"/>
          </a:xfrm>
          <a:prstGeom prst="rect">
            <a:avLst/>
          </a:prstGeom>
          <a:solidFill>
            <a:srgbClr val="0A1825">
              <a:alpha val="95000"/>
            </a:srgbClr>
          </a:solidFill>
          <a:ln w="6350">
            <a:solidFill>
              <a:srgbClr val="16667B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7295815" y="3584448"/>
            <a:ext cx="0" cy="667512"/>
          </a:xfrm>
          <a:prstGeom prst="line">
            <a:avLst/>
          </a:prstGeom>
          <a:noFill/>
          <a:ln w="6350">
            <a:solidFill>
              <a:srgbClr val="16667B"/>
            </a:solidFill>
            <a:prstDash val="solid"/>
          </a:ln>
        </p:spPr>
      </p:sp>
      <p:sp>
        <p:nvSpPr>
          <p:cNvPr id="107" name="Text 105"/>
          <p:cNvSpPr txBox="1"/>
          <p:nvPr/>
        </p:nvSpPr>
        <p:spPr>
          <a:xfrm>
            <a:off x="6300216" y="3602736"/>
            <a:ext cx="968167" cy="6309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21BC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Constraint Validation</a:t>
            </a:r>
            <a:endParaRPr lang="en-US" sz="920" dirty="0"/>
          </a:p>
        </p:txBody>
      </p:sp>
      <p:sp>
        <p:nvSpPr>
          <p:cNvPr id="108" name="Text 106"/>
          <p:cNvSpPr txBox="1"/>
          <p:nvPr/>
        </p:nvSpPr>
        <p:spPr>
          <a:xfrm>
            <a:off x="7341535" y="3602736"/>
            <a:ext cx="1555577" cy="6309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1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Checks resource, dependency, availability, site, and schedule constraints.</a:t>
            </a:r>
            <a:endParaRPr lang="en-US" sz="910" dirty="0"/>
          </a:p>
        </p:txBody>
      </p:sp>
      <p:sp>
        <p:nvSpPr>
          <p:cNvPr id="109" name="Shape 107"/>
          <p:cNvSpPr/>
          <p:nvPr/>
        </p:nvSpPr>
        <p:spPr>
          <a:xfrm>
            <a:off x="6254496" y="4251960"/>
            <a:ext cx="2670048" cy="667512"/>
          </a:xfrm>
          <a:prstGeom prst="rect">
            <a:avLst/>
          </a:prstGeom>
          <a:solidFill>
            <a:srgbClr val="07111D">
              <a:alpha val="95000"/>
            </a:srgbClr>
          </a:solidFill>
          <a:ln w="6350">
            <a:solidFill>
              <a:srgbClr val="16667B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7295815" y="4251960"/>
            <a:ext cx="0" cy="667512"/>
          </a:xfrm>
          <a:prstGeom prst="line">
            <a:avLst/>
          </a:prstGeom>
          <a:noFill/>
          <a:ln w="6350">
            <a:solidFill>
              <a:srgbClr val="16667B"/>
            </a:solidFill>
            <a:prstDash val="solid"/>
          </a:ln>
        </p:spPr>
      </p:sp>
      <p:sp>
        <p:nvSpPr>
          <p:cNvPr id="111" name="Text 109"/>
          <p:cNvSpPr txBox="1"/>
          <p:nvPr/>
        </p:nvSpPr>
        <p:spPr>
          <a:xfrm>
            <a:off x="6300216" y="4270248"/>
            <a:ext cx="968167" cy="6309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21BC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Operational Risk</a:t>
            </a:r>
            <a:endParaRPr lang="en-US" sz="920" dirty="0"/>
          </a:p>
        </p:txBody>
      </p:sp>
      <p:sp>
        <p:nvSpPr>
          <p:cNvPr id="112" name="Text 110"/>
          <p:cNvSpPr txBox="1"/>
          <p:nvPr/>
        </p:nvSpPr>
        <p:spPr>
          <a:xfrm>
            <a:off x="7341535" y="4270248"/>
            <a:ext cx="1555577" cy="6309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1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Highlights material, workforce, equipment, and schedule risks early.</a:t>
            </a:r>
            <a:endParaRPr lang="en-US" sz="910" dirty="0"/>
          </a:p>
        </p:txBody>
      </p:sp>
      <p:sp>
        <p:nvSpPr>
          <p:cNvPr id="113" name="Shape 111"/>
          <p:cNvSpPr/>
          <p:nvPr/>
        </p:nvSpPr>
        <p:spPr>
          <a:xfrm>
            <a:off x="6254496" y="4919472"/>
            <a:ext cx="2670048" cy="667512"/>
          </a:xfrm>
          <a:prstGeom prst="rect">
            <a:avLst/>
          </a:prstGeom>
          <a:solidFill>
            <a:srgbClr val="0A1825">
              <a:alpha val="95000"/>
            </a:srgbClr>
          </a:solidFill>
          <a:ln w="6350">
            <a:solidFill>
              <a:srgbClr val="16667B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7295815" y="4919472"/>
            <a:ext cx="0" cy="667512"/>
          </a:xfrm>
          <a:prstGeom prst="line">
            <a:avLst/>
          </a:prstGeom>
          <a:noFill/>
          <a:ln w="6350">
            <a:solidFill>
              <a:srgbClr val="16667B"/>
            </a:solidFill>
            <a:prstDash val="solid"/>
          </a:ln>
        </p:spPr>
      </p:sp>
      <p:sp>
        <p:nvSpPr>
          <p:cNvPr id="115" name="Text 113"/>
          <p:cNvSpPr txBox="1"/>
          <p:nvPr/>
        </p:nvSpPr>
        <p:spPr>
          <a:xfrm>
            <a:off x="6300216" y="4937760"/>
            <a:ext cx="968167" cy="6309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21BC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Alternative Planning</a:t>
            </a:r>
            <a:endParaRPr lang="en-US" sz="920" dirty="0"/>
          </a:p>
        </p:txBody>
      </p:sp>
      <p:sp>
        <p:nvSpPr>
          <p:cNvPr id="116" name="Text 114"/>
          <p:cNvSpPr txBox="1"/>
          <p:nvPr/>
        </p:nvSpPr>
        <p:spPr>
          <a:xfrm>
            <a:off x="7341535" y="4937760"/>
            <a:ext cx="1555577" cy="6309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1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Reschedules activities or reallocates resources when the original plan is infeasible.</a:t>
            </a:r>
            <a:endParaRPr lang="en-US" sz="910" dirty="0"/>
          </a:p>
        </p:txBody>
      </p:sp>
      <p:sp>
        <p:nvSpPr>
          <p:cNvPr id="117" name="Shape 115"/>
          <p:cNvSpPr/>
          <p:nvPr/>
        </p:nvSpPr>
        <p:spPr>
          <a:xfrm>
            <a:off x="6254496" y="5586984"/>
            <a:ext cx="2670048" cy="667512"/>
          </a:xfrm>
          <a:prstGeom prst="rect">
            <a:avLst/>
          </a:prstGeom>
          <a:solidFill>
            <a:srgbClr val="07111D">
              <a:alpha val="95000"/>
            </a:srgbClr>
          </a:solidFill>
          <a:ln w="6350">
            <a:solidFill>
              <a:srgbClr val="16667B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295815" y="5586984"/>
            <a:ext cx="0" cy="667512"/>
          </a:xfrm>
          <a:prstGeom prst="line">
            <a:avLst/>
          </a:prstGeom>
          <a:noFill/>
          <a:ln w="6350">
            <a:solidFill>
              <a:srgbClr val="16667B"/>
            </a:solidFill>
            <a:prstDash val="solid"/>
          </a:ln>
        </p:spPr>
      </p:sp>
      <p:sp>
        <p:nvSpPr>
          <p:cNvPr id="119" name="Text 117"/>
          <p:cNvSpPr txBox="1"/>
          <p:nvPr/>
        </p:nvSpPr>
        <p:spPr>
          <a:xfrm>
            <a:off x="6300216" y="5605272"/>
            <a:ext cx="968167" cy="6309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21BC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Explainable Recommendation</a:t>
            </a:r>
            <a:endParaRPr lang="en-US" sz="920" dirty="0"/>
          </a:p>
        </p:txBody>
      </p:sp>
      <p:sp>
        <p:nvSpPr>
          <p:cNvPr id="120" name="Text 118"/>
          <p:cNvSpPr txBox="1"/>
          <p:nvPr/>
        </p:nvSpPr>
        <p:spPr>
          <a:xfrm>
            <a:off x="7341535" y="5605272"/>
            <a:ext cx="1555577" cy="6309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10" dirty="0">
                <a:solidFill>
                  <a:srgbClr val="E3E8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Provides the proposed plan, detected conflict, reason, alternatives, and expected operational impact.</a:t>
            </a:r>
            <a:endParaRPr lang="en-US" sz="910" dirty="0"/>
          </a:p>
        </p:txBody>
      </p:sp>
      <p:sp>
        <p:nvSpPr>
          <p:cNvPr id="12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87968" y="6565392"/>
            <a:ext cx="146304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07386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1028</Words>
  <Application>Microsoft Office PowerPoint</Application>
  <PresentationFormat>On-screen Show (4:3)</PresentationFormat>
  <Paragraphs>214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Rajalakshmi Engineering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Individual Project 1 and 2</dc:title>
  <dc:subject>Individual Project Proposal</dc:subject>
  <dc:creator>OpenAI</dc:creator>
  <cp:lastModifiedBy>Aravind Kumaran</cp:lastModifiedBy>
  <cp:revision>3</cp:revision>
  <dcterms:created xsi:type="dcterms:W3CDTF">2026-08-27T19:46:57Z</dcterms:created>
  <dcterms:modified xsi:type="dcterms:W3CDTF">2026-08-27T20:14:35Z</dcterms:modified>
</cp:coreProperties>
</file>