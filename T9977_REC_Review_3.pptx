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wdp" ContentType="image/vnd.ms-photo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2cc5dbea520402c" /><Relationship Type="http://schemas.openxmlformats.org/package/2006/relationships/metadata/core-properties" Target="/docProps/core.xml" Id="Rb11eed9dadfd4f77" /><Relationship Type="http://schemas.openxmlformats.org/officeDocument/2006/relationships/extended-properties" Target="/docProps/app.xml" Id="R6778a1435c684a21" /><Relationship Type="http://schemas.openxmlformats.org/officeDocument/2006/relationships/custom-properties" Target="/docProps/custom.xml" Id="R2139fcb4a2234d00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49ce9fcc43c24dfe"/>
  </p:sldMasterIdLst>
  <p:sldIdLst>
    <p:sldId id="256" r:id="R5e03f11410e94551"/>
    <p:sldId id="257" r:id="R49f2a909b4e042cf"/>
    <p:sldId id="258" r:id="R444c3acf573c47c2"/>
    <p:sldId id="259" r:id="R97bd5184de1d4421"/>
    <p:sldId id="260" r:id="R015484c19ffb4ccf"/>
    <p:sldId id="261" r:id="Rf901f796029e4fcd"/>
    <p:sldId id="262" r:id="R72b989746b1c4b25"/>
    <p:sldId id="263" r:id="R9603ac0fe8d9473c"/>
    <p:sldId id="264" r:id="R1f74642f785a4a7e"/>
    <p:sldId id="265" r:id="R0d4ecd58deeb4c9a"/>
    <p:sldId id="266" r:id="R91afe41b7345487a"/>
    <p:sldId id="267" r:id="R8cbdf6b240184772"/>
    <p:sldId id="268" r:id="R4fc7a70541bb4f5e"/>
    <p:sldId id="269" r:id="Rbb309d058af34dbe"/>
    <p:sldId id="270" r:id="R0b59fb580e6e4f17"/>
    <p:sldId id="271" r:id="R1576070f499042b1"/>
    <p:sldId id="272" r:id="R0a9e8d9aca7f4254"/>
    <p:sldId id="273" r:id="R8608a5ee740b45a1"/>
    <p:sldId id="274" r:id="Rab926174a05c44a3"/>
    <p:sldId id="275" r:id="R3579110ded87441d"/>
    <p:sldId id="276" r:id="R95a67c3441544cd3"/>
    <p:sldId id="277" r:id="R50a97a8e87864f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6686aa4699ae4088" /><Relationship Type="http://schemas.openxmlformats.org/officeDocument/2006/relationships/viewProps" Target="/ppt/viewProps.xml" Id="Rb7c9e1772f72430c" /><Relationship Type="http://schemas.openxmlformats.org/officeDocument/2006/relationships/slideMaster" Target="/ppt/slideMasters/slideMaster1.xml" Id="R49ce9fcc43c24dfe" /><Relationship Type="http://schemas.openxmlformats.org/officeDocument/2006/relationships/theme" Target="/ppt/slideMasters/theme/theme1.xml" Id="R6ad680f398404b76" /><Relationship Type="http://schemas.openxmlformats.org/officeDocument/2006/relationships/slide" Target="/ppt/slides/slide1.xml" Id="R5e03f11410e94551" /><Relationship Type="http://schemas.openxmlformats.org/officeDocument/2006/relationships/slide" Target="/ppt/slides/slide2.xml" Id="R49f2a909b4e042cf" /><Relationship Type="http://schemas.openxmlformats.org/officeDocument/2006/relationships/slide" Target="/ppt/slides/slide3.xml" Id="R444c3acf573c47c2" /><Relationship Type="http://schemas.openxmlformats.org/officeDocument/2006/relationships/slide" Target="/ppt/slides/slide4.xml" Id="R97bd5184de1d4421" /><Relationship Type="http://schemas.openxmlformats.org/officeDocument/2006/relationships/slide" Target="/ppt/slides/slide5.xml" Id="R015484c19ffb4ccf" /><Relationship Type="http://schemas.openxmlformats.org/officeDocument/2006/relationships/slide" Target="/ppt/slides/slide6.xml" Id="Rf901f796029e4fcd" /><Relationship Type="http://schemas.openxmlformats.org/officeDocument/2006/relationships/slide" Target="/ppt/slides/slide7.xml" Id="R72b989746b1c4b25" /><Relationship Type="http://schemas.openxmlformats.org/officeDocument/2006/relationships/slide" Target="/ppt/slides/slide8.xml" Id="R9603ac0fe8d9473c" /><Relationship Type="http://schemas.openxmlformats.org/officeDocument/2006/relationships/slide" Target="/ppt/slides/slide9.xml" Id="R1f74642f785a4a7e" /><Relationship Type="http://schemas.openxmlformats.org/officeDocument/2006/relationships/slide" Target="/ppt/slides/slide10.xml" Id="R0d4ecd58deeb4c9a" /><Relationship Type="http://schemas.openxmlformats.org/officeDocument/2006/relationships/slide" Target="/ppt/slides/slide11.xml" Id="R91afe41b7345487a" /><Relationship Type="http://schemas.openxmlformats.org/officeDocument/2006/relationships/slide" Target="/ppt/slides/slide12.xml" Id="R8cbdf6b240184772" /><Relationship Type="http://schemas.openxmlformats.org/officeDocument/2006/relationships/slide" Target="/ppt/slides/slide13.xml" Id="R4fc7a70541bb4f5e" /><Relationship Type="http://schemas.openxmlformats.org/officeDocument/2006/relationships/slide" Target="/ppt/slides/slide14.xml" Id="Rbb309d058af34dbe" /><Relationship Type="http://schemas.openxmlformats.org/officeDocument/2006/relationships/slide" Target="/ppt/slides/slide15.xml" Id="R0b59fb580e6e4f17" /><Relationship Type="http://schemas.openxmlformats.org/officeDocument/2006/relationships/slide" Target="/ppt/slides/slide16.xml" Id="R1576070f499042b1" /><Relationship Type="http://schemas.openxmlformats.org/officeDocument/2006/relationships/slide" Target="/ppt/slides/slide17.xml" Id="R0a9e8d9aca7f4254" /><Relationship Type="http://schemas.openxmlformats.org/officeDocument/2006/relationships/slide" Target="/ppt/slides/slide18.xml" Id="R8608a5ee740b45a1" /><Relationship Type="http://schemas.openxmlformats.org/officeDocument/2006/relationships/slide" Target="/ppt/slides/slide19.xml" Id="Rab926174a05c44a3" /><Relationship Type="http://schemas.openxmlformats.org/officeDocument/2006/relationships/slide" Target="/ppt/slides/slide20.xml" Id="R3579110ded87441d" /><Relationship Type="http://schemas.openxmlformats.org/officeDocument/2006/relationships/slide" Target="/ppt/slides/slide21.xml" Id="R95a67c3441544cd3" /><Relationship Type="http://schemas.openxmlformats.org/officeDocument/2006/relationships/slide" Target="/ppt/slides/slide22.xml" Id="R50a97a8e87864f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e0a6747c64a8e" /></Relationships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62aa270150ac42fa" /><Relationship Type="http://schemas.openxmlformats.org/officeDocument/2006/relationships/image" Target="/ppt/media/image2.png" Id="Rcdb9668d4fc2438d" /><Relationship Type="http://schemas.openxmlformats.org/officeDocument/2006/relationships/image" Target="/ppt/media/image3.png" Id="R3171c2f19bcd40b9" /><Relationship Type="http://schemas.microsoft.com/office/2007/relationships/hdphoto" Target="/ppt/slideMasters/udata/data.wdp" Id="R5fe333df46194e11" /><Relationship Type="http://schemas.microsoft.com/office/2007/relationships/hdphoto" Target="/ppt/slideMasters/udata/data2.wdp" Id="R6855d937a6124597" /><Relationship Type="http://schemas.openxmlformats.org/officeDocument/2006/relationships/theme" Target="/ppt/slideMasters/theme/theme1.xml" Id="R8c23c6f6da3f413d" /><Relationship Type="http://schemas.openxmlformats.org/officeDocument/2006/relationships/slideLayout" Target="/ppt/slideLayouts/slideLayout5.xml" Id="R613b12fdd8eb4dee" /></Relationships>
</file>

<file path=ppt/slideMasters/slideMaster1.xml><?xml version="1.0" encoding="utf-8"?>
<p:sldMaster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62aa270150ac42f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cdb9668d4fc2438d">
            <a:extLst>
              <a:ext uri="{BEBA8EAE-BF5A-486C-A8C5-ECC9F3942E4B}">
                <a14:imgProps xmlns:a14="http://schemas.microsoft.com/office/drawing/2010/main">
                  <a14:imgLayer r:embed="R5fe333df46194e11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3171c2f19bcd40b9">
            <a:extLst>
              <a:ext uri="{BEBA8EAE-BF5A-486C-A8C5-ECC9F3942E4B}">
                <a14:imgProps xmlns:a14="http://schemas.microsoft.com/office/drawing/2010/main">
                  <a14:imgLayer r:embed="R6855d937a6124597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613b12fdd8eb4dee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4.png" Id="Rc07853c18c784cc6" /><Relationship Type="http://schemas.openxmlformats.org/officeDocument/2006/relationships/image" Target="/ppt/media/image5.png" Id="Rf149963676164977" /><Relationship Type="http://schemas.microsoft.com/office/2007/relationships/hdphoto" Target="/ppt/slides/udata/data3.wdp" Id="R6722322d793e4787" /><Relationship Type="http://schemas.openxmlformats.org/officeDocument/2006/relationships/slideLayout" Target="/ppt/slideLayouts/slideLayout5.xml" Id="Rf9c55de4200947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487ecd3b354a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36885411f742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07585d2c3d543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8a8684545647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8596c7dc42b4d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6.png" Id="R7bd9b32490c24d51" /><Relationship Type="http://schemas.openxmlformats.org/officeDocument/2006/relationships/image" Target="/ppt/media/image7.png" Id="Rdf009f47ed70405f" /><Relationship Type="http://schemas.openxmlformats.org/officeDocument/2006/relationships/image" Target="/ppt/media/image8.png" Id="Rfd7486f714144ded" /><Relationship Type="http://schemas.openxmlformats.org/officeDocument/2006/relationships/slideLayout" Target="/ppt/slideLayouts/slideLayout5.xml" Id="Re69ba73e26ab4b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68e5b62b01443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2a55cf4b9fb41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e53ead68cc947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a77e23808a4c93" /><Relationship Type="http://schemas.openxmlformats.org/officeDocument/2006/relationships/hyperlink" Target="https://proceedings.neurips.cc/paper_files/paper/2024/hash/27245589131d17368cccdfa990cbf16e-Abstract-Datasets_and_Benchmarks_Track.html?utm_source=chatgpt.com" TargetMode="External" Id="rcId86055840ae8e40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4.png" Id="R3f5e790dcef04213" /><Relationship Type="http://schemas.openxmlformats.org/officeDocument/2006/relationships/image" Target="/ppt/media/image5.png" Id="R14b5def3a8914629" /><Relationship Type="http://schemas.microsoft.com/office/2007/relationships/hdphoto" Target="/ppt/slides/udata/data4.wdp" Id="R683b6be94a4f4d1e" /><Relationship Type="http://schemas.openxmlformats.org/officeDocument/2006/relationships/slideLayout" Target="/ppt/slideLayouts/slideLayout5.xml" Id="Rb3d6c12f861045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f43f6d2242349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8773fa8021146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962324c5d1a49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3eb511bddeb47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a6cd2d6fa2f477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051bec5aa2844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7ca650186f449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21f59f0542b4d8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8d6e2c99b344a1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65057d8d164614" /><Relationship Type="http://schemas.openxmlformats.org/officeDocument/2006/relationships/hyperlink" Target="https://onlinelibrary.wiley.com/doi/10.1155/adce/9322385?utm_source=chatgpt.com" TargetMode="External" Id="rcIda9cc5cab5269499d" /><Relationship Type="http://schemas.openxmlformats.org/officeDocument/2006/relationships/hyperlink" Target="https://www.sciencedirect.com/science/article/pii/S1474034625008894?utm_source=chatgpt.com" TargetMode="External" Id="rcId2a738aedf6494dff" /><Relationship Type="http://schemas.openxmlformats.org/officeDocument/2006/relationships/hyperlink" Target="https://doi.org/10.1016/j.aei.2026.104681?utm_source=chatgpt.com" TargetMode="External" Id="rcId761c2b0416384c31" /><Relationship Type="http://schemas.openxmlformats.org/officeDocument/2006/relationships/hyperlink" Target="https://www.sciencedirect.com/science/article/pii/S2352710225001433?utm_source=chatgpt.com" TargetMode="External" Id="rcIde0f7d18b01ff40ff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Troubleshooting Assistance Through Expert Knowledge Retrieval Techniques Using Bounded Agentic-AI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</a:t>
            </a:r>
            <a:r>
              <a:rPr lang="en-US" sz="3400" b="1" dirty="0" err="1">
                <a:solidFill>
                  <a:prstClr val="white"/>
                </a:solidFill>
                <a:cs typeface="Calibri" panose="020F0502020204030204" pitchFamily="34" charset="0"/>
              </a:rPr>
              <a:t>Aravindkumaran</a:t>
            </a:r>
            <a:r>
              <a:rPr lang="en-US" sz="3400" b="1" dirty="0">
                <a:solidFill>
                  <a:prstClr val="white"/>
                </a:solidFill>
                <a:cs typeface="Calibri" panose="020F0502020204030204" pitchFamily="34" charset="0"/>
              </a:rPr>
              <a:t> R</a:t>
            </a:r>
            <a:br>
              <a:rPr lang="en-US" sz="3400" b="1" dirty="0">
                <a:solidFill>
                  <a:prstClr val="white"/>
                </a:solidFill>
                <a:cs typeface="Calibri" panose="020F0502020204030204" pitchFamily="34" charset="0"/>
              </a:rPr>
            </a:br>
            <a:r>
              <a:rPr lang="en-US" sz="3400" b="1" dirty="0">
                <a:solidFill>
                  <a:prstClr val="white"/>
                </a:solidFill>
                <a:cs typeface="Calibri" panose="020F0502020204030204" pitchFamily="34" charset="0"/>
              </a:rPr>
              <a:t>T9977</a:t>
            </a:r>
            <a:br>
              <a:rPr lang="en-US" sz="3400" b="1" dirty="0">
                <a:solidFill>
                  <a:prstClr val="white"/>
                </a:solidFill>
                <a:cs typeface="Calibri" panose="020F0502020204030204" pitchFamily="34" charset="0"/>
              </a:rPr>
            </a:br>
            <a:r>
              <a:rPr lang="en-US" sz="3400" b="1" dirty="0">
                <a:solidFill>
                  <a:prstClr val="white"/>
                </a:solidFill>
                <a:cs typeface="Calibri" panose="020F0502020204030204" pitchFamily="34" charset="0"/>
              </a:rPr>
              <a:t>REC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c07853c18c784cc6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f149963676164977">
            <a:extLst>
              <a:ext uri="{BEBA8EAE-BF5A-486C-A8C5-ECC9F3942E4B}">
                <a14:imgProps xmlns:a14="http://schemas.microsoft.com/office/drawing/2010/main">
                  <a14:imgLayer r:embed="R6722322d793e478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69037"/>
            <a:ext cx="11936004" cy="4362137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Industrial technicians depend on large OEM manuals for fault diagnosis and corrective guidance.</a:t>
            </a:r>
          </a:p>
          <a:p>
            <a:pPr lvl="0"/>
            <a:r>
              <a:rPr lang="en-IN" b="0" dirty="0">
                <a:latin typeface="+mn-lt"/>
              </a:rPr>
              <a:t>Industrial troubleshooting manuals are large, technical and time-consuming to search manually. </a:t>
            </a:r>
          </a:p>
          <a:p>
            <a:pPr lvl="0"/>
            <a:r>
              <a:rPr lang="en-IN" b="0" dirty="0">
                <a:latin typeface="+mn-lt"/>
              </a:rPr>
              <a:t>Generic LLMs can produce fluent answers without sufficient technical evidence.</a:t>
            </a:r>
          </a:p>
          <a:p>
            <a:pPr lvl="0"/>
            <a:r>
              <a:rPr lang="en-IN" b="0" dirty="0">
                <a:latin typeface="+mn-lt"/>
              </a:rPr>
              <a:t>Our system retrieves trusted knowledge from ABB and Siemens technical manuals.</a:t>
            </a:r>
          </a:p>
          <a:p>
            <a:pPr lvl="0"/>
            <a:r>
              <a:rPr lang="en-IN" b="0" dirty="0">
                <a:latin typeface="+mn-lt"/>
              </a:rPr>
              <a:t>It combines retrieval, evidence validation, bounded Agentic AI and source-backed generation.</a:t>
            </a:r>
          </a:p>
          <a:p>
            <a:pPr marL="0" indent="0">
              <a:buNone/>
            </a:pPr>
            <a:endParaRPr lang="en-IN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038663" y="57036"/>
            <a:ext cx="10153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Troubleshooting Assistance Through Expert Knowledge Retrieval Techniques Using Bounded Agentic-AI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484029"/>
            <a:ext cx="11361381" cy="4182201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Develop source-grounded troubleshooting using real ABB and Siemens technical manuals.</a:t>
            </a:r>
          </a:p>
          <a:p>
            <a:pPr lvl="0"/>
            <a:r>
              <a:rPr lang="en-IN" b="0" dirty="0">
                <a:latin typeface="+mn-lt"/>
              </a:rPr>
              <a:t>Implement semantic symptom retrieval for ABB and exact alarm retrieval for Siemens.</a:t>
            </a:r>
          </a:p>
          <a:p>
            <a:pPr lvl="0"/>
            <a:r>
              <a:rPr lang="en-IN" b="0" dirty="0">
                <a:latin typeface="+mn-lt"/>
              </a:rPr>
              <a:t>Control AI reasoning through evidence gates, bounded agents and protected tool execution.</a:t>
            </a:r>
          </a:p>
          <a:p>
            <a:pPr lvl="0"/>
            <a:r>
              <a:rPr lang="en-IN" b="0" dirty="0">
                <a:latin typeface="+mn-lt"/>
              </a:rPr>
              <a:t>Generate and verify responses using local grounded llama3.2:3b synthesis.</a:t>
            </a:r>
          </a:p>
          <a:p>
            <a:pPr lvl="0"/>
            <a:r>
              <a:rPr lang="en-IN" b="0" dirty="0">
                <a:latin typeface="+mn-lt"/>
              </a:rPr>
              <a:t>Investigate whether relevant retrieval can still remain diagnostically non-identifiable.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263515" y="57036"/>
            <a:ext cx="9928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Troubleshooting Assistance Through Expert Knowledge Retrieval Techniques Using Bounded Agentic-AI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IN" b="0" dirty="0">
                <a:highlight>
                  <a:srgbClr val="FFFFFF"/>
                </a:highlight>
              </a:rPr>
              <a:t>Document Ingestion and Manual Processing </a:t>
            </a:r>
          </a:p>
          <a:p>
            <a:pPr lvl="0"/>
            <a:r>
              <a:rPr lang="en-IN" b="0" dirty="0">
                <a:highlight>
                  <a:srgbClr val="FFFFFF"/>
                </a:highlight>
              </a:rPr>
              <a:t>ABB Semantic Symptom Retrieval </a:t>
            </a:r>
          </a:p>
          <a:p>
            <a:pPr lvl="0"/>
            <a:r>
              <a:rPr lang="en-IN" b="0" dirty="0">
                <a:highlight>
                  <a:srgbClr val="FFFFFF"/>
                </a:highlight>
              </a:rPr>
              <a:t>Siemens Exact Alarm Retrieval </a:t>
            </a:r>
          </a:p>
          <a:p>
            <a:pPr lvl="0"/>
            <a:r>
              <a:rPr lang="en-IN" b="0" dirty="0">
                <a:highlight>
                  <a:srgbClr val="FFFFFF"/>
                </a:highlight>
              </a:rPr>
              <a:t>Evidence Sufficiency and Relevance Gates </a:t>
            </a:r>
          </a:p>
          <a:p>
            <a:pPr lvl="0"/>
            <a:r>
              <a:rPr lang="en-IN" b="0" dirty="0">
                <a:highlight>
                  <a:srgbClr val="FFFFFF"/>
                </a:highlight>
              </a:rPr>
              <a:t>Bounded Agentic AI Controller </a:t>
            </a:r>
          </a:p>
          <a:p>
            <a:pPr lvl="0"/>
            <a:r>
              <a:rPr lang="en-IN" b="0" dirty="0">
                <a:highlight>
                  <a:srgbClr val="FFFFFF"/>
                </a:highlight>
              </a:rPr>
              <a:t>Grounded </a:t>
            </a:r>
            <a:r>
              <a:rPr lang="en-IN" b="0" dirty="0" err="1">
                <a:highlight>
                  <a:srgbClr val="FFFFFF"/>
                </a:highlight>
              </a:rPr>
              <a:t>Ollama</a:t>
            </a:r>
            <a:r>
              <a:rPr lang="en-IN" b="0" dirty="0">
                <a:highlight>
                  <a:srgbClr val="FFFFFF"/>
                </a:highlight>
              </a:rPr>
              <a:t> Synthesis </a:t>
            </a:r>
          </a:p>
          <a:p>
            <a:pPr lvl="0"/>
            <a:r>
              <a:rPr lang="en-IN" b="0" dirty="0">
                <a:highlight>
                  <a:srgbClr val="FFFFFF"/>
                </a:highlight>
              </a:rPr>
              <a:t>Deterministic Verification </a:t>
            </a:r>
          </a:p>
          <a:p>
            <a:pPr lvl="0"/>
            <a:r>
              <a:rPr lang="en-IN" b="0" dirty="0">
                <a:highlight>
                  <a:srgbClr val="FFFFFF"/>
                </a:highlight>
              </a:rPr>
              <a:t>Source Provenance and ITRS Audit </a:t>
            </a:r>
          </a:p>
          <a:p>
            <a:pPr lvl="0"/>
            <a:r>
              <a:rPr lang="en-IN" b="0" dirty="0">
                <a:highlight>
                  <a:srgbClr val="FFFFFF"/>
                </a:highlight>
              </a:rPr>
              <a:t>React/Vite Industrial Frontend</a:t>
            </a: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2203555" y="57036"/>
            <a:ext cx="998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Troubleshooting Assistance Through Expert Knowledge Retrieval Techniques Using Bounded Agentic-AI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379095"/>
            <a:ext cx="10971637" cy="4392114"/>
          </a:xfrm>
        </p:spPr>
        <p:txBody>
          <a:bodyPr/>
          <a:lstStyle/>
          <a:p>
            <a:pPr lvl="0"/>
            <a:r>
              <a:rPr lang="en-IN" b="0" dirty="0"/>
              <a:t>Industrial faults must often be diagnosed while equipment downtime is increasing.</a:t>
            </a:r>
          </a:p>
          <a:p>
            <a:pPr lvl="0"/>
            <a:r>
              <a:rPr lang="en-IN" b="0" dirty="0"/>
              <a:t>Technical manuals contain large amounts of scattered alarm, symptom, cause and remedy information.</a:t>
            </a:r>
          </a:p>
          <a:p>
            <a:pPr lvl="0"/>
            <a:r>
              <a:rPr lang="en-IN" b="0" dirty="0"/>
              <a:t>A single symptom can correspond to several different causes and corrective actions.</a:t>
            </a:r>
          </a:p>
          <a:p>
            <a:pPr lvl="0"/>
            <a:r>
              <a:rPr lang="en-IN" b="0" dirty="0"/>
              <a:t>Conventional RAG may retrieve the right text but still choose an unsupported diagnosis or remedy.</a:t>
            </a:r>
          </a:p>
          <a:p>
            <a:pPr lvl="0"/>
            <a:r>
              <a:rPr lang="en-IN" b="0" dirty="0"/>
              <a:t>Industries need a system that distinguishes relevant evidence from sufficient diagnostic evidence.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2188565" y="57036"/>
            <a:ext cx="10003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Troubleshooting Assistance Through Expert Knowledge Retrieval Techniques Using Bounded Agentic-AI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2113613" y="57036"/>
            <a:ext cx="1007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Troubleshooting Assistance Through Expert Knowledge Retrieval Techniques Using Bounded Agentic-AI</a:t>
            </a:r>
          </a:p>
          <a:p>
            <a:pPr algn="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5EF448-DE62-60E9-0B71-B5673F002CD7}"/>
              </a:ext>
            </a:extLst>
          </p:cNvPr>
          <p:cNvSpPr/>
          <p:nvPr/>
        </p:nvSpPr>
        <p:spPr>
          <a:xfrm>
            <a:off x="1375159" y="1355480"/>
            <a:ext cx="1823576" cy="11995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Problem Identification -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25596E-A78E-6D45-D2B9-765F2C0136B7}"/>
              </a:ext>
            </a:extLst>
          </p:cNvPr>
          <p:cNvSpPr/>
          <p:nvPr/>
        </p:nvSpPr>
        <p:spPr>
          <a:xfrm>
            <a:off x="4088792" y="1355476"/>
            <a:ext cx="2007209" cy="1199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Data Collection / Knowledge Source Selection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F47383-1B3D-1955-0AC6-2CD6E2219C86}"/>
              </a:ext>
            </a:extLst>
          </p:cNvPr>
          <p:cNvSpPr/>
          <p:nvPr/>
        </p:nvSpPr>
        <p:spPr>
          <a:xfrm>
            <a:off x="6712568" y="1383177"/>
            <a:ext cx="1801845" cy="1157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Data Preprocessing &amp; Knowledge Structuring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CF2B82-1270-2AEA-2DD8-414885EFB374}"/>
              </a:ext>
            </a:extLst>
          </p:cNvPr>
          <p:cNvSpPr/>
          <p:nvPr/>
        </p:nvSpPr>
        <p:spPr>
          <a:xfrm>
            <a:off x="9308663" y="1372456"/>
            <a:ext cx="1801845" cy="1178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Embedding &amp; Knowledge Indexing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9592E8-9370-7856-A2AD-CFA77380C006}"/>
              </a:ext>
            </a:extLst>
          </p:cNvPr>
          <p:cNvSpPr/>
          <p:nvPr/>
        </p:nvSpPr>
        <p:spPr>
          <a:xfrm>
            <a:off x="1624379" y="3240185"/>
            <a:ext cx="1823576" cy="11780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 </a:t>
            </a:r>
          </a:p>
          <a:p>
            <a:r>
              <a:rPr lang="en-IN" b="1" dirty="0"/>
              <a:t> Hypothesis Formulation</a:t>
            </a:r>
          </a:p>
          <a:p>
            <a:endParaRPr lang="en-IN" b="1" dirty="0"/>
          </a:p>
          <a:p>
            <a:endParaRPr lang="en-IN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08D085-B353-7A5A-72B9-F115E7E6E2E5}"/>
              </a:ext>
            </a:extLst>
          </p:cNvPr>
          <p:cNvSpPr/>
          <p:nvPr/>
        </p:nvSpPr>
        <p:spPr>
          <a:xfrm>
            <a:off x="4174156" y="3240561"/>
            <a:ext cx="1972576" cy="1178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Verification, Testing &amp; Evaluation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D55AB5-4DF4-68BC-3F82-5E820E508361}"/>
              </a:ext>
            </a:extLst>
          </p:cNvPr>
          <p:cNvSpPr/>
          <p:nvPr/>
        </p:nvSpPr>
        <p:spPr>
          <a:xfrm>
            <a:off x="6787568" y="3239828"/>
            <a:ext cx="1794894" cy="1178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Agentic Processing &amp; Response Generation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3D62F4-2E9E-1945-2C45-E432C1F33A34}"/>
              </a:ext>
            </a:extLst>
          </p:cNvPr>
          <p:cNvSpPr/>
          <p:nvPr/>
        </p:nvSpPr>
        <p:spPr>
          <a:xfrm>
            <a:off x="9308663" y="3330112"/>
            <a:ext cx="1801845" cy="1178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Retrieval &amp; Evidence Selection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308361-A787-4E1F-B9A0-CA34EB0C40D0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3198735" y="1955230"/>
            <a:ext cx="89005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04CFFD-FD63-1EEE-799A-8E112023C525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096001" y="1955230"/>
            <a:ext cx="616567" cy="6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8587B1-9BF0-0D57-CE70-3CF278FF5958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8514413" y="1961852"/>
            <a:ext cx="794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B0C4984-A679-02D6-753E-C51832A40B36}"/>
              </a:ext>
            </a:extLst>
          </p:cNvPr>
          <p:cNvCxnSpPr>
            <a:cxnSpLocks/>
            <a:endCxn id="15" idx="0"/>
          </p:cNvCxnSpPr>
          <p:nvPr/>
        </p:nvCxnSpPr>
        <p:spPr>
          <a:xfrm rot="5400000">
            <a:off x="10149066" y="2368669"/>
            <a:ext cx="1021964" cy="9009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58D5947-6065-BD65-2990-7E5A285A17AA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8514412" y="3919508"/>
            <a:ext cx="7942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3935441-A58D-B431-C9CB-7602F836E172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>
            <a:off x="6146732" y="3829224"/>
            <a:ext cx="640836" cy="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73E79FE-9FD6-BA72-BFD6-615141F8B08A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flipH="1" flipV="1">
            <a:off x="3447955" y="3829223"/>
            <a:ext cx="726201" cy="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869FAAA-EBCC-8534-48E8-1C1753DB22FC}"/>
              </a:ext>
            </a:extLst>
          </p:cNvPr>
          <p:cNvSpPr txBox="1"/>
          <p:nvPr/>
        </p:nvSpPr>
        <p:spPr>
          <a:xfrm>
            <a:off x="1081492" y="4508902"/>
            <a:ext cx="1023608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 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70C0"/>
                </a:solidFill>
              </a:rPr>
              <a:t>Existing RAG systems mainly focus on retrieving relevant technical information, but relevant evidence may still support multiple possible fault causes.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70C0"/>
                </a:solidFill>
              </a:rPr>
              <a:t>A gap therefore exists in measuring </a:t>
            </a:r>
            <a:r>
              <a:rPr lang="en-IN" sz="2000" b="1" dirty="0">
                <a:solidFill>
                  <a:srgbClr val="0070C0"/>
                </a:solidFill>
              </a:rPr>
              <a:t>diagnostic identifiability</a:t>
            </a:r>
            <a:r>
              <a:rPr lang="en-IN" sz="2000" dirty="0">
                <a:solidFill>
                  <a:srgbClr val="0070C0"/>
                </a:solidFill>
              </a:rPr>
              <a:t> before recommending a specific troubleshooting 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E433592-8155-CD6F-B5E3-78AB52F31DE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55996" y="1349116"/>
                <a:ext cx="10624338" cy="254832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5583D1"/>
                    </a:solidFill>
                    <a:latin typeface="+mn-lt"/>
                  </a:rPr>
                  <a:t>Hypothesis</a:t>
                </a:r>
                <a:r>
                  <a:rPr lang="en-US" sz="2400" b="0" dirty="0">
                    <a:solidFill>
                      <a:srgbClr val="5583D1"/>
                    </a:solidFill>
                    <a:latin typeface="+mn-lt"/>
                  </a:rPr>
                  <a:t> </a:t>
                </a:r>
                <a:r>
                  <a:rPr lang="en-US" sz="2400" dirty="0">
                    <a:solidFill>
                      <a:srgbClr val="5583D1"/>
                    </a:solidFill>
                    <a:latin typeface="+mn-lt"/>
                  </a:rPr>
                  <a:t>selection</a:t>
                </a:r>
                <a:r>
                  <a:rPr lang="en-US" sz="2400" b="0" dirty="0">
                    <a:solidFill>
                      <a:srgbClr val="5583D1"/>
                    </a:solidFill>
                    <a:latin typeface="+mn-lt"/>
                  </a:rPr>
                  <a:t>: </a:t>
                </a:r>
                <a:r>
                  <a:rPr lang="en-IN" sz="2400" b="0" dirty="0"/>
                  <a:t>Correct retrieval may still leave more than one possible fault cause</a:t>
                </a:r>
                <a:r>
                  <a:rPr lang="en-IN" sz="2400" dirty="0"/>
                  <a:t>.</a:t>
                </a:r>
                <a:r>
                  <a:rPr lang="en-US" sz="2400" b="0" dirty="0">
                    <a:solidFill>
                      <a:srgbClr val="5583D1"/>
                    </a:solidFill>
                    <a:latin typeface="+mn-lt"/>
                  </a:rPr>
                  <a:t>                                                       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b="0" dirty="0">
                  <a:solidFill>
                    <a:srgbClr val="5583D1"/>
                  </a:solidFill>
                  <a:latin typeface="+mn-lt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400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pt-BR" sz="2400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pt-BR" sz="24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4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pt-BR" sz="24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)&gt;1∣ </m:t>
                      </m:r>
                      <m:r>
                        <a:rPr lang="pt-BR" sz="24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4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=1)=0</m:t>
                      </m:r>
                    </m:oMath>
                  </m:oMathPara>
                </a14:m>
                <a:endParaRPr lang="en-US" sz="2400" b="0" dirty="0">
                  <a:solidFill>
                    <a:srgbClr val="5583D1"/>
                  </a:solidFill>
                </a:endParaRP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E433592-8155-CD6F-B5E3-78AB52F31D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55996" y="1349116"/>
                <a:ext cx="10624338" cy="2548328"/>
              </a:xfrm>
              <a:blipFill>
                <a:blip r:embed="R7bd9b32490c24d51"/>
                <a:stretch>
                  <a:fillRect l="-918" t="-33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1903751" y="57036"/>
            <a:ext cx="10288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Troubleshooting Assistance Through Expert Knowledge Retrieval Techniques Using Bounded Agentic-AI</a:t>
            </a:r>
          </a:p>
          <a:p>
            <a:pPr algn="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5F4AB-F85F-3491-963B-4950F2889876}"/>
              </a:ext>
            </a:extLst>
          </p:cNvPr>
          <p:cNvSpPr txBox="1"/>
          <p:nvPr/>
        </p:nvSpPr>
        <p:spPr>
          <a:xfrm>
            <a:off x="5636301" y="29830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31A228-311B-E432-9760-35D7B47F6A10}"/>
                  </a:ext>
                </a:extLst>
              </p:cNvPr>
              <p:cNvSpPr txBox="1"/>
              <p:nvPr/>
            </p:nvSpPr>
            <p:spPr>
              <a:xfrm>
                <a:off x="4331938" y="2350365"/>
                <a:ext cx="196058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IN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)=|</m:t>
                      </m:r>
                      <m:r>
                        <a:rPr lang="en-IN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IN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</m:oMath>
                  </m:oMathPara>
                </a14:m>
                <a:endParaRPr lang="en-IN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31A228-311B-E432-9760-35D7B47F6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938" y="2350365"/>
                <a:ext cx="1960581" cy="369332"/>
              </a:xfrm>
              <a:prstGeom prst="rect">
                <a:avLst/>
              </a:prstGeom>
              <a:blipFill>
                <a:blip r:embed="Rdf009f47ed70405f"/>
                <a:stretch>
                  <a:fillRect l="-4673" r="-6231" b="-3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E18EC0-644C-B977-B7DA-9DD7057FE3DE}"/>
                  </a:ext>
                </a:extLst>
              </p:cNvPr>
              <p:cNvSpPr txBox="1"/>
              <p:nvPr/>
            </p:nvSpPr>
            <p:spPr>
              <a:xfrm>
                <a:off x="3687579" y="3260042"/>
                <a:ext cx="383929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pt-B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pt-B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)&gt;1∣ </m:t>
                      </m:r>
                      <m:r>
                        <a:rPr lang="pt-B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=1)&gt;0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E18EC0-644C-B977-B7DA-9DD7057FE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579" y="3260042"/>
                <a:ext cx="3839295" cy="369332"/>
              </a:xfrm>
              <a:prstGeom prst="rect">
                <a:avLst/>
              </a:prstGeom>
              <a:blipFill>
                <a:blip r:embed="Rfd7486f714144ded"/>
                <a:stretch>
                  <a:fillRect l="-2540" r="-2381" b="-3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410F896-A175-F9EC-5DB1-F5FD6CA1761A}"/>
              </a:ext>
            </a:extLst>
          </p:cNvPr>
          <p:cNvSpPr txBox="1"/>
          <p:nvPr/>
        </p:nvSpPr>
        <p:spPr>
          <a:xfrm>
            <a:off x="869430" y="3720947"/>
            <a:ext cx="1110771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70C0"/>
                </a:solidFill>
              </a:rPr>
              <a:t>ABB semantic retrieval + Siemens exact alarm matching.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70C0"/>
                </a:solidFill>
              </a:rPr>
              <a:t>Evidence gates, bounded Agentic AI, and deterministic verification control responses.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70C0"/>
                </a:solidFill>
              </a:rPr>
              <a:t>Diagnostic identifiability checks whether one fault is truly distinguishable before remedy selection.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CA711C-52BE-B21F-5705-AAF500AA1407}"/>
              </a:ext>
            </a:extLst>
          </p:cNvPr>
          <p:cNvSpPr txBox="1"/>
          <p:nvPr/>
        </p:nvSpPr>
        <p:spPr>
          <a:xfrm>
            <a:off x="869430" y="5336498"/>
            <a:ext cx="112576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Algorithms:</a:t>
            </a:r>
            <a:r>
              <a:rPr lang="en-IN" sz="2000" dirty="0">
                <a:solidFill>
                  <a:srgbClr val="0070C0"/>
                </a:solidFill>
              </a:rPr>
              <a:t> BGE Embeddings • Cosine Similarity • Exact Alarm Matching • Evidence Gates • Deterministic Verification</a:t>
            </a:r>
            <a:br>
              <a:rPr lang="en-IN" sz="2000" dirty="0">
                <a:solidFill>
                  <a:srgbClr val="0070C0"/>
                </a:solidFill>
              </a:rPr>
            </a:br>
            <a:r>
              <a:rPr lang="en-IN" sz="2000" b="1" dirty="0">
                <a:solidFill>
                  <a:srgbClr val="0070C0"/>
                </a:solidFill>
              </a:rPr>
              <a:t>Tools:</a:t>
            </a:r>
            <a:r>
              <a:rPr lang="en-IN" sz="2000" dirty="0">
                <a:solidFill>
                  <a:srgbClr val="0070C0"/>
                </a:solidFill>
              </a:rPr>
              <a:t> Python • </a:t>
            </a:r>
            <a:r>
              <a:rPr lang="en-IN" sz="2000" dirty="0" err="1">
                <a:solidFill>
                  <a:srgbClr val="0070C0"/>
                </a:solidFill>
              </a:rPr>
              <a:t>FastAPI</a:t>
            </a:r>
            <a:r>
              <a:rPr lang="en-IN" sz="2000" dirty="0">
                <a:solidFill>
                  <a:srgbClr val="0070C0"/>
                </a:solidFill>
              </a:rPr>
              <a:t> • </a:t>
            </a:r>
            <a:r>
              <a:rPr lang="en-IN" sz="2000" dirty="0" err="1">
                <a:solidFill>
                  <a:srgbClr val="0070C0"/>
                </a:solidFill>
              </a:rPr>
              <a:t>Pydantic</a:t>
            </a:r>
            <a:r>
              <a:rPr lang="en-IN" sz="2000" dirty="0">
                <a:solidFill>
                  <a:srgbClr val="0070C0"/>
                </a:solidFill>
              </a:rPr>
              <a:t> • NumPy/NPZ • SQLite • </a:t>
            </a:r>
            <a:r>
              <a:rPr lang="en-IN" sz="2000" dirty="0" err="1">
                <a:solidFill>
                  <a:srgbClr val="0070C0"/>
                </a:solidFill>
              </a:rPr>
              <a:t>Ollama</a:t>
            </a:r>
            <a:r>
              <a:rPr lang="en-IN" sz="2000" dirty="0">
                <a:solidFill>
                  <a:srgbClr val="0070C0"/>
                </a:solidFill>
              </a:rPr>
              <a:t> llama3.2:3b • React/Vite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904708"/>
          </a:xfrm>
        </p:spPr>
        <p:txBody>
          <a:bodyPr/>
          <a:lstStyle/>
          <a:p>
            <a:pPr lvl="0"/>
            <a:r>
              <a:rPr lang="en-US" sz="2400" b="0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IN" sz="2600" b="0" dirty="0">
                <a:latin typeface="+mn-lt"/>
              </a:rPr>
              <a:t>Correct retrieval can still leave multiple valid fault causes, creating diagnostic ambiguity. </a:t>
            </a:r>
          </a:p>
          <a:p>
            <a:pPr lvl="0"/>
            <a:r>
              <a:rPr lang="en-IN" sz="2600" b="0" dirty="0">
                <a:latin typeface="+mn-lt"/>
              </a:rPr>
              <a:t>Semantic similarity measures relevance, not whether one fault has been uniquely identified. </a:t>
            </a:r>
          </a:p>
          <a:p>
            <a:pPr lvl="0"/>
            <a:r>
              <a:rPr lang="en-IN" sz="2600" b="0" dirty="0">
                <a:latin typeface="+mn-lt"/>
              </a:rPr>
              <a:t>ABB Motor stalls demonstrates this ambiguity because several manufacturer-supported causes may match the same symptom. </a:t>
            </a:r>
          </a:p>
          <a:p>
            <a:pPr lvl="0"/>
            <a:r>
              <a:rPr lang="en-IN" sz="2600" b="0" dirty="0">
                <a:latin typeface="+mn-lt"/>
              </a:rPr>
              <a:t>Siemens Alarm 16783 was retrieved exactly from source page 341 with no semantic fallback. </a:t>
            </a:r>
          </a:p>
          <a:p>
            <a:pPr lvl="0"/>
            <a:r>
              <a:rPr lang="en-IN" sz="2600" b="0" dirty="0">
                <a:latin typeface="+mn-lt"/>
              </a:rPr>
              <a:t>The system integrates evidence gates, bounded Agentic AI, grounded synthesis, deterministic verification, with 553 regression tests PASS. </a:t>
            </a:r>
          </a:p>
          <a:p>
            <a:pPr lvl="0"/>
            <a:r>
              <a:rPr lang="en-IN" sz="2600" b="0" dirty="0">
                <a:latin typeface="+mn-lt"/>
              </a:rPr>
              <a:t>Statistical Validation: Wilcoxon Signed-Rank Test (α = 0.05) on </a:t>
            </a:r>
            <a:r>
              <a:rPr lang="en-IN" sz="2600" b="0" dirty="0" err="1">
                <a:latin typeface="+mn-lt"/>
              </a:rPr>
              <a:t>A_before</a:t>
            </a:r>
            <a:r>
              <a:rPr lang="en-IN" sz="2600" b="0" dirty="0">
                <a:latin typeface="+mn-lt"/>
              </a:rPr>
              <a:t> and </a:t>
            </a:r>
            <a:r>
              <a:rPr lang="en-IN" sz="2600" b="0" dirty="0" err="1">
                <a:latin typeface="+mn-lt"/>
              </a:rPr>
              <a:t>A_after</a:t>
            </a:r>
            <a:r>
              <a:rPr lang="en-IN" sz="2600" b="0" dirty="0">
                <a:latin typeface="+mn-lt"/>
              </a:rPr>
              <a:t> to test whether additional evidence significantly reduces diagnostic ambiguity..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6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2293495" y="57036"/>
            <a:ext cx="9898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Troubleshooting Assistance Through Expert Knowledge Retrieval Techniques Using Bounded Agentic-AI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781106" cy="4754824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Developed an end-to-end industrial troubleshooting assistant using ABB and Siemens technical manuals. </a:t>
            </a:r>
          </a:p>
          <a:p>
            <a:pPr lvl="0"/>
            <a:r>
              <a:rPr lang="en-IN" b="0" dirty="0">
                <a:latin typeface="+mn-lt"/>
              </a:rPr>
              <a:t>Integrated semantic retrieval, exact alarm matching, evidence validation, and bounded Agentic AI for controlled troubleshooting. </a:t>
            </a:r>
          </a:p>
          <a:p>
            <a:pPr lvl="0"/>
            <a:r>
              <a:rPr lang="en-IN" b="0" dirty="0">
                <a:latin typeface="+mn-lt"/>
              </a:rPr>
              <a:t>Grounded </a:t>
            </a:r>
            <a:r>
              <a:rPr lang="en-IN" b="0" dirty="0" err="1">
                <a:latin typeface="+mn-lt"/>
              </a:rPr>
              <a:t>Ollama</a:t>
            </a:r>
            <a:r>
              <a:rPr lang="en-IN" b="0" dirty="0">
                <a:latin typeface="+mn-lt"/>
              </a:rPr>
              <a:t> synthesis and deterministic verification help prevent unsupported technical responses and actions. </a:t>
            </a:r>
          </a:p>
          <a:p>
            <a:pPr lvl="0"/>
            <a:r>
              <a:rPr lang="en-IN" b="0" dirty="0">
                <a:latin typeface="+mn-lt"/>
              </a:rPr>
              <a:t>Source-page provenance improves traceability and technician confidence in the retrieved evidence. </a:t>
            </a:r>
          </a:p>
          <a:p>
            <a:pPr lvl="0"/>
            <a:r>
              <a:rPr lang="en-IN" b="0" dirty="0">
                <a:latin typeface="+mn-lt"/>
              </a:rPr>
              <a:t>The research extends beyond relevant retrieval by evaluating whether the available evidence is sufficient to reduce diagnostic ambiguity and support a justified remedy.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2278505" y="57036"/>
            <a:ext cx="9913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Troubleshooting Assistance Through Expert Knowledge Retrieval Techniques Using Bounded Agentic-AI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94085"/>
            <a:ext cx="11631204" cy="4542011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Guidance and technical support from faculty mentors throughout the project development. </a:t>
            </a:r>
          </a:p>
          <a:p>
            <a:pPr lvl="0"/>
            <a:r>
              <a:rPr lang="en-IN" b="0" dirty="0">
                <a:latin typeface="+mn-lt"/>
              </a:rPr>
              <a:t>Practical feedback from industrial reviewers and mentors on usability, reliability, and troubleshooting workflow. </a:t>
            </a:r>
          </a:p>
          <a:p>
            <a:pPr lvl="0"/>
            <a:r>
              <a:rPr lang="en-IN" b="0" dirty="0">
                <a:latin typeface="+mn-lt"/>
              </a:rPr>
              <a:t>Review feedback contributed to refining the system toward evidence-grounded troubleshooting, verification, and diagnostic reliability.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1723869" y="57036"/>
            <a:ext cx="10468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Troubleshooting Assistance Through Expert Knowledge Retrieval Techniques Using Bounded Agentic-AI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936005" cy="5189537"/>
          </a:xfrm>
        </p:spPr>
        <p:txBody>
          <a:bodyPr/>
          <a:lstStyle/>
          <a:p>
            <a:pPr lvl="0"/>
            <a:r>
              <a:rPr lang="en-IN" sz="2400" b="0" dirty="0"/>
              <a:t>Lukens et al., “An Evaluation Framework for Fault Diagnosis Using Technical Manuals in Retrieval-Augmented Large Language Models,” </a:t>
            </a:r>
            <a:r>
              <a:rPr lang="en-IN" sz="2400" b="0" i="1" dirty="0"/>
              <a:t>Annual Conference of the PHM Society</a:t>
            </a:r>
            <a:r>
              <a:rPr lang="en-IN" sz="2400" b="0" dirty="0"/>
              <a:t>, vol. 17, no. 1, 2025. - </a:t>
            </a:r>
            <a:r>
              <a:rPr lang="en-IN" sz="2400" dirty="0"/>
              <a:t>fault diagnosis using technical manuals and RAG.</a:t>
            </a:r>
          </a:p>
          <a:p>
            <a:pPr lvl="0"/>
            <a:r>
              <a:rPr lang="en-IN" sz="2400" b="0" dirty="0"/>
              <a:t>D. Ru et al., “</a:t>
            </a:r>
            <a:r>
              <a:rPr lang="en-IN" sz="2400" b="0" dirty="0" err="1"/>
              <a:t>RAGChecker</a:t>
            </a:r>
            <a:r>
              <a:rPr lang="en-IN" sz="2400" b="0" dirty="0"/>
              <a:t>: A Fine-grained Framework for Diagnosing Retrieval-Augmented Generation,” </a:t>
            </a:r>
            <a:r>
              <a:rPr lang="en-IN" sz="2400" b="0" i="1" dirty="0"/>
              <a:t>Advances in Neural Information Processing Systems (</a:t>
            </a:r>
            <a:r>
              <a:rPr lang="en-IN" sz="2400" b="0" i="1" dirty="0" err="1"/>
              <a:t>NeurIPS</a:t>
            </a:r>
            <a:r>
              <a:rPr lang="en-IN" sz="2400" b="0" i="1" dirty="0"/>
              <a:t>)</a:t>
            </a:r>
            <a:r>
              <a:rPr lang="en-IN" sz="2400" b="0" dirty="0"/>
              <a:t>, vol. 37, 2024. </a:t>
            </a:r>
            <a:r>
              <a:rPr lang="en-IN" sz="2400" b="0" dirty="0" err="1">
                <a:hlinkClick r:id="rcId86055840ae8e40b5"/>
              </a:rPr>
              <a:t>NeurIPS</a:t>
            </a:r>
            <a:r>
              <a:rPr lang="en-IN" sz="2400" b="0" dirty="0">
                <a:hlinkClick r:id="rcId86055840ae8e40b5"/>
              </a:rPr>
              <a:t> Proceedings</a:t>
            </a:r>
            <a:r>
              <a:rPr lang="en-IN" sz="2400" b="0" dirty="0"/>
              <a:t> - </a:t>
            </a:r>
            <a:r>
              <a:rPr lang="en-IN" sz="2400" dirty="0"/>
              <a:t>fine-grained retrieval/generation evaluation.</a:t>
            </a:r>
            <a:endParaRPr lang="en-IN" sz="2400" b="0" dirty="0"/>
          </a:p>
          <a:p>
            <a:pPr lvl="0"/>
            <a:r>
              <a:rPr lang="en-IN" sz="2400" b="0" dirty="0"/>
              <a:t>S. Es et al., “RAGAs: Automated Evaluation of Retrieval Augmented Generation,” </a:t>
            </a:r>
            <a:r>
              <a:rPr lang="en-IN" sz="2400" b="0" i="1" dirty="0"/>
              <a:t>EACL System Demonstrations</a:t>
            </a:r>
            <a:r>
              <a:rPr lang="en-IN" sz="2400" b="0" dirty="0"/>
              <a:t>, pp. 150–158, 2024. - </a:t>
            </a:r>
            <a:r>
              <a:rPr lang="en-IN" sz="2400" dirty="0"/>
              <a:t>industrial troubleshooting and causal technical-language processing.</a:t>
            </a:r>
            <a:endParaRPr lang="en-IN" sz="2400" b="0" dirty="0"/>
          </a:p>
          <a:p>
            <a:pPr lvl="0"/>
            <a:r>
              <a:rPr lang="en-IN" sz="2400" b="0" dirty="0"/>
              <a:t>A. Trilla et al., “Industrial-Grade Smart Troubleshooting Through Causal Technical Language Processing: A Proof of Concept,” .</a:t>
            </a:r>
          </a:p>
          <a:p>
            <a:pPr lvl="0"/>
            <a:r>
              <a:rPr lang="en-IN" sz="2400" b="0" dirty="0"/>
              <a:t>Y. Fukui et al., “Evaluation of a Retrieval-Augmented Generation System Using a Japanese Institutional Nuclear Medicine Manual and Large Language Model-Automated Scoring,” </a:t>
            </a:r>
            <a:r>
              <a:rPr lang="en-IN" sz="2400" b="0" i="1" dirty="0"/>
              <a:t>Radiological Physics and Technology</a:t>
            </a:r>
            <a:r>
              <a:rPr lang="en-IN" sz="2400" b="0" dirty="0"/>
              <a:t>, vol. 18, no. 3, pp. 861–876, 2025.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2248525" y="57036"/>
            <a:ext cx="9943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Troubleshooting Assistance Through Expert Knowledge Retrieval Techniques Using Bounded Agentic-AI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rgbClr val="FFFFFF"/>
                </a:solidFill>
              </a:rPr>
              <a:t>Construction Operations Planning and Resource Allocation Using Agentic AI</a:t>
            </a:r>
            <a:endParaRPr lang="en-GB" sz="3600" b="1" dirty="0">
              <a:solidFill>
                <a:srgbClr val="FFFFFF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sz="3600" b="1" dirty="0">
              <a:solidFill>
                <a:srgbClr val="FFFFFF"/>
              </a:solidFill>
            </a:endParaRPr>
          </a:p>
          <a:p>
            <a:pPr lvl="0" algn="ctr">
              <a:defRPr/>
            </a:pPr>
            <a:r>
              <a:rPr sz="3600" b="1" dirty="0" err="1">
                <a:solidFill>
                  <a:srgbClr val="FFFFFF"/>
                </a:solidFill>
              </a:rPr>
              <a:t>Aravindkumaran</a:t>
            </a:r>
            <a:r>
              <a:rPr sz="3600" b="1" dirty="0">
                <a:solidFill>
                  <a:srgbClr val="FFFFFF"/>
                </a:solidFill>
              </a:rPr>
              <a:t> R</a:t>
            </a:r>
            <a:br>
              <a:rPr sz="3600" b="1" dirty="0">
                <a:solidFill>
                  <a:srgbClr val="FFFFFF"/>
                </a:solidFill>
              </a:rPr>
            </a:br>
            <a:r>
              <a:rPr sz="3600" b="1" dirty="0">
                <a:solidFill>
                  <a:srgbClr val="FFFFFF"/>
                </a:solidFill>
              </a:rPr>
              <a:t>T9977</a:t>
            </a:r>
            <a:br>
              <a:rPr sz="3600" b="1" dirty="0">
                <a:solidFill>
                  <a:srgbClr val="FFFFFF"/>
                </a:solidFill>
              </a:rPr>
            </a:br>
            <a:r>
              <a:rPr sz="3600" b="1" dirty="0">
                <a:solidFill>
                  <a:srgbClr val="FFFFFF"/>
                </a:solidFill>
              </a:rPr>
              <a:t>REC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3f5e790dcef0421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14b5def3a8914629">
            <a:extLst>
              <a:ext uri="{BEBA8EAE-BF5A-486C-A8C5-ECC9F3942E4B}">
                <a14:imgProps xmlns:a14="http://schemas.microsoft.com/office/drawing/2010/main">
                  <a14:imgLayer r:embed="R683b6be94a4f4d1e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69037"/>
            <a:ext cx="11936004" cy="4362137"/>
          </a:xfrm>
        </p:spPr>
        <p:txBody>
          <a:bodyPr/>
          <a:lstStyle/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Construction projects require coordinated planning of activities, workers, equipment and materials.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Manual resource allocation can create clashes, idle time, cost overrun and execution delays.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Agentic AI can divide planning decisions across task, resource, cost and risk agents.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The application supports site engineers and project coordinators with structured planning assistance.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It produces schedule guidance, resource allocation, conflict alerts and delay-risk indications.</a:t>
            </a:r>
          </a:p>
          <a:p>
            <a:pPr marL="0" indent="0">
              <a:buNone/>
            </a:pPr>
            <a:endParaRPr lang="en-IN" b="0" dirty="0">
              <a:solidFill>
                <a:srgbClr val="30BBDA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30BBDA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Introduction</a:t>
            </a:r>
            <a:r>
              <a:rPr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038663" y="57036"/>
            <a:ext cx="10153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t>Construction Operations Planning and Resource Allocation Using Agentic 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484029"/>
            <a:ext cx="11361381" cy="4182201"/>
          </a:xfrm>
        </p:spPr>
        <p:txBody>
          <a:bodyPr/>
          <a:lstStyle/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Prepare construction activity schedules from task, duration and dependency inputs.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Allocate </a:t>
            </a:r>
            <a:r>
              <a:rPr b="0" dirty="0" err="1">
                <a:solidFill>
                  <a:srgbClr val="30BBDA"/>
                </a:solidFill>
                <a:latin typeface="+mn-lt"/>
              </a:rPr>
              <a:t>labour</a:t>
            </a:r>
            <a:r>
              <a:rPr b="0" dirty="0">
                <a:solidFill>
                  <a:srgbClr val="30BBDA"/>
                </a:solidFill>
                <a:latin typeface="+mn-lt"/>
              </a:rPr>
              <a:t>, equipment and materials based on availability, priority and constraints.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Detect resource conflicts, overloads and possible project delays before execution.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Coordinate planning decisions using bounded Agentic AI agents.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Generate clear allocation recommendations for project managers and site teams.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30BBDA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Objective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263515" y="57036"/>
            <a:ext cx="9928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t>Construction Operations Planning and Resource Allocation Using Agentic 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Project Input and Activity Manager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Task Dependency Planning Module</a:t>
            </a:r>
          </a:p>
          <a:p>
            <a:pPr lvl="0"/>
            <a:r>
              <a:rPr b="0" dirty="0" err="1">
                <a:solidFill>
                  <a:srgbClr val="30BBDA"/>
                </a:solidFill>
                <a:latin typeface="+mn-lt"/>
              </a:rPr>
              <a:t>Labour</a:t>
            </a:r>
            <a:r>
              <a:rPr b="0" dirty="0">
                <a:solidFill>
                  <a:srgbClr val="30BBDA"/>
                </a:solidFill>
                <a:latin typeface="+mn-lt"/>
              </a:rPr>
              <a:t> Allocation Module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Equipment Allocation Module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Material Requirement Module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Cost and Budget Tracking Module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Delay and Risk Analysis Module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Agentic Coordination Controller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Planning Dashboard and Reports</a:t>
            </a:r>
          </a:p>
          <a:p>
            <a:pPr marL="0" indent="0">
              <a:buNone/>
            </a:pPr>
            <a:endParaRPr lang="en-US" sz="2400" b="0" i="0" dirty="0">
              <a:solidFill>
                <a:srgbClr val="30BBDA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lvl="1"/>
            <a:endParaRPr lang="en-US" dirty="0">
              <a:solidFill>
                <a:srgbClr val="30BBD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 name 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2203555" y="57036"/>
            <a:ext cx="998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t>Construction Operations Planning and Resource Allocation Using Agentic 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379095"/>
            <a:ext cx="10971637" cy="4392114"/>
          </a:xfrm>
        </p:spPr>
        <p:txBody>
          <a:bodyPr/>
          <a:lstStyle/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Construction projects involve many interdependent tasks and shared resources.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Manual planning often fails to reflect daily site changes and resource availability.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Poor allocation of workers, equipment or materials can increase cost and delay.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Existing tools may show schedules but provide limited support for conflict handling.</a:t>
            </a:r>
          </a:p>
          <a:p>
            <a:pPr lvl="0"/>
            <a:r>
              <a:rPr b="0" dirty="0">
                <a:solidFill>
                  <a:srgbClr val="30BBDA"/>
                </a:solidFill>
                <a:latin typeface="+mn-lt"/>
              </a:rPr>
              <a:t>A practical system is needed to assist planning, allocation and delay prevention.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30BBDA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2188565" y="57036"/>
            <a:ext cx="10003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t>Construction Operations Planning and Resource Allocation Using Agentic 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50000"/>
                  </a:schemeClr>
                </a:solidFill>
              </a:rPr>
              <a:t>System Workflow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2113613" y="57036"/>
            <a:ext cx="1007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t>Construction Operations Planning and Resource Allocation Using Agentic AI</a:t>
            </a:r>
          </a:p>
          <a:p>
            <a:pPr algn="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5EF448-DE62-60E9-0B71-B5673F002CD7}"/>
              </a:ext>
            </a:extLst>
          </p:cNvPr>
          <p:cNvSpPr/>
          <p:nvPr/>
        </p:nvSpPr>
        <p:spPr>
          <a:xfrm>
            <a:off x="1375159" y="1355480"/>
            <a:ext cx="1823576" cy="11995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Project Requirement Input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25596E-A78E-6D45-D2B9-765F2C0136B7}"/>
              </a:ext>
            </a:extLst>
          </p:cNvPr>
          <p:cNvSpPr/>
          <p:nvPr/>
        </p:nvSpPr>
        <p:spPr>
          <a:xfrm>
            <a:off x="4088792" y="1355476"/>
            <a:ext cx="2007209" cy="1199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Activity Breakdown &amp; Dependency Mapping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F47383-1B3D-1955-0AC6-2CD6E2219C86}"/>
              </a:ext>
            </a:extLst>
          </p:cNvPr>
          <p:cNvSpPr/>
          <p:nvPr/>
        </p:nvSpPr>
        <p:spPr>
          <a:xfrm>
            <a:off x="6712568" y="1383177"/>
            <a:ext cx="1801845" cy="1157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Resource Availability Collection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CF2B82-1270-2AEA-2DD8-414885EFB374}"/>
              </a:ext>
            </a:extLst>
          </p:cNvPr>
          <p:cNvSpPr/>
          <p:nvPr/>
        </p:nvSpPr>
        <p:spPr>
          <a:xfrm>
            <a:off x="9308663" y="1372456"/>
            <a:ext cx="1801845" cy="1178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Priority &amp; Constraint Setting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9592E8-9370-7856-A2AD-CFA77380C006}"/>
              </a:ext>
            </a:extLst>
          </p:cNvPr>
          <p:cNvSpPr/>
          <p:nvPr/>
        </p:nvSpPr>
        <p:spPr>
          <a:xfrm>
            <a:off x="1624379" y="3240185"/>
            <a:ext cx="1823576" cy="11780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  <a:p>
            <a:endParaRPr lang="en-IN" dirty="0"/>
          </a:p>
          <a:p>
            <a:endParaRPr lang="en-IN" dirty="0"/>
          </a:p>
          <a:p>
            <a:r>
              <a:rPr dirty="0"/>
              <a:t>Agentic Planning Coordination</a:t>
            </a:r>
          </a:p>
          <a:p>
            <a:endParaRPr dirty="0"/>
          </a:p>
          <a:p>
            <a:endParaRPr lang="en-IN" b="1" dirty="0"/>
          </a:p>
          <a:p>
            <a:endParaRPr lang="en-IN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08D085-B353-7A5A-72B9-F115E7E6E2E5}"/>
              </a:ext>
            </a:extLst>
          </p:cNvPr>
          <p:cNvSpPr/>
          <p:nvPr/>
        </p:nvSpPr>
        <p:spPr>
          <a:xfrm>
            <a:off x="4174156" y="3240561"/>
            <a:ext cx="1972576" cy="1178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Conflict &amp; Delay Analysis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D55AB5-4DF4-68BC-3F82-5E820E508361}"/>
              </a:ext>
            </a:extLst>
          </p:cNvPr>
          <p:cNvSpPr/>
          <p:nvPr/>
        </p:nvSpPr>
        <p:spPr>
          <a:xfrm>
            <a:off x="6787568" y="3239828"/>
            <a:ext cx="1794894" cy="1178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Allocation Recommendation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3D62F4-2E9E-1945-2C45-E432C1F33A34}"/>
              </a:ext>
            </a:extLst>
          </p:cNvPr>
          <p:cNvSpPr/>
          <p:nvPr/>
        </p:nvSpPr>
        <p:spPr>
          <a:xfrm>
            <a:off x="9308663" y="3330112"/>
            <a:ext cx="1801845" cy="1178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Dashboard &amp; Report Generation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308361-A787-4E1F-B9A0-CA34EB0C40D0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3198735" y="1955230"/>
            <a:ext cx="89005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04CFFD-FD63-1EEE-799A-8E112023C525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096001" y="1955230"/>
            <a:ext cx="616567" cy="6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8587B1-9BF0-0D57-CE70-3CF278FF5958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8514413" y="1961852"/>
            <a:ext cx="794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B0C4984-A679-02D6-753E-C51832A40B36}"/>
              </a:ext>
            </a:extLst>
          </p:cNvPr>
          <p:cNvCxnSpPr>
            <a:cxnSpLocks/>
            <a:endCxn id="15" idx="0"/>
          </p:cNvCxnSpPr>
          <p:nvPr/>
        </p:nvCxnSpPr>
        <p:spPr>
          <a:xfrm rot="5400000">
            <a:off x="10149066" y="2368669"/>
            <a:ext cx="1021964" cy="9009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58D5947-6065-BD65-2990-7E5A285A17AA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8514412" y="3919508"/>
            <a:ext cx="7942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3935441-A58D-B431-C9CB-7602F836E172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>
            <a:off x="6146732" y="3829224"/>
            <a:ext cx="640836" cy="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73E79FE-9FD6-BA72-BFD6-615141F8B08A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flipH="1" flipV="1">
            <a:off x="3447955" y="3829223"/>
            <a:ext cx="726201" cy="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869FAAA-EBCC-8534-48E8-1C1753DB22FC}"/>
              </a:ext>
            </a:extLst>
          </p:cNvPr>
          <p:cNvSpPr txBox="1"/>
          <p:nvPr/>
        </p:nvSpPr>
        <p:spPr>
          <a:xfrm>
            <a:off x="1081492" y="4508902"/>
            <a:ext cx="1023608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sz="2400" dirty="0">
                <a:solidFill>
                  <a:srgbClr val="30BBDA"/>
                </a:solidFill>
              </a:rPr>
              <a:t>The application converts construction task data into an agent-assisted planning workflow.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30BBDA"/>
                </a:solidFill>
              </a:rPr>
              <a:t>Each agent handles a specific planning concern and the coordinator prepares the final resource allocation plan.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1903751" y="57036"/>
            <a:ext cx="10288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t>Construction Operations Planning and Resource Allocation Using Agentic AI</a:t>
            </a:r>
          </a:p>
          <a:p>
            <a:pPr algn="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5F4AB-F85F-3491-963B-4950F2889876}"/>
              </a:ext>
            </a:extLst>
          </p:cNvPr>
          <p:cNvSpPr txBox="1"/>
          <p:nvPr/>
        </p:nvSpPr>
        <p:spPr>
          <a:xfrm>
            <a:off x="5636301" y="29830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10F896-A175-F9EC-5DB1-F5FD6CA1761A}"/>
              </a:ext>
            </a:extLst>
          </p:cNvPr>
          <p:cNvSpPr txBox="1"/>
          <p:nvPr/>
        </p:nvSpPr>
        <p:spPr>
          <a:xfrm>
            <a:off x="314927" y="3268215"/>
            <a:ext cx="116622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4A8E4"/>
                </a:solidFill>
              </a:rPr>
              <a:t>Rule-based scheduling with dependency and resource-availability checks.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4A8E4"/>
                </a:solidFill>
              </a:rPr>
              <a:t>Agentic AI controller separates task planning, resource allocation, cost and risk analysis.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4A8E4"/>
                </a:solidFill>
              </a:rPr>
              <a:t>Final recommendations focus on usable schedules, conflicts and alternative allocations.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CA711C-52BE-B21F-5705-AAF500AA1407}"/>
              </a:ext>
            </a:extLst>
          </p:cNvPr>
          <p:cNvSpPr txBox="1"/>
          <p:nvPr/>
        </p:nvSpPr>
        <p:spPr>
          <a:xfrm>
            <a:off x="464828" y="4753718"/>
            <a:ext cx="116622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 dirty="0">
                <a:solidFill>
                  <a:srgbClr val="30BBDA"/>
                </a:solidFill>
              </a:rPr>
              <a:t>Algorithms: CPM-style sequencing • Priority Rules • Constraint Checking • Resource Leveling • Agent Coordination</a:t>
            </a:r>
            <a:br>
              <a:rPr sz="2400" dirty="0">
                <a:solidFill>
                  <a:srgbClr val="30BBDA"/>
                </a:solidFill>
              </a:rPr>
            </a:br>
            <a:r>
              <a:rPr sz="2400" dirty="0">
                <a:solidFill>
                  <a:srgbClr val="30BBDA"/>
                </a:solidFill>
              </a:rPr>
              <a:t>Tools: Python • </a:t>
            </a:r>
            <a:r>
              <a:rPr sz="2400" dirty="0" err="1">
                <a:solidFill>
                  <a:srgbClr val="30BBDA"/>
                </a:solidFill>
              </a:rPr>
              <a:t>FastAPI</a:t>
            </a:r>
            <a:r>
              <a:rPr sz="2400" dirty="0">
                <a:solidFill>
                  <a:srgbClr val="30BBDA"/>
                </a:solidFill>
              </a:rPr>
              <a:t> • React/Vite • SQLite • Pandas/NumPy • Local LLM/</a:t>
            </a:r>
            <a:r>
              <a:rPr sz="2400" dirty="0" err="1">
                <a:solidFill>
                  <a:srgbClr val="30BBDA"/>
                </a:solidFill>
              </a:rPr>
              <a:t>Ollama</a:t>
            </a:r>
            <a:r>
              <a:rPr sz="2400" dirty="0">
                <a:solidFill>
                  <a:srgbClr val="30BBDA"/>
                </a:solidFill>
              </a:rPr>
              <a:t> </a:t>
            </a:r>
            <a:endParaRPr lang="en-GB" sz="2400" dirty="0">
              <a:solidFill>
                <a:srgbClr val="30BBDA"/>
              </a:solidFill>
            </a:endParaRPr>
          </a:p>
          <a:p>
            <a:r>
              <a:rPr lang="en-IN" sz="2400" dirty="0">
                <a:solidFill>
                  <a:srgbClr val="30BBDA"/>
                </a:solidFill>
              </a:rPr>
              <a:t>                         </a:t>
            </a:r>
            <a:r>
              <a:rPr sz="2400" dirty="0">
                <a:solidFill>
                  <a:srgbClr val="30BBDA"/>
                </a:solidFill>
              </a:rPr>
              <a:t>• </a:t>
            </a:r>
            <a:r>
              <a:rPr lang="en-GB" sz="2400" dirty="0">
                <a:solidFill>
                  <a:srgbClr val="30BBDA"/>
                </a:solidFill>
              </a:rPr>
              <a:t>   </a:t>
            </a:r>
            <a:r>
              <a:rPr sz="2400" dirty="0">
                <a:solidFill>
                  <a:srgbClr val="30BBDA"/>
                </a:solidFill>
              </a:rPr>
              <a:t>Dashboard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417320"/>
            <a:ext cx="1024128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rPr dirty="0">
                <a:solidFill>
                  <a:srgbClr val="30BBDA"/>
                </a:solidFill>
              </a:rPr>
              <a:t>Application focus: Convert task, resource and dependency inputs into a feasible construction allocation plan.</a:t>
            </a:r>
          </a:p>
          <a:p>
            <a:pPr>
              <a:defRPr sz="2200" b="0">
                <a:solidFill>
                  <a:srgbClr val="0070C0"/>
                </a:solidFill>
              </a:defRPr>
            </a:pPr>
            <a:r>
              <a:rPr dirty="0">
                <a:solidFill>
                  <a:srgbClr val="30BBDA"/>
                </a:solidFill>
              </a:rPr>
              <a:t>Decision flow: plan tasks → check resources → detect conflicts → recommend allocation.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768839"/>
            <a:ext cx="11936004" cy="4407088"/>
          </a:xfrm>
        </p:spPr>
        <p:txBody>
          <a:bodyPr/>
          <a:lstStyle/>
          <a:p>
            <a:pPr lvl="0"/>
            <a:r>
              <a:rPr b="0" dirty="0">
                <a:solidFill>
                  <a:srgbClr val="30BBDA"/>
                </a:solidFill>
              </a:rPr>
              <a:t>Construction activity schedule with task order and dependencies.</a:t>
            </a:r>
          </a:p>
          <a:p>
            <a:pPr lvl="0"/>
            <a:r>
              <a:rPr b="0" dirty="0" err="1">
                <a:solidFill>
                  <a:srgbClr val="30BBDA"/>
                </a:solidFill>
              </a:rPr>
              <a:t>Labour</a:t>
            </a:r>
            <a:r>
              <a:rPr b="0" dirty="0">
                <a:solidFill>
                  <a:srgbClr val="30BBDA"/>
                </a:solidFill>
              </a:rPr>
              <a:t>, equipment and material allocation for each activity.</a:t>
            </a:r>
          </a:p>
          <a:p>
            <a:pPr lvl="0"/>
            <a:r>
              <a:rPr b="0" dirty="0">
                <a:solidFill>
                  <a:srgbClr val="30BBDA"/>
                </a:solidFill>
              </a:rPr>
              <a:t>Conflict alerts for unavailable or overused resources.</a:t>
            </a:r>
          </a:p>
          <a:p>
            <a:pPr lvl="0"/>
            <a:r>
              <a:rPr b="0" dirty="0">
                <a:solidFill>
                  <a:srgbClr val="30BBDA"/>
                </a:solidFill>
              </a:rPr>
              <a:t>Delay-risk indication based on dependency and resource constraints.</a:t>
            </a:r>
          </a:p>
          <a:p>
            <a:pPr lvl="0"/>
            <a:r>
              <a:rPr b="0" dirty="0">
                <a:solidFill>
                  <a:srgbClr val="30BBDA"/>
                </a:solidFill>
              </a:rPr>
              <a:t>Alternative allocation suggestions for high-priority tasks.</a:t>
            </a:r>
          </a:p>
          <a:p>
            <a:pPr lvl="0"/>
            <a:r>
              <a:rPr b="0" dirty="0">
                <a:solidFill>
                  <a:srgbClr val="30BBDA"/>
                </a:solidFill>
              </a:rPr>
              <a:t>Summary dashboard for project manager review.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6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50000"/>
                  </a:schemeClr>
                </a:solidFill>
              </a:rPr>
              <a:t>Application Outputs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2293495" y="57036"/>
            <a:ext cx="9898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t>Construction Operations Planning and Resource Allocation Using Agentic 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94385"/>
            <a:ext cx="11781106" cy="4431658"/>
          </a:xfrm>
        </p:spPr>
        <p:txBody>
          <a:bodyPr/>
          <a:lstStyle/>
          <a:p>
            <a:pPr lvl="0"/>
            <a:r>
              <a:rPr b="0" dirty="0">
                <a:solidFill>
                  <a:srgbClr val="30BBDA"/>
                </a:solidFill>
              </a:rPr>
              <a:t>The project presents an Agentic AI-based application for construction planning support.</a:t>
            </a:r>
          </a:p>
          <a:p>
            <a:pPr lvl="0"/>
            <a:r>
              <a:rPr b="0" dirty="0">
                <a:solidFill>
                  <a:srgbClr val="30BBDA"/>
                </a:solidFill>
              </a:rPr>
              <a:t>Separate agents improve clarity in scheduling, resource allocation and risk checking.</a:t>
            </a:r>
          </a:p>
          <a:p>
            <a:pPr lvl="0"/>
            <a:r>
              <a:rPr b="0" dirty="0">
                <a:solidFill>
                  <a:srgbClr val="30BBDA"/>
                </a:solidFill>
              </a:rPr>
              <a:t>The system helps reduce manual planning effort and supports faster decisions.</a:t>
            </a:r>
          </a:p>
          <a:p>
            <a:pPr lvl="0"/>
            <a:r>
              <a:rPr b="0" dirty="0">
                <a:solidFill>
                  <a:srgbClr val="30BBDA"/>
                </a:solidFill>
              </a:rPr>
              <a:t>Resource conflicts and delay risks can be highlighted before execution.</a:t>
            </a:r>
          </a:p>
          <a:p>
            <a:pPr lvl="0"/>
            <a:r>
              <a:rPr b="0" dirty="0">
                <a:solidFill>
                  <a:srgbClr val="30BBDA"/>
                </a:solidFill>
              </a:rPr>
              <a:t>The application can be extended with real site data, progress tracking and optimization.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30BBD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lang="en-US" sz="3600" b="1" dirty="0">
              <a:solidFill>
                <a:srgbClr val="5B9BD5">
                  <a:lumMod val="50000"/>
                </a:srgb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2278505" y="57036"/>
            <a:ext cx="9913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t>Construction Operations Planning and Resource Allocation Using Agentic 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94085"/>
            <a:ext cx="11631204" cy="4542011"/>
          </a:xfrm>
        </p:spPr>
        <p:txBody>
          <a:bodyPr/>
          <a:lstStyle/>
          <a:p>
            <a:r>
              <a:rPr lang="en-IN" b="0" dirty="0">
                <a:solidFill>
                  <a:srgbClr val="30BBDA"/>
                </a:solidFill>
              </a:rPr>
              <a:t>Guidance and technical support from faculty mentors throughout the project development. </a:t>
            </a:r>
          </a:p>
          <a:p>
            <a:r>
              <a:rPr lang="en-IN" b="0" dirty="0">
                <a:solidFill>
                  <a:srgbClr val="30BBDA"/>
                </a:solidFill>
              </a:rPr>
              <a:t>Practical feedback from industrial reviewers and mentors on usability, reliability, and troubleshooting workflow. </a:t>
            </a:r>
          </a:p>
          <a:p>
            <a:r>
              <a:rPr lang="en-IN" b="0" dirty="0">
                <a:solidFill>
                  <a:srgbClr val="30BBDA"/>
                </a:solidFill>
              </a:rPr>
              <a:t>Review feedback contributed to refining the system toward evidence-grounded troubleshooting, verification, and diagnostic reliability.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lang="en-US" sz="3600" b="1" dirty="0">
              <a:solidFill>
                <a:srgbClr val="5B9BD5">
                  <a:lumMod val="50000"/>
                </a:srgbClr>
              </a:solidFill>
            </a:endParaRP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1723869" y="57036"/>
            <a:ext cx="10468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t>Construction Operations Planning and Resource Allocation Using Agentic 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936005" cy="5189537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rgbClr val="30BBDA"/>
                </a:solidFill>
              </a:rPr>
              <a:t>M. Sepehri, “Autonomous Multi-Agent Coordination for Dynamic Construction Project Scheduling Under Resource Constraints and Environmental Uncertainties,” </a:t>
            </a:r>
            <a:r>
              <a:rPr lang="en-IN" sz="2400" b="0" i="1" dirty="0">
                <a:solidFill>
                  <a:srgbClr val="30BBDA"/>
                </a:solidFill>
              </a:rPr>
              <a:t>Advances in Civil Engineering</a:t>
            </a:r>
            <a:r>
              <a:rPr lang="en-IN" sz="2400" b="0" dirty="0">
                <a:solidFill>
                  <a:srgbClr val="30BBDA"/>
                </a:solidFill>
              </a:rPr>
              <a:t>, 2026. </a:t>
            </a:r>
            <a:r>
              <a:rPr lang="en-IN" sz="2400" b="0" dirty="0">
                <a:solidFill>
                  <a:srgbClr val="30BBDA"/>
                </a:solidFill>
                <a:hlinkClick r:id="rcIda9cc5cab5269499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Wiley Online Library</a:t>
            </a:r>
            <a:r>
              <a:rPr lang="en-IN" sz="2400" b="0" dirty="0">
                <a:solidFill>
                  <a:srgbClr val="30BBDA"/>
                </a:solidFill>
              </a:rPr>
              <a:t> </a:t>
            </a:r>
          </a:p>
          <a:p>
            <a:pPr lvl="0"/>
            <a:r>
              <a:rPr lang="en-IN" sz="2400" b="0" dirty="0">
                <a:solidFill>
                  <a:srgbClr val="30BBDA"/>
                </a:solidFill>
              </a:rPr>
              <a:t>B. Yang et al., “Multi-Agent Reinforcement Learning-Enhanced Decision-Making of Crew Agents in Floor Construction Processes,” </a:t>
            </a:r>
            <a:r>
              <a:rPr lang="en-IN" sz="2400" b="0" i="1" dirty="0">
                <a:solidFill>
                  <a:srgbClr val="30BBDA"/>
                </a:solidFill>
              </a:rPr>
              <a:t>Advanced Engineering Informatics</a:t>
            </a:r>
            <a:r>
              <a:rPr lang="en-IN" sz="2400" b="0" dirty="0">
                <a:solidFill>
                  <a:srgbClr val="30BBDA"/>
                </a:solidFill>
              </a:rPr>
              <a:t>, 2026. </a:t>
            </a:r>
            <a:r>
              <a:rPr lang="en-IN" sz="2400" b="0" dirty="0">
                <a:solidFill>
                  <a:srgbClr val="30BBDA"/>
                </a:solidFill>
                <a:hlinkClick r:id="rcId2a738aedf6494df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ScienceDirect</a:t>
            </a:r>
            <a:r>
              <a:rPr lang="en-IN" sz="2400" b="0" dirty="0">
                <a:solidFill>
                  <a:srgbClr val="30BBDA"/>
                </a:solidFill>
              </a:rPr>
              <a:t> </a:t>
            </a:r>
          </a:p>
          <a:p>
            <a:pPr lvl="0"/>
            <a:r>
              <a:rPr lang="en-IN" sz="2400" b="0" dirty="0">
                <a:solidFill>
                  <a:srgbClr val="30BBDA"/>
                </a:solidFill>
              </a:rPr>
              <a:t>K. Speiser et al., “Agentic System for Construction Safety Risk Assessments Using Large Language Models and Knowledge Graphs,” </a:t>
            </a:r>
            <a:r>
              <a:rPr lang="en-IN" sz="2400" b="0" i="1" dirty="0">
                <a:solidFill>
                  <a:srgbClr val="30BBDA"/>
                </a:solidFill>
              </a:rPr>
              <a:t>Advanced Engineering Informatics</a:t>
            </a:r>
            <a:r>
              <a:rPr lang="en-IN" sz="2400" b="0" dirty="0">
                <a:solidFill>
                  <a:srgbClr val="30BBDA"/>
                </a:solidFill>
              </a:rPr>
              <a:t>, 2026. </a:t>
            </a:r>
            <a:r>
              <a:rPr lang="en-IN" sz="2400" b="0" dirty="0">
                <a:solidFill>
                  <a:srgbClr val="30BBDA"/>
                </a:solidFill>
                <a:hlinkClick r:id="rcId761c2b0416384c3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r>
              <a:rPr lang="en-IN" sz="2400" b="0" dirty="0">
                <a:solidFill>
                  <a:srgbClr val="30BBDA"/>
                </a:solidFill>
              </a:rPr>
              <a:t> </a:t>
            </a:r>
          </a:p>
          <a:p>
            <a:pPr lvl="0"/>
            <a:r>
              <a:rPr lang="en-IN" sz="2400" b="0" dirty="0">
                <a:solidFill>
                  <a:srgbClr val="30BBDA"/>
                </a:solidFill>
              </a:rPr>
              <a:t>S. Jiang, B. Yang, and B. Liu, “Precast Components On-Site Construction Planning and Scheduling Method Based on a Novel Deep Learning Integrated Multi-Agent System,” </a:t>
            </a:r>
            <a:r>
              <a:rPr lang="en-IN" sz="2400" b="0" i="1" dirty="0">
                <a:solidFill>
                  <a:srgbClr val="30BBDA"/>
                </a:solidFill>
              </a:rPr>
              <a:t>Journal of Building Engineering</a:t>
            </a:r>
            <a:r>
              <a:rPr lang="en-IN" sz="2400" b="0" dirty="0">
                <a:solidFill>
                  <a:srgbClr val="30BBDA"/>
                </a:solidFill>
              </a:rPr>
              <a:t>, 2025. </a:t>
            </a:r>
            <a:r>
              <a:rPr lang="en-IN" sz="2400" b="0" dirty="0">
                <a:solidFill>
                  <a:srgbClr val="30BBDA"/>
                </a:solidFill>
                <a:hlinkClick r:id="rcIde0f7d18b01ff40f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ScienceDirect</a:t>
            </a:r>
            <a:r>
              <a:rPr lang="en-IN" sz="2400" b="0" dirty="0">
                <a:solidFill>
                  <a:srgbClr val="30BBDA"/>
                </a:solidFill>
              </a:rPr>
              <a:t> </a:t>
            </a:r>
          </a:p>
          <a:p>
            <a:pPr lvl="0"/>
            <a:r>
              <a:rPr lang="en-IN" sz="2400" b="0" dirty="0">
                <a:solidFill>
                  <a:srgbClr val="30BBDA"/>
                </a:solidFill>
              </a:rPr>
              <a:t>Y. Wang, J. Wang, and Z. Chu, “Multi-Agent Large Language Models as Evolutionary Optimizers for Scheduling Optimization,” </a:t>
            </a:r>
            <a:r>
              <a:rPr lang="en-IN" sz="2400" b="0" i="1" dirty="0">
                <a:solidFill>
                  <a:srgbClr val="30BBDA"/>
                </a:solidFill>
              </a:rPr>
              <a:t>Computers &amp; Industrial Engineering</a:t>
            </a:r>
            <a:r>
              <a:rPr lang="en-IN" sz="2400" b="0" dirty="0">
                <a:solidFill>
                  <a:srgbClr val="30BBDA"/>
                </a:solidFill>
              </a:rPr>
              <a:t>, 2025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30BBD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lang="en-US" sz="3600" b="1" dirty="0">
              <a:solidFill>
                <a:srgbClr val="5B9BD5">
                  <a:lumMod val="50000"/>
                </a:srgb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2248525" y="57036"/>
            <a:ext cx="9943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dirty="0"/>
              <a:t>Construction Operations Planning and Resource Allocation Using Agentic 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1011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Cambria Math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Aravind Kumaran R</lastModifiedBy>
  <revision>22</revision>
  <dcterms:created xsi:type="dcterms:W3CDTF">2024-05-13T10:33:11.0000000Z</dcterms:created>
  <dcterms:modified xsi:type="dcterms:W3CDTF">2026-10-12T16:18:40.9940000Z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