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B9ED"/>
    <a:srgbClr val="FFFFFF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000000"/>
              </a:solidFill>
            </a:ln>
          </a:left>
          <a:right>
            <a:ln w="12700" cmpd="sng">
              <a:solidFill>
                <a:srgbClr val="000000"/>
              </a:solidFill>
            </a:ln>
          </a:right>
          <a:top>
            <a:ln w="12700" cmpd="sng">
              <a:solidFill>
                <a:srgbClr val="000000"/>
              </a:solidFill>
            </a:ln>
          </a:top>
          <a:bottom>
            <a:ln w="12700" cmpd="sng">
              <a:solidFill>
                <a:srgbClr val="000000"/>
              </a:solidFill>
            </a:ln>
          </a:bottom>
          <a:insideH>
            <a:ln w="12700" cmpd="sng">
              <a:solidFill>
                <a:srgbClr val="000000"/>
              </a:solidFill>
            </a:ln>
          </a:insideH>
          <a:insideV>
            <a:ln w="12700" cmpd="sng">
              <a:solidFill>
                <a:srgbClr val="000000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1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37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1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1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19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1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104858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1048576" name="Rectangle 6"/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97153" name="Picture 4" descr="LTIMindtree logo in transparent PNG and vectorized SVG formats"/>
          <p:cNvPicPr>
            <a:picLocks noChangeAspect="1" noChangeArrowheads="1"/>
          </p:cNvPicPr>
          <p:nvPr userDrawn="1"/>
        </p:nvPicPr>
        <p:blipFill>
          <a:blip r:embed="rId16"/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1048578" name="Title Placeholder 1"/>
          <p:cNvSpPr txBox="1"/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048579" name="Text Placeholder 2"/>
          <p:cNvSpPr txBox="1"/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048580" name="Text Placeholder 2"/>
          <p:cNvSpPr txBox="1"/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2097154" name="Picture 1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04858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3145728" name="Straight Connector 14"/>
          <p:cNvCxnSpPr>
            <a:cxnSpLocks/>
          </p:cNvCxnSpPr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5" name="Rectangle: Rounded Corners 15"/>
          <p:cNvSpPr/>
          <p:nvPr/>
        </p:nvSpPr>
        <p:spPr>
          <a:xfrm>
            <a:off x="4125951" y="1177578"/>
            <a:ext cx="3033131" cy="45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180236" y="1659821"/>
            <a:ext cx="1158256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- 2  </a:t>
            </a:r>
          </a:p>
          <a:p>
            <a:pPr lvl="0" algn="ctr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 </a:t>
            </a:r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sz="3600" b="1" dirty="0">
              <a:solidFill>
                <a:schemeClr val="accent1">
                  <a:lumMod val="20000"/>
                  <a:lumOff val="80000"/>
                </a:schemeClr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/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/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Aravind </a:t>
            </a: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kumaran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R</a:t>
            </a:r>
          </a:p>
          <a:p>
            <a:pPr algn="ctr"/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SE-T9977</a:t>
            </a:r>
          </a:p>
          <a:p>
            <a:pPr lvl="0" algn="ctr"/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/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9715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8" descr="A new chapter begins. I am happy 😊to share that I have joined LTM  (LTIMindtree) as an Associate Trainee. I am very excited to start my  professional journey, learn new things, and">
            <a:extLst>
              <a:ext uri="{FF2B5EF4-FFF2-40B4-BE49-F238E27FC236}">
                <a16:creationId xmlns:a16="http://schemas.microsoft.com/office/drawing/2014/main" id="{0F005677-B52C-4ABE-E8A9-04807569F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79573"/>
            <a:ext cx="1828800" cy="9486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708882"/>
            <a:ext cx="11922177" cy="4646570"/>
          </a:xfrm>
        </p:spPr>
        <p:txBody>
          <a:bodyPr/>
          <a:lstStyle/>
          <a:p>
            <a:pPr lvl="0"/>
            <a:r>
              <a:rPr lang="en-IN" dirty="0">
                <a:latin typeface="+mn-lt"/>
              </a:rPr>
              <a:t> </a:t>
            </a:r>
            <a:r>
              <a:rPr lang="en-IN" b="0" dirty="0">
                <a:latin typeface="+mn-lt"/>
              </a:rPr>
              <a:t>Develops an AI-based system for construction planning and resource management. </a:t>
            </a:r>
          </a:p>
          <a:p>
            <a:pPr lvl="0"/>
            <a:r>
              <a:rPr lang="en-IN" b="0" dirty="0">
                <a:latin typeface="+mn-lt"/>
              </a:rPr>
              <a:t>Plans construction activities using labour, equipment, materials, and schedules. </a:t>
            </a:r>
          </a:p>
          <a:p>
            <a:pPr lvl="0"/>
            <a:r>
              <a:rPr lang="en-IN" b="0" dirty="0">
                <a:latin typeface="+mn-lt"/>
              </a:rPr>
              <a:t>Uses Agentic AI to coordinate multiple planning and allocation tasks. </a:t>
            </a:r>
          </a:p>
          <a:p>
            <a:pPr lvl="0"/>
            <a:r>
              <a:rPr lang="en-IN" b="0" dirty="0">
                <a:latin typeface="+mn-lt"/>
              </a:rPr>
              <a:t>Detects resource shortages, task conflicts, and scheduling constraints. </a:t>
            </a:r>
          </a:p>
          <a:p>
            <a:pPr lvl="0"/>
            <a:r>
              <a:rPr lang="en-IN" b="0" dirty="0">
                <a:latin typeface="+mn-lt"/>
              </a:rPr>
              <a:t>Improves resource utilization, planning efficiency, and project coordination</a:t>
            </a:r>
            <a:r>
              <a:rPr lang="en-IN" b="0" dirty="0"/>
              <a:t>. </a:t>
            </a:r>
          </a:p>
          <a:p>
            <a:endParaRPr lang="en-US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1048588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3145729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9" name="TextBox 3"/>
          <p:cNvSpPr txBox="1"/>
          <p:nvPr/>
        </p:nvSpPr>
        <p:spPr>
          <a:xfrm>
            <a:off x="425887" y="57036"/>
            <a:ext cx="11766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i</a:t>
            </a:r>
            <a:endParaRPr lang="en-US" sz="1800" b="1" i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425875"/>
            <a:ext cx="11826076" cy="4585173"/>
          </a:xfrm>
        </p:spPr>
        <p:txBody>
          <a:bodyPr/>
          <a:lstStyle/>
          <a:p>
            <a:pPr lvl="0"/>
            <a:r>
              <a:rPr lang="en-GB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IN" b="0" dirty="0">
                <a:latin typeface="+mn-lt"/>
              </a:rPr>
              <a:t>Develop intelligent construction activity planning. </a:t>
            </a:r>
          </a:p>
          <a:p>
            <a:pPr lvl="0"/>
            <a:r>
              <a:rPr lang="en-IN" b="0" dirty="0">
                <a:latin typeface="+mn-lt"/>
              </a:rPr>
              <a:t>Optimize labour, equipment, and material allocation. </a:t>
            </a:r>
          </a:p>
          <a:p>
            <a:pPr lvl="0"/>
            <a:r>
              <a:rPr lang="en-IN" b="0" dirty="0">
                <a:latin typeface="+mn-lt"/>
              </a:rPr>
              <a:t>Implement Agentic AI for automated workflow coordination. </a:t>
            </a:r>
          </a:p>
          <a:p>
            <a:pPr lvl="0"/>
            <a:r>
              <a:rPr lang="en-IN" b="0" dirty="0">
                <a:latin typeface="+mn-lt"/>
              </a:rPr>
              <a:t>Detect resource conflicts and scheduling constraints. </a:t>
            </a:r>
          </a:p>
          <a:p>
            <a:pPr lvl="0"/>
            <a:r>
              <a:rPr lang="en-IN" b="0" dirty="0">
                <a:latin typeface="+mn-lt"/>
              </a:rPr>
              <a:t>Provide human-supervised planning recommendations.</a:t>
            </a:r>
          </a:p>
          <a:p>
            <a:pPr lvl="0"/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1048591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 </a:t>
            </a:r>
          </a:p>
        </p:txBody>
      </p:sp>
      <p:cxnSp>
        <p:nvCxnSpPr>
          <p:cNvPr id="3145730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2" name="TextBox 3"/>
          <p:cNvSpPr txBox="1"/>
          <p:nvPr/>
        </p:nvSpPr>
        <p:spPr>
          <a:xfrm>
            <a:off x="1738859" y="57036"/>
            <a:ext cx="10453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1274" y="1903753"/>
            <a:ext cx="11970726" cy="3087971"/>
          </a:xfrm>
        </p:spPr>
        <p:txBody>
          <a:bodyPr/>
          <a:lstStyle/>
          <a:p>
            <a:pPr lvl="0"/>
            <a:r>
              <a:rPr lang="en-GB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IN" b="0" dirty="0"/>
              <a:t>Activity Planning – Organize and prioritize construction tasks. </a:t>
            </a:r>
          </a:p>
          <a:p>
            <a:pPr lvl="0"/>
            <a:r>
              <a:rPr lang="en-IN" b="0" dirty="0"/>
              <a:t>Resource Allocation – Assign labour, equipment, and materials. </a:t>
            </a:r>
          </a:p>
          <a:p>
            <a:pPr lvl="0"/>
            <a:r>
              <a:rPr lang="en-IN" b="0" dirty="0"/>
              <a:t>Conflict Management – Detect shortages and scheduling conflicts. </a:t>
            </a:r>
          </a:p>
          <a:p>
            <a:pPr lvl="0"/>
            <a:r>
              <a:rPr lang="en-IN" b="0" dirty="0"/>
              <a:t>Decision Support – Assist engineers with optimized plans.</a:t>
            </a:r>
          </a:p>
          <a:p>
            <a:pPr lvl="0"/>
            <a:endParaRPr lang="en-IN" b="0" dirty="0"/>
          </a:p>
          <a:p>
            <a:pPr lvl="0"/>
            <a:endParaRPr lang="en-IN" b="0" dirty="0"/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1048594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Scope…. </a:t>
            </a:r>
          </a:p>
        </p:txBody>
      </p:sp>
      <p:cxnSp>
        <p:nvCxnSpPr>
          <p:cNvPr id="3145731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5" name="TextBox 3"/>
          <p:cNvSpPr txBox="1"/>
          <p:nvPr/>
        </p:nvSpPr>
        <p:spPr>
          <a:xfrm>
            <a:off x="1903751" y="0"/>
            <a:ext cx="10288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873772"/>
            <a:ext cx="10624338" cy="3540436"/>
          </a:xfrm>
        </p:spPr>
        <p:txBody>
          <a:bodyPr/>
          <a:lstStyle/>
          <a:p>
            <a:pPr lvl="0"/>
            <a:r>
              <a:rPr lang="en-IN" b="0" dirty="0"/>
              <a:t>Multi-Source Data – Uses schedule, labour, equipment, and material data. </a:t>
            </a:r>
          </a:p>
          <a:p>
            <a:pPr lvl="0"/>
            <a:r>
              <a:rPr lang="en-IN" b="0" dirty="0"/>
              <a:t>Agentic Planning – Multiple agents coordinate planning decisions. </a:t>
            </a:r>
          </a:p>
          <a:p>
            <a:pPr lvl="0"/>
            <a:r>
              <a:rPr lang="en-IN" b="0" dirty="0"/>
              <a:t>Adaptive Allocation – Resources are reassigned when conflicts occur. </a:t>
            </a:r>
          </a:p>
          <a:p>
            <a:pPr lvl="0"/>
            <a:r>
              <a:rPr lang="en-IN" b="0" dirty="0"/>
              <a:t>Human Control – Engineers approve critical operational decisions.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104860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3145734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4" name="TextBox 3"/>
          <p:cNvSpPr txBox="1"/>
          <p:nvPr/>
        </p:nvSpPr>
        <p:spPr>
          <a:xfrm>
            <a:off x="1888761" y="0"/>
            <a:ext cx="10303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651421"/>
            <a:ext cx="10624338" cy="3762787"/>
          </a:xfrm>
        </p:spPr>
        <p:txBody>
          <a:bodyPr/>
          <a:lstStyle/>
          <a:p>
            <a:pPr lvl="0"/>
            <a:r>
              <a:rPr lang="en-IN" b="0" dirty="0"/>
              <a:t>Module 1 – Construction Data Acquisition &amp; Modelling </a:t>
            </a:r>
          </a:p>
          <a:p>
            <a:pPr lvl="0"/>
            <a:r>
              <a:rPr lang="en-IN" b="0" dirty="0"/>
              <a:t>Module 2 – Activity &amp; Dependency Analysis </a:t>
            </a:r>
          </a:p>
          <a:p>
            <a:pPr lvl="0"/>
            <a:r>
              <a:rPr lang="en-IN" b="0" dirty="0"/>
              <a:t>Module 3 – Resource Requirement Analysis </a:t>
            </a:r>
          </a:p>
          <a:p>
            <a:pPr lvl="0"/>
            <a:r>
              <a:rPr lang="en-IN" b="0" dirty="0"/>
              <a:t>Module 4 – Agentic AI Planning &amp; Orchestration </a:t>
            </a:r>
          </a:p>
          <a:p>
            <a:pPr lvl="0"/>
            <a:r>
              <a:rPr lang="en-IN" b="0" dirty="0"/>
              <a:t>Module 5 – Constraint-Aware Resource Allocation </a:t>
            </a:r>
          </a:p>
          <a:p>
            <a:pPr lvl="0"/>
            <a:r>
              <a:rPr lang="en-IN" b="0" dirty="0"/>
              <a:t>Module 6 – Conflict Detection &amp; Replanning </a:t>
            </a:r>
          </a:p>
          <a:p>
            <a:pPr lvl="0"/>
            <a:r>
              <a:rPr lang="en-IN" b="0" dirty="0"/>
              <a:t>Module 7 – Dashboard &amp; System Integration </a:t>
            </a:r>
          </a:p>
          <a:p>
            <a:pPr lvl="0"/>
            <a:r>
              <a:rPr lang="en-IN" b="0" dirty="0"/>
              <a:t>Module 8 – Evaluation &amp; Decision Traceability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1048606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3145735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7" name="TextBox 3"/>
          <p:cNvSpPr txBox="1"/>
          <p:nvPr/>
        </p:nvSpPr>
        <p:spPr>
          <a:xfrm>
            <a:off x="2173575" y="0"/>
            <a:ext cx="100184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425875"/>
            <a:ext cx="10624338" cy="4120486"/>
          </a:xfrm>
        </p:spPr>
        <p:txBody>
          <a:bodyPr/>
          <a:lstStyle/>
          <a:p>
            <a:pPr lvl="0"/>
            <a:r>
              <a:rPr lang="en-US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IN" sz="2400" b="0" dirty="0"/>
              <a:t>Data Acquisition – Collect and structure construction project data. </a:t>
            </a:r>
          </a:p>
          <a:p>
            <a:pPr lvl="0"/>
            <a:r>
              <a:rPr lang="en-IN" sz="2400" b="0" dirty="0"/>
              <a:t>Activity Analysis – Analyse tasks, priorities, and dependencies. </a:t>
            </a:r>
          </a:p>
          <a:p>
            <a:pPr lvl="0"/>
            <a:r>
              <a:rPr lang="en-IN" sz="2400" b="0" dirty="0"/>
              <a:t>Resource Analysis – Check labour, equipment, and material availability. </a:t>
            </a:r>
          </a:p>
          <a:p>
            <a:pPr lvl="0"/>
            <a:r>
              <a:rPr lang="en-IN" sz="2400" b="0" dirty="0"/>
              <a:t>Agentic AI – Coordinate planning through specialized AI agents. </a:t>
            </a:r>
          </a:p>
          <a:p>
            <a:pPr lvl="0"/>
            <a:r>
              <a:rPr lang="en-IN" sz="2400" b="0" dirty="0"/>
              <a:t>Resource Allocation – Assign resources based on project constraints. </a:t>
            </a:r>
          </a:p>
          <a:p>
            <a:pPr lvl="0"/>
            <a:r>
              <a:rPr lang="en-IN" sz="2400" b="0" dirty="0"/>
              <a:t>Replanning – Resolve shortages, conflicts, and schedule changes. </a:t>
            </a:r>
          </a:p>
          <a:p>
            <a:pPr lvl="0"/>
            <a:r>
              <a:rPr lang="en-IN" sz="2400" b="0" dirty="0"/>
              <a:t>Integration – Connect backend, agents, database, and dashboard. </a:t>
            </a:r>
          </a:p>
          <a:p>
            <a:pPr lvl="0"/>
            <a:r>
              <a:rPr lang="en-IN" sz="2400" b="0" dirty="0"/>
              <a:t>Evaluation – Measure planning quality, utilization, and agent reliability.</a:t>
            </a: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1048609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45736" name="Straight Connector 3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0" name="TextBox 5"/>
          <p:cNvSpPr txBox="1"/>
          <p:nvPr/>
        </p:nvSpPr>
        <p:spPr>
          <a:xfrm>
            <a:off x="1993693" y="0"/>
            <a:ext cx="10198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8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430</Words>
  <Application>Microsoft Office PowerPoint</Application>
  <PresentationFormat>Widescreen</PresentationFormat>
  <Paragraphs>64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Aravind Kumaran R</cp:lastModifiedBy>
  <cp:revision>4</cp:revision>
  <dcterms:created xsi:type="dcterms:W3CDTF">2024-05-12T23:33:11Z</dcterms:created>
  <dcterms:modified xsi:type="dcterms:W3CDTF">2026-09-11T04:48:06Z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  <property fmtid="{D5CDD505-2E9C-101B-9397-08002B2CF9AE}" pid="12" name="ICV">
    <vt:lpwstr>30d12fa682fd4dc3b5765a885e1df615_23</vt:lpwstr>
  </property>
</Properties>
</file>